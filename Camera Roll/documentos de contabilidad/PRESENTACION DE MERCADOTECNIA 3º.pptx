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D7522-FEB4-ACD6-6A8D-302888B7C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5AE465-D502-34F5-2C0E-8995B1F70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7C2CE-915C-3B0B-1E4D-0621B23E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20A101-B24A-5844-DB2A-48ABB77A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EBA6E4-72A7-963F-7086-1AB86D01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8312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27037-0D09-613C-B7BC-03C16DE3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57A6D4-0022-3571-C42A-73164B68A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10A37B-04FD-AE8B-69CA-C9F76224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DFFDAD-7D35-15FF-91B1-E987B8BD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D1A003-609E-EEF5-D056-3EE38F01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2016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E0DB3-4BDF-9410-B058-A1DBA53B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D69335-D303-DF45-1F4A-9603986B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D5B342-DDAC-3F07-4BBB-BCAE87BC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EA5D7C-151A-C292-B0B2-F7725205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25EAC-0CCC-26E4-669A-19006B97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7583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5FA8D-1458-C7D6-1AF0-9AFF32B8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296797-7FFA-1867-2D9C-9614136C4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B37AF3-48C6-FADC-CCB7-701D4E855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79CBDF-4529-EF46-9075-F0B832E8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60130C-AAD2-F844-CE03-34E4D7AF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0FA5A8-3E7C-BEE6-C30D-8F58B46E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115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DF8AA-6F67-E6DA-29FD-47B2F3D8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AD3EB8-66A6-3E91-F72F-21956EF9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23CC89-F3F9-AC04-6658-80B9D7A5C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FCD7AC-25A3-ECBD-A25C-121329619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C86642-8BF1-9D63-8B03-A440C2303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4BD423-38B5-1E85-F306-87C20CBE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78EA83-0D0A-0B78-9531-84E62E0D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415BD5-3EED-5D8B-2A37-1D7F0C3C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9196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47247-16E2-B815-7C15-D625A15F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E1BDD6-5BA4-9EDA-F666-D0C97C13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7D80A1-1C6A-6165-A791-8FEF13A6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5657A2-E833-EBBE-0361-16CE512A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2116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715AB2-BB03-0A9F-ED72-0FC54316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CC7CA6-D245-2A44-E508-24E0DD7F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EFA153-429A-3768-2BE0-AE011F42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383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3959D-9B00-7344-14DE-F809DE53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D6E79-B788-1DE3-A780-BDB5E5A6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9F7573-74D3-B214-6E16-003BCCC21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E09108-1AE7-C1EE-9D45-10A828EB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636246-29AF-06AD-D47F-0B9DD838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105415-7836-47A8-E1DC-327FAAAA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1073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4449D-ACDF-6CA6-2D6F-EB42CBBD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DC81D9-5F04-D21A-C9AC-9ECC4FAAE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2FD315-0607-AC8E-E90A-91BACAE5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0BC061-5778-8E68-A8C6-9BEC71DB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5BAEB0-40E0-AD83-A9F8-0EE7553F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CBA258-07BE-7596-B463-9686E697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7479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F5E3E-4EAD-0577-805C-47F5156A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16A0A1-0724-5F90-85E0-533C7DB9D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09E1DC-44E3-5F52-EE82-DBDD71B8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9BE692-BA55-3B43-AC33-8CE5B10D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8B269E-3C33-370D-00BF-C81F6CC9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1602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CF8E65-8817-3AE6-34C0-99C941C61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3F1AF3-282D-CF7B-5E27-6BCD5ECEA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82865-613C-0E9F-DFEF-5B559D2A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A3C9B5-AEA7-C0A6-6D7C-A03194E8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46C15C-8ECD-B8DB-FB1B-B7832EC9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231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mieducacionenlinea.net/2016/07/en-la-universidad-abierta-y-distancia.html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63000"/>
                    </a14:imgEffect>
                    <a14:imgEffect>
                      <a14:brightnessContrast bright="-91000" contrast="-24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3A7F4A9-5481-395F-BA57-049ADCC6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71D6EA-8547-77F4-E262-134DBE451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C300CC-3C5F-2036-DA17-F3490FA0A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94C-0301-4D77-82EC-F804556DBE54}" type="datetimeFigureOut">
              <a:rPr lang="es-SV" smtClean="0"/>
              <a:t>23/2/2025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9D63E0-4832-7A25-3006-6FEC19F77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0A305-B8FC-BED9-C127-430738ACB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CF7-FB6C-4571-9E28-05FC41F39E7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0359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ubspot.es/marketing/mercadotecnia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isdigital.es/investigaciones/proceso-de-investigacion-de-mercados-6-pasos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hyperlink" Target="https://es.wikipedia.org/wiki/An%C3%A1lisis_DAFO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9.png"/><Relationship Id="rId4" Type="http://schemas.openxmlformats.org/officeDocument/2006/relationships/hyperlink" Target="https://www.esan.edu.pe/conexion-esan/tendencias-del-marketing-digital-que-debes-considerar-hoy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amercadelplaneta1.blogspot.com/2016/04/estrategias-de-precios.html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vink.com/explore/Canales-De-Distribucion-Marketing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olmed.mx/marketing-digital/que-es-un-canal-de-distribucion-y-como-ayuda-a-mi-empresa/" TargetMode="External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zaofertas.com.mx/restaurantes/promocion-nutrisa-3x2-en-helados-de-jueves-a-domingo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nologias-informacion.com/crm.html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t-nova.co/modelos-predictivos-que-son/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i.com/p/retpgasr5gky/flexibilidad-y-adaptacion/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tictacdigital.blogspot.com/" TargetMode="External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C4934717-A6DD-A056-B2F6-7ABCBA26EE67}"/>
              </a:ext>
            </a:extLst>
          </p:cNvPr>
          <p:cNvGrpSpPr/>
          <p:nvPr/>
        </p:nvGrpSpPr>
        <p:grpSpPr>
          <a:xfrm>
            <a:off x="5397300" y="3094378"/>
            <a:ext cx="6120000" cy="3240000"/>
            <a:chOff x="5929633" y="3049352"/>
            <a:chExt cx="6120000" cy="3240000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F2013D04-860A-E016-BC42-0630DFE5F263}"/>
                </a:ext>
              </a:extLst>
            </p:cNvPr>
            <p:cNvSpPr/>
            <p:nvPr/>
          </p:nvSpPr>
          <p:spPr>
            <a:xfrm>
              <a:off x="5929633" y="3049352"/>
              <a:ext cx="6120000" cy="3240000"/>
            </a:xfrm>
            <a:prstGeom prst="roundRect">
              <a:avLst/>
            </a:prstGeom>
            <a:solidFill>
              <a:srgbClr val="F8F8F8"/>
            </a:solidFill>
            <a:ln>
              <a:noFill/>
            </a:ln>
            <a:scene3d>
              <a:camera prst="isometricTopUp"/>
              <a:lightRig rig="threePt" dir="t"/>
            </a:scene3d>
            <a:sp3d extrusionH="266700" prstMaterial="metal">
              <a:bevelT w="419100" h="0"/>
              <a:extrusionClr>
                <a:srgbClr val="FF0066"/>
              </a:extrusionClr>
              <a:contourClr>
                <a:srgbClr val="F8F8F8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/>
            </a:p>
          </p:txBody>
        </p:sp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0A6CD758-6D91-8423-8147-9B5B8FBAC214}"/>
                </a:ext>
              </a:extLst>
            </p:cNvPr>
            <p:cNvGrpSpPr/>
            <p:nvPr/>
          </p:nvGrpSpPr>
          <p:grpSpPr>
            <a:xfrm>
              <a:off x="5929633" y="3049352"/>
              <a:ext cx="6120000" cy="3240000"/>
              <a:chOff x="564397" y="407555"/>
              <a:chExt cx="6120000" cy="3240000"/>
            </a:xfrm>
            <a:scene3d>
              <a:camera prst="isometricTopUp"/>
              <a:lightRig rig="threePt" dir="t"/>
            </a:scene3d>
          </p:grpSpPr>
          <p:sp>
            <p:nvSpPr>
              <p:cNvPr id="5" name="Rectángulo: esquinas redondeadas 4">
                <a:extLst>
                  <a:ext uri="{FF2B5EF4-FFF2-40B4-BE49-F238E27FC236}">
                    <a16:creationId xmlns:a16="http://schemas.microsoft.com/office/drawing/2014/main" id="{2615D6D0-F3E7-B63D-83AC-143D19D3D91B}"/>
                  </a:ext>
                </a:extLst>
              </p:cNvPr>
              <p:cNvSpPr/>
              <p:nvPr/>
            </p:nvSpPr>
            <p:spPr>
              <a:xfrm>
                <a:off x="564397" y="407555"/>
                <a:ext cx="6120000" cy="3240000"/>
              </a:xfrm>
              <a:prstGeom prst="roundRect">
                <a:avLst/>
              </a:prstGeom>
              <a:gradFill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100000">
                    <a:srgbClr val="7030A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/>
              </a:p>
            </p:txBody>
          </p:sp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7E64FE37-1F61-E66A-5224-B90B0B97F3EE}"/>
                  </a:ext>
                </a:extLst>
              </p:cNvPr>
              <p:cNvSpPr/>
              <p:nvPr/>
            </p:nvSpPr>
            <p:spPr>
              <a:xfrm>
                <a:off x="6207073" y="955785"/>
                <a:ext cx="288287" cy="202241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/>
              </a:p>
            </p:txBody>
          </p:sp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974CB89A-EA23-F1D6-02B3-27BCCA1480E5}"/>
                  </a:ext>
                </a:extLst>
              </p:cNvPr>
              <p:cNvSpPr/>
              <p:nvPr/>
            </p:nvSpPr>
            <p:spPr>
              <a:xfrm>
                <a:off x="3798277" y="759657"/>
                <a:ext cx="1364566" cy="1195753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/>
              </a:p>
            </p:txBody>
          </p:sp>
          <p:sp>
            <p:nvSpPr>
              <p:cNvPr id="13" name="Rectángulo: esquinas redondeadas 12">
                <a:extLst>
                  <a:ext uri="{FF2B5EF4-FFF2-40B4-BE49-F238E27FC236}">
                    <a16:creationId xmlns:a16="http://schemas.microsoft.com/office/drawing/2014/main" id="{7950FE8A-10B3-D291-9133-DFD3EBBDD59B}"/>
                  </a:ext>
                </a:extLst>
              </p:cNvPr>
              <p:cNvSpPr/>
              <p:nvPr/>
            </p:nvSpPr>
            <p:spPr>
              <a:xfrm>
                <a:off x="2855742" y="2096086"/>
                <a:ext cx="2363372" cy="11957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 dirty="0"/>
              </a:p>
            </p:txBody>
          </p:sp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EE851A65-E189-F41B-F18F-8CED7E1EF184}"/>
                  </a:ext>
                </a:extLst>
              </p:cNvPr>
              <p:cNvSpPr/>
              <p:nvPr/>
            </p:nvSpPr>
            <p:spPr>
              <a:xfrm>
                <a:off x="2855742" y="731521"/>
                <a:ext cx="897592" cy="1223889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/>
              </a:p>
            </p:txBody>
          </p:sp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0234B621-6034-D781-FAB6-32CDABB28F0D}"/>
                  </a:ext>
                </a:extLst>
              </p:cNvPr>
              <p:cNvSpPr/>
              <p:nvPr/>
            </p:nvSpPr>
            <p:spPr>
              <a:xfrm>
                <a:off x="1051509" y="731521"/>
                <a:ext cx="1575582" cy="254625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SV" dirty="0"/>
              </a:p>
            </p:txBody>
          </p:sp>
          <p:pic>
            <p:nvPicPr>
              <p:cNvPr id="17" name="Gráfico 16" descr="Estadísticas">
                <a:extLst>
                  <a:ext uri="{FF2B5EF4-FFF2-40B4-BE49-F238E27FC236}">
                    <a16:creationId xmlns:a16="http://schemas.microsoft.com/office/drawing/2014/main" id="{CE52528F-28A9-4275-B0E1-5477DAE49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2775704" y="839548"/>
                <a:ext cx="1034395" cy="980203"/>
              </a:xfrm>
              <a:prstGeom prst="rect">
                <a:avLst/>
              </a:prstGeom>
            </p:spPr>
          </p:pic>
          <p:pic>
            <p:nvPicPr>
              <p:cNvPr id="19" name="Gráfico 18" descr="Gráfico de barras con tendencia alcista">
                <a:extLst>
                  <a:ext uri="{FF2B5EF4-FFF2-40B4-BE49-F238E27FC236}">
                    <a16:creationId xmlns:a16="http://schemas.microsoft.com/office/drawing/2014/main" id="{D1BEABC0-03AA-2F43-DAEB-E94411272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2855742" y="2090743"/>
                <a:ext cx="1204130" cy="1204130"/>
              </a:xfrm>
              <a:prstGeom prst="rect">
                <a:avLst/>
              </a:prstGeom>
            </p:spPr>
          </p:pic>
          <p:pic>
            <p:nvPicPr>
              <p:cNvPr id="21" name="Gráfico 20" descr="Base de datos">
                <a:extLst>
                  <a:ext uri="{FF2B5EF4-FFF2-40B4-BE49-F238E27FC236}">
                    <a16:creationId xmlns:a16="http://schemas.microsoft.com/office/drawing/2014/main" id="{9D8B9C55-7BBB-6473-0788-84C9BD185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5400000">
                <a:off x="987609" y="1347067"/>
                <a:ext cx="1716257" cy="1360975"/>
              </a:xfrm>
              <a:prstGeom prst="rect">
                <a:avLst/>
              </a:prstGeom>
            </p:spPr>
          </p:pic>
          <p:pic>
            <p:nvPicPr>
              <p:cNvPr id="23" name="Gráfico 22" descr="Presentación con gráfico de barras">
                <a:extLst>
                  <a:ext uri="{FF2B5EF4-FFF2-40B4-BE49-F238E27FC236}">
                    <a16:creationId xmlns:a16="http://schemas.microsoft.com/office/drawing/2014/main" id="{BD9F5B17-D9D4-8D97-EF57-599CF5A49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5192181">
                <a:off x="3878495" y="727585"/>
                <a:ext cx="1204130" cy="1204130"/>
              </a:xfrm>
              <a:prstGeom prst="rect">
                <a:avLst/>
              </a:prstGeom>
            </p:spPr>
          </p:pic>
          <p:pic>
            <p:nvPicPr>
              <p:cNvPr id="25" name="Gráfico 24" descr="Dólar">
                <a:extLst>
                  <a:ext uri="{FF2B5EF4-FFF2-40B4-BE49-F238E27FC236}">
                    <a16:creationId xmlns:a16="http://schemas.microsoft.com/office/drawing/2014/main" id="{68C18159-06C8-5FDD-A1C4-519FAC0548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5400000">
                <a:off x="3958713" y="2049909"/>
                <a:ext cx="1204130" cy="1204130"/>
              </a:xfrm>
              <a:prstGeom prst="rect">
                <a:avLst/>
              </a:prstGeom>
            </p:spPr>
          </p:pic>
          <p:pic>
            <p:nvPicPr>
              <p:cNvPr id="27" name="Gráfico 26" descr="Gráfico circular">
                <a:extLst>
                  <a:ext uri="{FF2B5EF4-FFF2-40B4-BE49-F238E27FC236}">
                    <a16:creationId xmlns:a16="http://schemas.microsoft.com/office/drawing/2014/main" id="{EFDE3646-34DF-6E2E-FF88-90ABE4ADA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5400000">
                <a:off x="5229094" y="22759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9" name="Gráfico 28" descr="Cabeza con engranajes">
                <a:extLst>
                  <a:ext uri="{FF2B5EF4-FFF2-40B4-BE49-F238E27FC236}">
                    <a16:creationId xmlns:a16="http://schemas.microsoft.com/office/drawing/2014/main" id="{A1F40FB7-FD7C-E54E-8487-E6247C3B5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5400000">
                <a:off x="5256989" y="9324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B3715AB9-5F41-3461-284D-387C4C176024}"/>
              </a:ext>
            </a:extLst>
          </p:cNvPr>
          <p:cNvGrpSpPr/>
          <p:nvPr/>
        </p:nvGrpSpPr>
        <p:grpSpPr>
          <a:xfrm>
            <a:off x="6749445" y="3598495"/>
            <a:ext cx="980203" cy="1223889"/>
            <a:chOff x="2728737" y="838918"/>
            <a:chExt cx="980203" cy="1223889"/>
          </a:xfrm>
          <a:effectLst>
            <a:outerShdw blurRad="50800" dist="838200" dir="5400000" algn="tl" rotWithShape="0">
              <a:prstClr val="black">
                <a:alpha val="40000"/>
              </a:prstClr>
            </a:outerShdw>
          </a:effectLst>
          <a:scene3d>
            <a:camera prst="isometricTopUp"/>
            <a:lightRig rig="threePt" dir="t"/>
          </a:scene3d>
        </p:grpSpPr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B80BF736-1100-26C4-0D2E-4E90F0204423}"/>
                </a:ext>
              </a:extLst>
            </p:cNvPr>
            <p:cNvSpPr/>
            <p:nvPr/>
          </p:nvSpPr>
          <p:spPr>
            <a:xfrm>
              <a:off x="2781679" y="838918"/>
              <a:ext cx="897592" cy="1223889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/>
            </a:p>
          </p:txBody>
        </p:sp>
        <p:pic>
          <p:nvPicPr>
            <p:cNvPr id="47" name="Gráfico 46" descr="Estadísticas">
              <a:extLst>
                <a:ext uri="{FF2B5EF4-FFF2-40B4-BE49-F238E27FC236}">
                  <a16:creationId xmlns:a16="http://schemas.microsoft.com/office/drawing/2014/main" id="{7F2EE87F-A8EE-1244-DE40-D51A1DCD7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701641" y="946945"/>
              <a:ext cx="1034395" cy="980203"/>
            </a:xfrm>
            <a:prstGeom prst="rect">
              <a:avLst/>
            </a:prstGeom>
          </p:spPr>
        </p:pic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07649E83-8520-FC47-9177-EFF1C25818AA}"/>
              </a:ext>
            </a:extLst>
          </p:cNvPr>
          <p:cNvGrpSpPr/>
          <p:nvPr/>
        </p:nvGrpSpPr>
        <p:grpSpPr>
          <a:xfrm>
            <a:off x="5920096" y="3780803"/>
            <a:ext cx="1575582" cy="2546251"/>
            <a:chOff x="3113209" y="4261228"/>
            <a:chExt cx="1575582" cy="2546251"/>
          </a:xfrm>
          <a:effectLst>
            <a:outerShdw blurRad="50800" dist="50800" algn="ctr" rotWithShape="0">
              <a:srgbClr val="000000">
                <a:alpha val="43137"/>
              </a:srgbClr>
            </a:outerShdw>
          </a:effectLst>
          <a:scene3d>
            <a:camera prst="isometricTopUp"/>
            <a:lightRig rig="threePt" dir="t"/>
          </a:scene3d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BB54803F-557A-BE66-4D7C-7A9B719AD2A0}"/>
                </a:ext>
              </a:extLst>
            </p:cNvPr>
            <p:cNvSpPr/>
            <p:nvPr/>
          </p:nvSpPr>
          <p:spPr>
            <a:xfrm>
              <a:off x="3113209" y="4261228"/>
              <a:ext cx="1575582" cy="2546251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838200" dir="60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pic>
          <p:nvPicPr>
            <p:cNvPr id="49" name="Gráfico 48" descr="Base de datos">
              <a:extLst>
                <a:ext uri="{FF2B5EF4-FFF2-40B4-BE49-F238E27FC236}">
                  <a16:creationId xmlns:a16="http://schemas.microsoft.com/office/drawing/2014/main" id="{5733617E-BFE2-A4F1-2D1B-6B176308E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3049309" y="4876774"/>
              <a:ext cx="1716257" cy="1360975"/>
            </a:xfrm>
            <a:prstGeom prst="rect">
              <a:avLst/>
            </a:prstGeom>
          </p:spPr>
        </p:pic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FAF5F68F-D728-5EB6-9D3B-F361AE8BAF2C}"/>
              </a:ext>
            </a:extLst>
          </p:cNvPr>
          <p:cNvGrpSpPr/>
          <p:nvPr/>
        </p:nvGrpSpPr>
        <p:grpSpPr>
          <a:xfrm>
            <a:off x="7473841" y="2969355"/>
            <a:ext cx="1364566" cy="1227825"/>
            <a:chOff x="3724214" y="834982"/>
            <a:chExt cx="1364566" cy="1227825"/>
          </a:xfrm>
          <a:effectLst>
            <a:outerShdw blurRad="50800" dist="838200" dir="6600000" algn="tl" rotWithShape="0">
              <a:prstClr val="black">
                <a:alpha val="40000"/>
              </a:prstClr>
            </a:outerShdw>
          </a:effectLst>
          <a:scene3d>
            <a:camera prst="isometricTopUp"/>
            <a:lightRig rig="threePt" dir="t"/>
          </a:scene3d>
        </p:grpSpPr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18DE5C81-6DDF-D2C4-3D19-9308C1B61798}"/>
                </a:ext>
              </a:extLst>
            </p:cNvPr>
            <p:cNvSpPr/>
            <p:nvPr/>
          </p:nvSpPr>
          <p:spPr>
            <a:xfrm>
              <a:off x="3724214" y="867054"/>
              <a:ext cx="1364566" cy="119575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/>
            </a:p>
          </p:txBody>
        </p:sp>
        <p:pic>
          <p:nvPicPr>
            <p:cNvPr id="50" name="Gráfico 49" descr="Presentación con gráfico de barras">
              <a:extLst>
                <a:ext uri="{FF2B5EF4-FFF2-40B4-BE49-F238E27FC236}">
                  <a16:creationId xmlns:a16="http://schemas.microsoft.com/office/drawing/2014/main" id="{5360D87B-005D-F1BC-7B58-1A9CCD74C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192181">
              <a:off x="3804432" y="834982"/>
              <a:ext cx="1204130" cy="1204130"/>
            </a:xfrm>
            <a:prstGeom prst="rect">
              <a:avLst/>
            </a:prstGeom>
          </p:spPr>
        </p:pic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62E30CB5-602A-927E-4C49-C28F28B0C72A}"/>
              </a:ext>
            </a:extLst>
          </p:cNvPr>
          <p:cNvGrpSpPr/>
          <p:nvPr/>
        </p:nvGrpSpPr>
        <p:grpSpPr>
          <a:xfrm>
            <a:off x="7630851" y="3739969"/>
            <a:ext cx="2363372" cy="1244964"/>
            <a:chOff x="2781679" y="2157306"/>
            <a:chExt cx="2363372" cy="1244964"/>
          </a:xfrm>
          <a:effectLst>
            <a:outerShdw blurRad="50800" dist="838200" dir="6600000" algn="tl" rotWithShape="0">
              <a:prstClr val="black">
                <a:alpha val="40000"/>
              </a:prstClr>
            </a:outerShdw>
          </a:effectLst>
          <a:scene3d>
            <a:camera prst="isometricTopUp"/>
            <a:lightRig rig="threePt" dir="t"/>
          </a:scene3d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1AEF2B8C-8893-E0B3-593C-9539615FB00E}"/>
                </a:ext>
              </a:extLst>
            </p:cNvPr>
            <p:cNvSpPr/>
            <p:nvPr/>
          </p:nvSpPr>
          <p:spPr>
            <a:xfrm>
              <a:off x="2781679" y="2203483"/>
              <a:ext cx="2363372" cy="1195754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pic>
          <p:nvPicPr>
            <p:cNvPr id="48" name="Gráfico 47" descr="Gráfico de barras con tendencia alcista">
              <a:extLst>
                <a:ext uri="{FF2B5EF4-FFF2-40B4-BE49-F238E27FC236}">
                  <a16:creationId xmlns:a16="http://schemas.microsoft.com/office/drawing/2014/main" id="{976F279F-8B02-5F6B-8325-FAB9C9BA5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781679" y="2198140"/>
              <a:ext cx="1204130" cy="1204130"/>
            </a:xfrm>
            <a:prstGeom prst="rect">
              <a:avLst/>
            </a:prstGeom>
          </p:spPr>
        </p:pic>
        <p:pic>
          <p:nvPicPr>
            <p:cNvPr id="51" name="Gráfico 50" descr="Dólar">
              <a:extLst>
                <a:ext uri="{FF2B5EF4-FFF2-40B4-BE49-F238E27FC236}">
                  <a16:creationId xmlns:a16="http://schemas.microsoft.com/office/drawing/2014/main" id="{9A9B86A9-258C-D20D-F06B-02D80AC02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3884650" y="2157306"/>
              <a:ext cx="1204130" cy="1204130"/>
            </a:xfrm>
            <a:prstGeom prst="rect">
              <a:avLst/>
            </a:prstGeom>
          </p:spPr>
        </p:pic>
      </p:grpSp>
      <p:sp>
        <p:nvSpPr>
          <p:cNvPr id="92" name="CuadroTexto 91">
            <a:extLst>
              <a:ext uri="{FF2B5EF4-FFF2-40B4-BE49-F238E27FC236}">
                <a16:creationId xmlns:a16="http://schemas.microsoft.com/office/drawing/2014/main" id="{74CD10FA-59C1-7594-E3F5-D63F1F34760F}"/>
              </a:ext>
            </a:extLst>
          </p:cNvPr>
          <p:cNvSpPr txBox="1"/>
          <p:nvPr/>
        </p:nvSpPr>
        <p:spPr>
          <a:xfrm>
            <a:off x="-92316" y="624919"/>
            <a:ext cx="6377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TEMA</a:t>
            </a:r>
          </a:p>
          <a:p>
            <a:pPr algn="ctr"/>
            <a:r>
              <a:rPr lang="es-MX" sz="36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 Funciones de la Mercadotecnia </a:t>
            </a:r>
            <a:endParaRPr lang="es-SV" sz="36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A58CAD9C-D264-8540-44DC-750A3BE9A1A7}"/>
              </a:ext>
            </a:extLst>
          </p:cNvPr>
          <p:cNvSpPr txBox="1"/>
          <p:nvPr/>
        </p:nvSpPr>
        <p:spPr>
          <a:xfrm>
            <a:off x="6917498" y="509628"/>
            <a:ext cx="61440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INTREGRANTES</a:t>
            </a:r>
          </a:p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Roberto Jeremy Miranda Miranda </a:t>
            </a:r>
          </a:p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Ricardo Alexander Benítez Pascual</a:t>
            </a:r>
          </a:p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Jaime Ernesto Ramos Benítez</a:t>
            </a:r>
          </a:p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José Elías Benítez Melaras </a:t>
            </a:r>
          </a:p>
          <a:p>
            <a:r>
              <a:rPr lang="es-MX" sz="1800" dirty="0">
                <a:solidFill>
                  <a:srgbClr val="F8F8F8"/>
                </a:solidFill>
                <a:latin typeface="Baskerville Old Face" panose="02020602080505020303" pitchFamily="18" charset="0"/>
              </a:rPr>
              <a:t>Emerson Geovanny  Pérez Ramírez 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00943C53-DE8E-1751-DAFC-A738C70192A5}"/>
              </a:ext>
            </a:extLst>
          </p:cNvPr>
          <p:cNvSpPr txBox="1"/>
          <p:nvPr/>
        </p:nvSpPr>
        <p:spPr>
          <a:xfrm>
            <a:off x="258548" y="2503632"/>
            <a:ext cx="6576164" cy="2990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1. Investigación de mercados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2. Planificación estratégica y desarrollo de marketing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3. Desarrollo de productos y servicios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4. Determinación de precios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33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5. Distribución 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6. Promoción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7. Gestión de relaciones con los clientes (CRM)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8. Análisis y control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pPr marL="1536065" indent="-1280160">
              <a:lnSpc>
                <a:spcPct val="115000"/>
              </a:lnSpc>
            </a:pPr>
            <a:r>
              <a:rPr lang="es-SV" sz="1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9. Adaptación y flexibilidad</a:t>
            </a:r>
            <a:endParaRPr lang="es-SV" sz="32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0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0.01016 -0.0951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" y="-4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11111E-6 L 0.06953 0.09699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483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11111E-6 L -0.04883 -0.08264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-414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2.96296E-6 L -0.0582 0.0775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FD1ED2-23B9-A244-1081-862B31135908}"/>
              </a:ext>
            </a:extLst>
          </p:cNvPr>
          <p:cNvSpPr txBox="1"/>
          <p:nvPr/>
        </p:nvSpPr>
        <p:spPr>
          <a:xfrm>
            <a:off x="291231" y="1076183"/>
            <a:ext cx="45563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Las </a:t>
            </a:r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funciones de la mercadotecnia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 son fundamentales para el éxito de una empresa, ya que ayudan a conectar a la organización con los consumidores y a crear valor, lo que se traduce en un crecimiento sostenible y una ventaja competitiva. La mercadotecnia no solo se enfoca en la venta de productos, sino en el entendimiento profundo del mercado y las necesidades del cliente. </a:t>
            </a:r>
            <a:endParaRPr lang="es-SV" sz="24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DB7A3BE-35E5-D9DB-17AA-321BECD14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01953" y="595365"/>
            <a:ext cx="4006759" cy="56672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0181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37E1EED-4E74-737A-8209-D1F7F41A7FCA}"/>
              </a:ext>
            </a:extLst>
          </p:cNvPr>
          <p:cNvSpPr txBox="1"/>
          <p:nvPr/>
        </p:nvSpPr>
        <p:spPr>
          <a:xfrm>
            <a:off x="266178" y="679629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1. Investigación de mercados</a:t>
            </a:r>
            <a:endParaRPr lang="es-SV" sz="28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1DBD5C8-114F-0864-B32D-342386F6B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49864" y="679629"/>
            <a:ext cx="5085044" cy="56252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1BE248A-2650-7AF0-5F32-791281D519CA}"/>
              </a:ext>
            </a:extLst>
          </p:cNvPr>
          <p:cNvSpPr txBox="1"/>
          <p:nvPr/>
        </p:nvSpPr>
        <p:spPr>
          <a:xfrm>
            <a:off x="266178" y="1536174"/>
            <a:ext cx="55458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La </a:t>
            </a:r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investigación de mercados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 es la función primaria de la mercadotecnia, pues permite recopilar y analizar datos sobre el mercado, los consumidores y la competencia. Esto ayuda a las empresas a tomar decisiones informadas</a:t>
            </a:r>
          </a:p>
          <a:p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Estudio de mercado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: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Segmentación del mercado</a:t>
            </a:r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Análisis de la competencia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Encuestas y entrevistas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11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7A91CC4-7308-575A-2EFF-F2156FAFC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1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825225" y="268410"/>
            <a:ext cx="12188389" cy="6858000"/>
          </a:xfrm>
          <a:prstGeom prst="rect">
            <a:avLst/>
          </a:prstGeom>
          <a:effectLst>
            <a:outerShdw blurRad="1270000" dist="50800" dir="12000000" sx="101000" sy="101000" algn="ctr" rotWithShape="0">
              <a:srgbClr val="000000">
                <a:alpha val="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97E76E3-2A58-8DC0-C461-C511EE032C28}"/>
              </a:ext>
            </a:extLst>
          </p:cNvPr>
          <p:cNvSpPr txBox="1"/>
          <p:nvPr/>
        </p:nvSpPr>
        <p:spPr>
          <a:xfrm>
            <a:off x="316282" y="391531"/>
            <a:ext cx="6093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2. Planificación estratégica y desarrollo de marketing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267885-4BE4-9B22-08B5-52FCB5BE0BF1}"/>
              </a:ext>
            </a:extLst>
          </p:cNvPr>
          <p:cNvSpPr txBox="1"/>
          <p:nvPr/>
        </p:nvSpPr>
        <p:spPr>
          <a:xfrm>
            <a:off x="316282" y="1955610"/>
            <a:ext cx="53329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La </a:t>
            </a:r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planificación estratégica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 define el camino que debe seguir la empresa para alcanzar sus metas a largo plazo, considerando los resultados obtenidos en la investigación de mercados. Las tareas clave incluyen</a:t>
            </a:r>
          </a:p>
          <a:p>
            <a:endParaRPr lang="es-SV" sz="2400" kern="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Análisis FODA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Selección de mercados meta</a:t>
            </a:r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Posicionamiento de marca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5B59A95-0AE2-2DE6-2EA4-822864A1F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736920" y="625151"/>
            <a:ext cx="5138071" cy="5607697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236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83BB82-0206-E162-B2AF-5B43543A3305}"/>
              </a:ext>
            </a:extLst>
          </p:cNvPr>
          <p:cNvSpPr txBox="1"/>
          <p:nvPr/>
        </p:nvSpPr>
        <p:spPr>
          <a:xfrm>
            <a:off x="1214406" y="855742"/>
            <a:ext cx="609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  <a:cs typeface="Mongolian Baiti" panose="03000500000000000000" pitchFamily="66" charset="0"/>
              </a:rPr>
              <a:t>3. Desarrollo de productos y servicios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E35C11-D067-A255-F999-383F52589789}"/>
              </a:ext>
            </a:extLst>
          </p:cNvPr>
          <p:cNvSpPr txBox="1"/>
          <p:nvPr/>
        </p:nvSpPr>
        <p:spPr>
          <a:xfrm>
            <a:off x="1133733" y="2008885"/>
            <a:ext cx="60939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El desarrollo de productos y servicios se centra en crear y mejorar ofertas que se alineen con las necesidades y deseos del consumidor. Este proceso incluye:</a:t>
            </a:r>
          </a:p>
          <a:p>
            <a:endParaRPr lang="es-SV" sz="24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Innovación y mejora de productos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: 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Pruebas de productos</a:t>
            </a:r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Empaque y diseño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E7C0DA4-3544-4524-C6C4-4D61B2B68467}"/>
              </a:ext>
            </a:extLst>
          </p:cNvPr>
          <p:cNvGrpSpPr/>
          <p:nvPr/>
        </p:nvGrpSpPr>
        <p:grpSpPr>
          <a:xfrm>
            <a:off x="6096000" y="2005976"/>
            <a:ext cx="5778673" cy="4557662"/>
            <a:chOff x="7013295" y="1993451"/>
            <a:chExt cx="3810679" cy="4286382"/>
          </a:xfrm>
        </p:grpSpPr>
        <p:pic>
          <p:nvPicPr>
            <p:cNvPr id="14" name="Gráfico 13" descr="Carro de la compra">
              <a:extLst>
                <a:ext uri="{FF2B5EF4-FFF2-40B4-BE49-F238E27FC236}">
                  <a16:creationId xmlns:a16="http://schemas.microsoft.com/office/drawing/2014/main" id="{728A0BCE-15E7-BAD1-63FA-25AE6C83A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82207" y="2907851"/>
              <a:ext cx="914400" cy="914400"/>
            </a:xfrm>
            <a:prstGeom prst="rect">
              <a:avLst/>
            </a:prstGeom>
          </p:spPr>
        </p:pic>
        <p:pic>
          <p:nvPicPr>
            <p:cNvPr id="16" name="Gráfico 15" descr="Etiqueta">
              <a:extLst>
                <a:ext uri="{FF2B5EF4-FFF2-40B4-BE49-F238E27FC236}">
                  <a16:creationId xmlns:a16="http://schemas.microsoft.com/office/drawing/2014/main" id="{D0FCC416-758C-B445-0393-5D6A4CF74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0465" y="3429000"/>
              <a:ext cx="1059690" cy="1059690"/>
            </a:xfrm>
            <a:prstGeom prst="rect">
              <a:avLst/>
            </a:prstGeom>
          </p:spPr>
        </p:pic>
        <p:pic>
          <p:nvPicPr>
            <p:cNvPr id="18" name="Gráfico 17" descr="Aula">
              <a:extLst>
                <a:ext uri="{FF2B5EF4-FFF2-40B4-BE49-F238E27FC236}">
                  <a16:creationId xmlns:a16="http://schemas.microsoft.com/office/drawing/2014/main" id="{2033E095-2F63-8318-449D-E3E1EC4FD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12744" y="2706878"/>
              <a:ext cx="914400" cy="914400"/>
            </a:xfrm>
            <a:prstGeom prst="rect">
              <a:avLst/>
            </a:prstGeom>
          </p:spPr>
        </p:pic>
        <p:pic>
          <p:nvPicPr>
            <p:cNvPr id="20" name="Gráfico 19" descr="Cerebro">
              <a:extLst>
                <a:ext uri="{FF2B5EF4-FFF2-40B4-BE49-F238E27FC236}">
                  <a16:creationId xmlns:a16="http://schemas.microsoft.com/office/drawing/2014/main" id="{CC6B91B5-9192-7661-4CA2-1D5B20194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454840" y="1993451"/>
              <a:ext cx="848634" cy="914400"/>
            </a:xfrm>
            <a:prstGeom prst="rect">
              <a:avLst/>
            </a:prstGeom>
          </p:spPr>
        </p:pic>
        <p:pic>
          <p:nvPicPr>
            <p:cNvPr id="29" name="Gráfico 28" descr="Gráfico de barras RTL">
              <a:extLst>
                <a:ext uri="{FF2B5EF4-FFF2-40B4-BE49-F238E27FC236}">
                  <a16:creationId xmlns:a16="http://schemas.microsoft.com/office/drawing/2014/main" id="{5B2AA311-4A5A-08B8-0EB9-AE84017BB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13295" y="2469154"/>
              <a:ext cx="3810679" cy="3810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98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6A1CE-05BF-FC4B-0FAF-D77B096BCC80}"/>
              </a:ext>
            </a:extLst>
          </p:cNvPr>
          <p:cNvSpPr txBox="1">
            <a:spLocks/>
          </p:cNvSpPr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4. Determinación de precios</a:t>
            </a:r>
            <a:br>
              <a:rPr lang="es-SV" sz="1800" kern="100" dirty="0">
                <a:solidFill>
                  <a:srgbClr val="F8F8F8"/>
                </a:solidFill>
                <a:latin typeface="Baskerville Old Face" panose="02020602080505020303" pitchFamily="18" charset="0"/>
                <a:ea typeface="Calibri" panose="020F0502020204030204" pitchFamily="34" charset="0"/>
              </a:rPr>
            </a:br>
            <a:endParaRPr lang="es-SV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6823B9-BDAA-E337-038C-9BF51D13DC4A}"/>
              </a:ext>
            </a:extLst>
          </p:cNvPr>
          <p:cNvSpPr txBox="1">
            <a:spLocks/>
          </p:cNvSpPr>
          <p:nvPr/>
        </p:nvSpPr>
        <p:spPr>
          <a:xfrm>
            <a:off x="908244" y="3429000"/>
            <a:ext cx="3751046" cy="32520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Estrategias de precios</a:t>
            </a:r>
          </a:p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Precios psicológicos</a:t>
            </a:r>
          </a:p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Promociones y descuentos</a:t>
            </a:r>
          </a:p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Elasticidad del precio</a:t>
            </a:r>
          </a:p>
          <a:p>
            <a:endParaRPr lang="es-SV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AAFD2A-0960-FAAC-9085-11A2EA78F356}"/>
              </a:ext>
            </a:extLst>
          </p:cNvPr>
          <p:cNvSpPr txBox="1">
            <a:spLocks/>
          </p:cNvSpPr>
          <p:nvPr/>
        </p:nvSpPr>
        <p:spPr>
          <a:xfrm>
            <a:off x="727053" y="1257300"/>
            <a:ext cx="3932237" cy="316438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El </a:t>
            </a:r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precio</a:t>
            </a:r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 es uno de los factores más importantes en la decisión de compra de los consumidores. Esta función busca establecer el valor adecuado para los productos y servicios, basándose en la percepción de los consumidores y los costos de producción. Las tareas incluyen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56C3FA-7740-1A54-64DF-F94DEBCDE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59021" y="1413540"/>
            <a:ext cx="6105926" cy="442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9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EA62-AF53-9667-A4CA-80B30A6B07C1}"/>
              </a:ext>
            </a:extLst>
          </p:cNvPr>
          <p:cNvSpPr txBox="1">
            <a:spLocks/>
          </p:cNvSpPr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SV" sz="28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5. Distribución</a:t>
            </a:r>
            <a:endParaRPr lang="es-SV" sz="28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05D62B94-9F28-3091-1893-77A169574248}"/>
              </a:ext>
            </a:extLst>
          </p:cNvPr>
          <p:cNvSpPr txBox="1">
            <a:spLocks/>
          </p:cNvSpPr>
          <p:nvPr/>
        </p:nvSpPr>
        <p:spPr>
          <a:xfrm>
            <a:off x="531648" y="1621880"/>
            <a:ext cx="3932237" cy="3811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SV" sz="2400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La distribución se refiere a las estrategias y los canales a través de los cuales los productos llegan a los consumidores. Esta función involucra:</a:t>
            </a:r>
            <a:endParaRPr lang="es-SV" sz="2400" kern="100" dirty="0">
              <a:solidFill>
                <a:srgbClr val="F8F8F8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Canales de distribución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Logística</a:t>
            </a:r>
            <a:r>
              <a:rPr lang="es-SV" sz="2400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: </a:t>
            </a:r>
            <a:endParaRPr lang="es-SV" sz="2400" b="1" kern="0" dirty="0">
              <a:solidFill>
                <a:srgbClr val="F8F8F8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Estrategias de cobertura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Ubicación de puntos de venta</a:t>
            </a:r>
            <a:endParaRPr lang="es-SV" sz="2400" dirty="0">
              <a:solidFill>
                <a:srgbClr val="F8F8F8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503E24-864A-E2D2-277B-1F368B00F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07859" y="4153975"/>
            <a:ext cx="4346531" cy="2173266"/>
          </a:xfrm>
          <a:prstGeom prst="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0000" endA="275" endPos="40000" dist="1016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76E32B-044A-B6C7-92A5-144A455FB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26626" y="377346"/>
            <a:ext cx="5184571" cy="3360108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48989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F6BE5-0145-6BBE-40F5-5FD9A019D02A}"/>
              </a:ext>
            </a:extLst>
          </p:cNvPr>
          <p:cNvSpPr txBox="1">
            <a:spLocks/>
          </p:cNvSpPr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6. Promoción</a:t>
            </a:r>
            <a:br>
              <a:rPr lang="es-SV" sz="18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s-SV" dirty="0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7C7DBFF-73E7-CCC4-9AC0-7FA0A8F186A8}"/>
              </a:ext>
            </a:extLst>
          </p:cNvPr>
          <p:cNvSpPr txBox="1">
            <a:spLocks/>
          </p:cNvSpPr>
          <p:nvPr/>
        </p:nvSpPr>
        <p:spPr>
          <a:xfrm>
            <a:off x="464007" y="1523206"/>
            <a:ext cx="3932237" cy="381158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La </a:t>
            </a:r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promoción</a:t>
            </a:r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 abarca todas las actividades de comunicación que buscan generar interés, atracción y ventas de los productos. Algunas de las actividades más importantes son:</a:t>
            </a:r>
          </a:p>
          <a:p>
            <a:endParaRPr lang="es-SV" sz="2400" kern="100" dirty="0">
              <a:solidFill>
                <a:srgbClr val="F8F8F8"/>
              </a:solidFill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Publicidad</a:t>
            </a:r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: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Promociones de ventas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Relaciones públicas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Marketing digital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8FA931-19AB-C8D8-BF20-79AE97595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32537" y="676405"/>
            <a:ext cx="4739014" cy="59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1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C49A9-28BA-2F3C-FB61-0446E47D449D}"/>
              </a:ext>
            </a:extLst>
          </p:cNvPr>
          <p:cNvSpPr txBox="1">
            <a:spLocks/>
          </p:cNvSpPr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7. Gestión de relaciones con los clientes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62EEB672-0B44-92F9-97EF-CCEE18BB8D47}"/>
              </a:ext>
            </a:extLst>
          </p:cNvPr>
          <p:cNvSpPr txBox="1">
            <a:spLocks/>
          </p:cNvSpPr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La gestión de relaciones con los clientes se enfoca en establecer relaciones duraderas y positivas con los consumidores. Esto se logra mediante:</a:t>
            </a:r>
          </a:p>
          <a:p>
            <a:endParaRPr lang="es-SV" sz="2400" kern="100" dirty="0">
              <a:solidFill>
                <a:srgbClr val="F8F8F8"/>
              </a:solidFill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Fidelización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Atención al cliente</a:t>
            </a:r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: 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Recopilación de datos</a:t>
            </a:r>
            <a:r>
              <a:rPr lang="es-SV" sz="2400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: </a:t>
            </a:r>
          </a:p>
          <a:p>
            <a:r>
              <a:rPr lang="es-SV" sz="2400" b="1" kern="0" dirty="0">
                <a:solidFill>
                  <a:srgbClr val="F8F8F8"/>
                </a:solidFill>
                <a:latin typeface="Baskerville Old Face" panose="02020602080505020303" pitchFamily="18" charset="0"/>
                <a:ea typeface="Times New Roman" panose="02020603050405020304" pitchFamily="18" charset="0"/>
              </a:rPr>
              <a:t>Comunicación constante</a:t>
            </a:r>
          </a:p>
          <a:p>
            <a:endParaRPr lang="es-SV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E1900B-2063-B956-4EB5-21ABBFCB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10411" y="1257300"/>
            <a:ext cx="6739003" cy="4763579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402932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2100D4B-D4F8-481D-A98C-C5864EC689A3}"/>
              </a:ext>
            </a:extLst>
          </p:cNvPr>
          <p:cNvSpPr txBox="1"/>
          <p:nvPr/>
        </p:nvSpPr>
        <p:spPr>
          <a:xfrm>
            <a:off x="742167" y="785889"/>
            <a:ext cx="496970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8. </a:t>
            </a:r>
            <a:r>
              <a:rPr lang="es-SV" sz="2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Análisis y control</a:t>
            </a:r>
          </a:p>
          <a:p>
            <a:endParaRPr lang="es-SV" sz="24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El </a:t>
            </a:r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análisis y control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 es la función encargada de evaluar el desempeño de las estrategias de mercadotecnia y realizar ajustes para optimizar los resultados. Este proceso incluye:</a:t>
            </a:r>
          </a:p>
          <a:p>
            <a:endParaRPr lang="es-SV" sz="24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Medición de resultados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Evaluación de campañas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Ajustes en las estrategias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E91B7B-9FF0-1366-1CA0-1190F3DD1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2077" y="533824"/>
            <a:ext cx="6075123" cy="57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8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F0E2DD1-1E9A-CCD6-9F8A-BDE9CAC8C374}"/>
              </a:ext>
            </a:extLst>
          </p:cNvPr>
          <p:cNvSpPr txBox="1"/>
          <p:nvPr/>
        </p:nvSpPr>
        <p:spPr>
          <a:xfrm>
            <a:off x="704589" y="790880"/>
            <a:ext cx="444360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9. Adaptación y flexibilidad</a:t>
            </a:r>
          </a:p>
          <a:p>
            <a:endParaRPr lang="es-SV" sz="2800" b="1" kern="0" dirty="0">
              <a:solidFill>
                <a:srgbClr val="F8F8F8"/>
              </a:solidFill>
              <a:latin typeface="Baskerville Old Face" panose="02020602080505020303" pitchFamily="18" charset="0"/>
              <a:ea typeface="Times New Roman" panose="02020603050405020304" pitchFamily="18" charset="0"/>
            </a:endParaRPr>
          </a:p>
          <a:p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La </a:t>
            </a:r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adaptación</a:t>
            </a:r>
            <a:r>
              <a:rPr lang="es-SV" sz="2400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 es una función clave para asegurar que la empresa responda a los cambios en el entorno y las demandas del mercado. En un entorno dinámico, las empresas deben estar preparadas para:</a:t>
            </a:r>
          </a:p>
          <a:p>
            <a:endParaRPr lang="es-SV" sz="2400" kern="100" dirty="0">
              <a:solidFill>
                <a:srgbClr val="F8F8F8"/>
              </a:solidFill>
              <a:effectLst/>
              <a:latin typeface="Baskerville Old Face" panose="02020602080505020303" pitchFamily="18" charset="0"/>
              <a:ea typeface="Calibri" panose="020F0502020204030204" pitchFamily="34" charset="0"/>
            </a:endParaRP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Innovar y cambiar</a:t>
            </a:r>
          </a:p>
          <a:p>
            <a:r>
              <a:rPr lang="es-SV" sz="2400" b="1" kern="0" dirty="0">
                <a:solidFill>
                  <a:srgbClr val="F8F8F8"/>
                </a:solidFill>
                <a:effectLst/>
                <a:latin typeface="Baskerville Old Face" panose="02020602080505020303" pitchFamily="18" charset="0"/>
                <a:ea typeface="Times New Roman" panose="02020603050405020304" pitchFamily="18" charset="0"/>
              </a:rPr>
              <a:t>Ajustar estrategias</a:t>
            </a:r>
            <a:endParaRPr lang="es-SV" sz="2400" dirty="0">
              <a:solidFill>
                <a:srgbClr val="F8F8F8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7C1BCB-D100-583B-9BA2-88A66F67E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56232" y="884825"/>
            <a:ext cx="5831179" cy="50883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97526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E58EAF-7F15-CEAC-0E59-9FE33175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06471"/>
            <a:ext cx="12192000" cy="696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5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2">
      <a:dk1>
        <a:srgbClr val="4A2739"/>
      </a:dk1>
      <a:lt1>
        <a:srgbClr val="4A2739"/>
      </a:lt1>
      <a:dk2>
        <a:srgbClr val="6F3B55"/>
      </a:dk2>
      <a:lt2>
        <a:srgbClr val="002060"/>
      </a:lt2>
      <a:accent1>
        <a:srgbClr val="6F3B55"/>
      </a:accent1>
      <a:accent2>
        <a:srgbClr val="6F3B55"/>
      </a:accent2>
      <a:accent3>
        <a:srgbClr val="6F3B55"/>
      </a:accent3>
      <a:accent4>
        <a:srgbClr val="4A2739"/>
      </a:accent4>
      <a:accent5>
        <a:srgbClr val="4A2739"/>
      </a:accent5>
      <a:accent6>
        <a:srgbClr val="C490AA"/>
      </a:accent6>
      <a:hlink>
        <a:srgbClr val="C490A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580</Words>
  <Application>Microsoft Office PowerPoint</Application>
  <PresentationFormat>Panorámica</PresentationFormat>
  <Paragraphs>79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Baskerville Old Face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ricardo</dc:creator>
  <cp:lastModifiedBy>ricardo</cp:lastModifiedBy>
  <cp:revision>4</cp:revision>
  <dcterms:created xsi:type="dcterms:W3CDTF">2025-02-22T16:59:12Z</dcterms:created>
  <dcterms:modified xsi:type="dcterms:W3CDTF">2025-02-23T04:02:41Z</dcterms:modified>
</cp:coreProperties>
</file>