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4.svg" ContentType="image/svg+xml"/>
  <Override PartName="/ppt/media/image23.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9" r:id="rId4"/>
    <p:sldId id="274" r:id="rId5"/>
    <p:sldId id="263" r:id="rId6"/>
    <p:sldId id="262" r:id="rId7"/>
    <p:sldId id="264" r:id="rId8"/>
    <p:sldId id="265" r:id="rId9"/>
    <p:sldId id="266" r:id="rId10"/>
    <p:sldId id="267" r:id="rId11"/>
    <p:sldId id="269" r:id="rId12"/>
    <p:sldId id="268" r:id="rId13"/>
    <p:sldId id="270" r:id="rId15"/>
    <p:sldId id="271" r:id="rId16"/>
    <p:sldId id="276" r:id="rId17"/>
    <p:sldId id="273" r:id="rId18"/>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8" autoAdjust="0"/>
    <p:restoredTop sz="94660"/>
  </p:normalViewPr>
  <p:slideViewPr>
    <p:cSldViewPr snapToGrid="0">
      <p:cViewPr varScale="1">
        <p:scale>
          <a:sx n="67" d="100"/>
          <a:sy n="67"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131DFE-A39A-4DE2-8DF0-FC2F02BBD4B3}" type="datetimeFigureOut">
              <a:rPr lang="es-SV" smtClean="0"/>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D5CCD3-F85B-4B6F-AC0F-32F3EE08A6D7}" type="slidenum">
              <a:rPr lang="es-SV" smtClean="0"/>
            </a:fld>
            <a:endParaRPr lang="es-SV"/>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Marcador de posición de imagen de diapositiva 1"/>
          <p:cNvSpPr>
            <a:spLocks noGrp="1"/>
          </p:cNvSpPr>
          <p:nvPr>
            <p:ph type="sldImg" idx="2"/>
          </p:nvPr>
        </p:nvSpPr>
        <p:spPr/>
      </p:sp>
      <p:sp>
        <p:nvSpPr>
          <p:cNvPr id="3" name="Marcador de posición de texto 2"/>
          <p:cNvSpPr>
            <a:spLocks noGrp="1"/>
          </p:cNvSpPr>
          <p:nvPr>
            <p:ph type="body" idx="3"/>
          </p:nvPr>
        </p:nvSpPr>
        <p:spPr/>
        <p:txBody>
          <a:bodyPr/>
          <a:p>
            <a:endParaRPr lang="es-E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SV"/>
          </a:p>
        </p:txBody>
      </p:sp>
      <p:sp>
        <p:nvSpPr>
          <p:cNvPr id="3" name="Subtítulo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SV"/>
          </a:p>
        </p:txBody>
      </p:sp>
      <p:sp>
        <p:nvSpPr>
          <p:cNvPr id="4" name="Marcador de fecha 3"/>
          <p:cNvSpPr>
            <a:spLocks noGrp="1"/>
          </p:cNvSpPr>
          <p:nvPr>
            <p:ph type="dt" sz="half" idx="10"/>
          </p:nvPr>
        </p:nvSpPr>
        <p:spPr/>
        <p:txBody>
          <a:bodyPr/>
          <a:lstStyle/>
          <a:p>
            <a:fld id="{9384F25D-0425-481D-B727-1C615511A72E}" type="datetimeFigureOut">
              <a:rPr lang="es-SV" smtClean="0"/>
            </a:fld>
            <a:endParaRPr lang="es-SV"/>
          </a:p>
        </p:txBody>
      </p:sp>
      <p:sp>
        <p:nvSpPr>
          <p:cNvPr id="5" name="Marcador de pie de página 4"/>
          <p:cNvSpPr>
            <a:spLocks noGrp="1"/>
          </p:cNvSpPr>
          <p:nvPr>
            <p:ph type="ftr" sz="quarter" idx="11"/>
          </p:nvPr>
        </p:nvSpPr>
        <p:spPr/>
        <p:txBody>
          <a:bodyPr/>
          <a:lstStyle/>
          <a:p>
            <a:endParaRPr lang="es-SV"/>
          </a:p>
        </p:txBody>
      </p:sp>
      <p:sp>
        <p:nvSpPr>
          <p:cNvPr id="6" name="Marcador de número de diapositiva 5"/>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SV"/>
          </a:p>
        </p:txBody>
      </p:sp>
      <p:sp>
        <p:nvSpPr>
          <p:cNvPr id="3" name="Marcador de contenido 2"/>
          <p:cNvSpPr>
            <a:spLocks noGrp="1"/>
          </p:cNvSpPr>
          <p:nvPr>
            <p:ph idx="1" hasCustomPrompt="1"/>
          </p:nvPr>
        </p:nvSpPr>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fecha 3"/>
          <p:cNvSpPr>
            <a:spLocks noGrp="1"/>
          </p:cNvSpPr>
          <p:nvPr>
            <p:ph type="dt" sz="half" idx="10"/>
          </p:nvPr>
        </p:nvSpPr>
        <p:spPr/>
        <p:txBody>
          <a:bodyPr/>
          <a:lstStyle/>
          <a:p>
            <a:fld id="{9384F25D-0425-481D-B727-1C615511A72E}" type="datetimeFigureOut">
              <a:rPr lang="es-SV" smtClean="0"/>
            </a:fld>
            <a:endParaRPr lang="es-SV"/>
          </a:p>
        </p:txBody>
      </p:sp>
      <p:sp>
        <p:nvSpPr>
          <p:cNvPr id="5" name="Marcador de pie de página 4"/>
          <p:cNvSpPr>
            <a:spLocks noGrp="1"/>
          </p:cNvSpPr>
          <p:nvPr>
            <p:ph type="ftr" sz="quarter" idx="11"/>
          </p:nvPr>
        </p:nvSpPr>
        <p:spPr/>
        <p:txBody>
          <a:bodyPr/>
          <a:lstStyle/>
          <a:p>
            <a:endParaRPr lang="es-SV"/>
          </a:p>
        </p:txBody>
      </p:sp>
      <p:sp>
        <p:nvSpPr>
          <p:cNvPr id="6" name="Marcador de número de diapositiva 5"/>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SV"/>
          </a:p>
        </p:txBody>
      </p:sp>
      <p:sp>
        <p:nvSpPr>
          <p:cNvPr id="3" name="Marcador de texto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endParaRPr lang="es-ES"/>
          </a:p>
        </p:txBody>
      </p:sp>
      <p:sp>
        <p:nvSpPr>
          <p:cNvPr id="4" name="Marcador de fecha 3"/>
          <p:cNvSpPr>
            <a:spLocks noGrp="1"/>
          </p:cNvSpPr>
          <p:nvPr>
            <p:ph type="dt" sz="half" idx="10"/>
          </p:nvPr>
        </p:nvSpPr>
        <p:spPr/>
        <p:txBody>
          <a:bodyPr/>
          <a:lstStyle/>
          <a:p>
            <a:fld id="{9384F25D-0425-481D-B727-1C615511A72E}" type="datetimeFigureOut">
              <a:rPr lang="es-SV" smtClean="0"/>
            </a:fld>
            <a:endParaRPr lang="es-SV"/>
          </a:p>
        </p:txBody>
      </p:sp>
      <p:sp>
        <p:nvSpPr>
          <p:cNvPr id="5" name="Marcador de pie de página 4"/>
          <p:cNvSpPr>
            <a:spLocks noGrp="1"/>
          </p:cNvSpPr>
          <p:nvPr>
            <p:ph type="ftr" sz="quarter" idx="11"/>
          </p:nvPr>
        </p:nvSpPr>
        <p:spPr/>
        <p:txBody>
          <a:bodyPr/>
          <a:lstStyle/>
          <a:p>
            <a:endParaRPr lang="es-SV"/>
          </a:p>
        </p:txBody>
      </p:sp>
      <p:sp>
        <p:nvSpPr>
          <p:cNvPr id="6" name="Marcador de número de diapositiva 5"/>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SV"/>
          </a:p>
        </p:txBody>
      </p:sp>
      <p:sp>
        <p:nvSpPr>
          <p:cNvPr id="3" name="Marcador de contenido 2"/>
          <p:cNvSpPr>
            <a:spLocks noGrp="1"/>
          </p:cNvSpPr>
          <p:nvPr>
            <p:ph sz="half" idx="1" hasCustomPrompt="1"/>
          </p:nvPr>
        </p:nvSpPr>
        <p:spPr>
          <a:xfrm>
            <a:off x="838200" y="1825625"/>
            <a:ext cx="5181600" cy="4351338"/>
          </a:xfrm>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contenido 3"/>
          <p:cNvSpPr>
            <a:spLocks noGrp="1"/>
          </p:cNvSpPr>
          <p:nvPr>
            <p:ph sz="half" idx="2" hasCustomPrompt="1"/>
          </p:nvPr>
        </p:nvSpPr>
        <p:spPr>
          <a:xfrm>
            <a:off x="6172200" y="1825625"/>
            <a:ext cx="5181600" cy="4351338"/>
          </a:xfrm>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5" name="Marcador de fecha 4"/>
          <p:cNvSpPr>
            <a:spLocks noGrp="1"/>
          </p:cNvSpPr>
          <p:nvPr>
            <p:ph type="dt" sz="half" idx="10"/>
          </p:nvPr>
        </p:nvSpPr>
        <p:spPr/>
        <p:txBody>
          <a:bodyPr/>
          <a:lstStyle/>
          <a:p>
            <a:fld id="{9384F25D-0425-481D-B727-1C615511A72E}" type="datetimeFigureOut">
              <a:rPr lang="es-SV" smtClean="0"/>
            </a:fld>
            <a:endParaRPr lang="es-SV"/>
          </a:p>
        </p:txBody>
      </p:sp>
      <p:sp>
        <p:nvSpPr>
          <p:cNvPr id="6" name="Marcador de pie de página 5"/>
          <p:cNvSpPr>
            <a:spLocks noGrp="1"/>
          </p:cNvSpPr>
          <p:nvPr>
            <p:ph type="ftr" sz="quarter" idx="11"/>
          </p:nvPr>
        </p:nvSpPr>
        <p:spPr/>
        <p:txBody>
          <a:bodyPr/>
          <a:lstStyle/>
          <a:p>
            <a:endParaRPr lang="es-SV"/>
          </a:p>
        </p:txBody>
      </p:sp>
      <p:sp>
        <p:nvSpPr>
          <p:cNvPr id="7" name="Marcador de número de diapositiva 6"/>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SV"/>
          </a:p>
        </p:txBody>
      </p:sp>
      <p:sp>
        <p:nvSpPr>
          <p:cNvPr id="3" name="Marcador de texto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4" name="Marcador de contenido 3"/>
          <p:cNvSpPr>
            <a:spLocks noGrp="1"/>
          </p:cNvSpPr>
          <p:nvPr>
            <p:ph sz="half" idx="2" hasCustomPrompt="1"/>
          </p:nvPr>
        </p:nvSpPr>
        <p:spPr>
          <a:xfrm>
            <a:off x="839788" y="2505075"/>
            <a:ext cx="5157787" cy="3684588"/>
          </a:xfrm>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5" name="Marcador de texto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6" name="Marcador de contenido 5"/>
          <p:cNvSpPr>
            <a:spLocks noGrp="1"/>
          </p:cNvSpPr>
          <p:nvPr>
            <p:ph sz="quarter" idx="4" hasCustomPrompt="1"/>
          </p:nvPr>
        </p:nvSpPr>
        <p:spPr>
          <a:xfrm>
            <a:off x="6172200" y="2505075"/>
            <a:ext cx="5183188" cy="3684588"/>
          </a:xfrm>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7" name="Marcador de fecha 6"/>
          <p:cNvSpPr>
            <a:spLocks noGrp="1"/>
          </p:cNvSpPr>
          <p:nvPr>
            <p:ph type="dt" sz="half" idx="10"/>
          </p:nvPr>
        </p:nvSpPr>
        <p:spPr/>
        <p:txBody>
          <a:bodyPr/>
          <a:lstStyle/>
          <a:p>
            <a:fld id="{9384F25D-0425-481D-B727-1C615511A72E}" type="datetimeFigureOut">
              <a:rPr lang="es-SV" smtClean="0"/>
            </a:fld>
            <a:endParaRPr lang="es-SV"/>
          </a:p>
        </p:txBody>
      </p:sp>
      <p:sp>
        <p:nvSpPr>
          <p:cNvPr id="8" name="Marcador de pie de página 7"/>
          <p:cNvSpPr>
            <a:spLocks noGrp="1"/>
          </p:cNvSpPr>
          <p:nvPr>
            <p:ph type="ftr" sz="quarter" idx="11"/>
          </p:nvPr>
        </p:nvSpPr>
        <p:spPr/>
        <p:txBody>
          <a:bodyPr/>
          <a:lstStyle/>
          <a:p>
            <a:endParaRPr lang="es-SV"/>
          </a:p>
        </p:txBody>
      </p:sp>
      <p:sp>
        <p:nvSpPr>
          <p:cNvPr id="9" name="Marcador de número de diapositiva 8"/>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SV"/>
          </a:p>
        </p:txBody>
      </p:sp>
      <p:sp>
        <p:nvSpPr>
          <p:cNvPr id="3" name="Marcador de fecha 2"/>
          <p:cNvSpPr>
            <a:spLocks noGrp="1"/>
          </p:cNvSpPr>
          <p:nvPr>
            <p:ph type="dt" sz="half" idx="10"/>
          </p:nvPr>
        </p:nvSpPr>
        <p:spPr/>
        <p:txBody>
          <a:bodyPr/>
          <a:lstStyle/>
          <a:p>
            <a:fld id="{9384F25D-0425-481D-B727-1C615511A72E}" type="datetimeFigureOut">
              <a:rPr lang="es-SV" smtClean="0"/>
            </a:fld>
            <a:endParaRPr lang="es-SV"/>
          </a:p>
        </p:txBody>
      </p:sp>
      <p:sp>
        <p:nvSpPr>
          <p:cNvPr id="4" name="Marcador de pie de página 3"/>
          <p:cNvSpPr>
            <a:spLocks noGrp="1"/>
          </p:cNvSpPr>
          <p:nvPr>
            <p:ph type="ftr" sz="quarter" idx="11"/>
          </p:nvPr>
        </p:nvSpPr>
        <p:spPr/>
        <p:txBody>
          <a:bodyPr/>
          <a:lstStyle/>
          <a:p>
            <a:endParaRPr lang="es-SV"/>
          </a:p>
        </p:txBody>
      </p:sp>
      <p:sp>
        <p:nvSpPr>
          <p:cNvPr id="5" name="Marcador de número de diapositiva 4"/>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384F25D-0425-481D-B727-1C615511A72E}" type="datetimeFigureOut">
              <a:rPr lang="es-SV" smtClean="0"/>
            </a:fld>
            <a:endParaRPr lang="es-SV"/>
          </a:p>
        </p:txBody>
      </p:sp>
      <p:sp>
        <p:nvSpPr>
          <p:cNvPr id="3" name="Marcador de pie de página 2"/>
          <p:cNvSpPr>
            <a:spLocks noGrp="1"/>
          </p:cNvSpPr>
          <p:nvPr>
            <p:ph type="ftr" sz="quarter" idx="11"/>
          </p:nvPr>
        </p:nvSpPr>
        <p:spPr/>
        <p:txBody>
          <a:bodyPr/>
          <a:lstStyle/>
          <a:p>
            <a:endParaRPr lang="es-SV"/>
          </a:p>
        </p:txBody>
      </p:sp>
      <p:sp>
        <p:nvSpPr>
          <p:cNvPr id="4" name="Marcador de número de diapositiva 3"/>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SV"/>
          </a:p>
        </p:txBody>
      </p:sp>
      <p:sp>
        <p:nvSpPr>
          <p:cNvPr id="3" name="Marcador de contenido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endParaRPr lang="es-ES"/>
          </a:p>
        </p:txBody>
      </p:sp>
      <p:sp>
        <p:nvSpPr>
          <p:cNvPr id="5" name="Marcador de fecha 4"/>
          <p:cNvSpPr>
            <a:spLocks noGrp="1"/>
          </p:cNvSpPr>
          <p:nvPr>
            <p:ph type="dt" sz="half" idx="10"/>
          </p:nvPr>
        </p:nvSpPr>
        <p:spPr/>
        <p:txBody>
          <a:bodyPr/>
          <a:lstStyle/>
          <a:p>
            <a:fld id="{9384F25D-0425-481D-B727-1C615511A72E}" type="datetimeFigureOut">
              <a:rPr lang="es-SV" smtClean="0"/>
            </a:fld>
            <a:endParaRPr lang="es-SV"/>
          </a:p>
        </p:txBody>
      </p:sp>
      <p:sp>
        <p:nvSpPr>
          <p:cNvPr id="6" name="Marcador de pie de página 5"/>
          <p:cNvSpPr>
            <a:spLocks noGrp="1"/>
          </p:cNvSpPr>
          <p:nvPr>
            <p:ph type="ftr" sz="quarter" idx="11"/>
          </p:nvPr>
        </p:nvSpPr>
        <p:spPr/>
        <p:txBody>
          <a:bodyPr/>
          <a:lstStyle/>
          <a:p>
            <a:endParaRPr lang="es-SV"/>
          </a:p>
        </p:txBody>
      </p:sp>
      <p:sp>
        <p:nvSpPr>
          <p:cNvPr id="7" name="Marcador de número de diapositiva 6"/>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SV"/>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SV"/>
          </a:p>
        </p:txBody>
      </p:sp>
      <p:sp>
        <p:nvSpPr>
          <p:cNvPr id="4" name="Marcador de texto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endParaRPr lang="es-ES"/>
          </a:p>
        </p:txBody>
      </p:sp>
      <p:sp>
        <p:nvSpPr>
          <p:cNvPr id="5" name="Marcador de fecha 4"/>
          <p:cNvSpPr>
            <a:spLocks noGrp="1"/>
          </p:cNvSpPr>
          <p:nvPr>
            <p:ph type="dt" sz="half" idx="10"/>
          </p:nvPr>
        </p:nvSpPr>
        <p:spPr/>
        <p:txBody>
          <a:bodyPr/>
          <a:lstStyle/>
          <a:p>
            <a:fld id="{9384F25D-0425-481D-B727-1C615511A72E}" type="datetimeFigureOut">
              <a:rPr lang="es-SV" smtClean="0"/>
            </a:fld>
            <a:endParaRPr lang="es-SV"/>
          </a:p>
        </p:txBody>
      </p:sp>
      <p:sp>
        <p:nvSpPr>
          <p:cNvPr id="6" name="Marcador de pie de página 5"/>
          <p:cNvSpPr>
            <a:spLocks noGrp="1"/>
          </p:cNvSpPr>
          <p:nvPr>
            <p:ph type="ftr" sz="quarter" idx="11"/>
          </p:nvPr>
        </p:nvSpPr>
        <p:spPr/>
        <p:txBody>
          <a:bodyPr/>
          <a:lstStyle/>
          <a:p>
            <a:endParaRPr lang="es-SV"/>
          </a:p>
        </p:txBody>
      </p:sp>
      <p:sp>
        <p:nvSpPr>
          <p:cNvPr id="7" name="Marcador de número de diapositiva 6"/>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SV"/>
          </a:p>
        </p:txBody>
      </p:sp>
      <p:sp>
        <p:nvSpPr>
          <p:cNvPr id="3" name="Marcador de texto vertical 2"/>
          <p:cNvSpPr>
            <a:spLocks noGrp="1"/>
          </p:cNvSpPr>
          <p:nvPr>
            <p:ph type="body" orient="vert" idx="1" hasCustomPrompt="1"/>
          </p:nvPr>
        </p:nvSpPr>
        <p:spPr/>
        <p:txBody>
          <a:bodyPr vert="eaVe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fecha 3"/>
          <p:cNvSpPr>
            <a:spLocks noGrp="1"/>
          </p:cNvSpPr>
          <p:nvPr>
            <p:ph type="dt" sz="half" idx="10"/>
          </p:nvPr>
        </p:nvSpPr>
        <p:spPr/>
        <p:txBody>
          <a:bodyPr/>
          <a:lstStyle/>
          <a:p>
            <a:fld id="{9384F25D-0425-481D-B727-1C615511A72E}" type="datetimeFigureOut">
              <a:rPr lang="es-SV" smtClean="0"/>
            </a:fld>
            <a:endParaRPr lang="es-SV"/>
          </a:p>
        </p:txBody>
      </p:sp>
      <p:sp>
        <p:nvSpPr>
          <p:cNvPr id="5" name="Marcador de pie de página 4"/>
          <p:cNvSpPr>
            <a:spLocks noGrp="1"/>
          </p:cNvSpPr>
          <p:nvPr>
            <p:ph type="ftr" sz="quarter" idx="11"/>
          </p:nvPr>
        </p:nvSpPr>
        <p:spPr/>
        <p:txBody>
          <a:bodyPr/>
          <a:lstStyle/>
          <a:p>
            <a:endParaRPr lang="es-SV"/>
          </a:p>
        </p:txBody>
      </p:sp>
      <p:sp>
        <p:nvSpPr>
          <p:cNvPr id="6" name="Marcador de número de diapositiva 5"/>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SV"/>
          </a:p>
        </p:txBody>
      </p:sp>
      <p:sp>
        <p:nvSpPr>
          <p:cNvPr id="3" name="Marcador de texto vertical 2"/>
          <p:cNvSpPr>
            <a:spLocks noGrp="1"/>
          </p:cNvSpPr>
          <p:nvPr>
            <p:ph type="body" orient="vert" idx="1" hasCustomPrompt="1"/>
          </p:nvPr>
        </p:nvSpPr>
        <p:spPr>
          <a:xfrm>
            <a:off x="838200" y="365125"/>
            <a:ext cx="7734300" cy="5811838"/>
          </a:xfrm>
        </p:spPr>
        <p:txBody>
          <a:bodyPr vert="eaVe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fecha 3"/>
          <p:cNvSpPr>
            <a:spLocks noGrp="1"/>
          </p:cNvSpPr>
          <p:nvPr>
            <p:ph type="dt" sz="half" idx="10"/>
          </p:nvPr>
        </p:nvSpPr>
        <p:spPr/>
        <p:txBody>
          <a:bodyPr/>
          <a:lstStyle/>
          <a:p>
            <a:fld id="{9384F25D-0425-481D-B727-1C615511A72E}" type="datetimeFigureOut">
              <a:rPr lang="es-SV" smtClean="0"/>
            </a:fld>
            <a:endParaRPr lang="es-SV"/>
          </a:p>
        </p:txBody>
      </p:sp>
      <p:sp>
        <p:nvSpPr>
          <p:cNvPr id="5" name="Marcador de pie de página 4"/>
          <p:cNvSpPr>
            <a:spLocks noGrp="1"/>
          </p:cNvSpPr>
          <p:nvPr>
            <p:ph type="ftr" sz="quarter" idx="11"/>
          </p:nvPr>
        </p:nvSpPr>
        <p:spPr/>
        <p:txBody>
          <a:bodyPr/>
          <a:lstStyle/>
          <a:p>
            <a:endParaRPr lang="es-SV"/>
          </a:p>
        </p:txBody>
      </p:sp>
      <p:sp>
        <p:nvSpPr>
          <p:cNvPr id="6" name="Marcador de número de diapositiva 5"/>
          <p:cNvSpPr>
            <a:spLocks noGrp="1"/>
          </p:cNvSpPr>
          <p:nvPr>
            <p:ph type="sldNum" sz="quarter" idx="12"/>
          </p:nvPr>
        </p:nvSpPr>
        <p:spPr/>
        <p:txBody>
          <a:bodyPr/>
          <a:lstStyle/>
          <a:p>
            <a:fld id="{61CD17FB-F851-4819-82D1-5F52FED7D720}" type="slidenum">
              <a:rPr lang="es-SV" smtClean="0"/>
            </a:fld>
            <a:endParaRPr lang="es-SV"/>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SV"/>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SV"/>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84F25D-0425-481D-B727-1C615511A72E}" type="datetimeFigureOut">
              <a:rPr lang="es-SV" smtClean="0"/>
            </a:fld>
            <a:endParaRPr lang="es-SV"/>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SV"/>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D17FB-F851-4819-82D1-5F52FED7D720}" type="slidenum">
              <a:rPr lang="es-SV" smtClean="0"/>
            </a:fld>
            <a:endParaRPr lang="es-SV"/>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GIF"/><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18.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21.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000" b="-1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grpSp>
        <p:nvGrpSpPr>
          <p:cNvPr id="7" name="Gráfico 5" descr="Calendario con relleno sólido"/>
          <p:cNvGrpSpPr/>
          <p:nvPr/>
        </p:nvGrpSpPr>
        <p:grpSpPr>
          <a:xfrm>
            <a:off x="1465638" y="3256529"/>
            <a:ext cx="1697760" cy="1697760"/>
            <a:chOff x="1915100" y="2822572"/>
            <a:chExt cx="1697760" cy="1697760"/>
          </a:xfrm>
          <a:solidFill>
            <a:srgbClr val="202020"/>
          </a:solidFill>
          <a:scene3d>
            <a:camera prst="perspectiveContrastingLeftFacing"/>
            <a:lightRig rig="threePt" dir="t"/>
          </a:scene3d>
        </p:grpSpPr>
        <p:sp>
          <p:nvSpPr>
            <p:cNvPr id="8" name="Forma libre: forma 7"/>
            <p:cNvSpPr/>
            <p:nvPr/>
          </p:nvSpPr>
          <p:spPr>
            <a:xfrm>
              <a:off x="2214705" y="2822572"/>
              <a:ext cx="149802" cy="299604"/>
            </a:xfrm>
            <a:custGeom>
              <a:avLst/>
              <a:gdLst>
                <a:gd name="connsiteX0" fmla="*/ 74901 w 149802"/>
                <a:gd name="connsiteY0" fmla="*/ 299605 h 299604"/>
                <a:gd name="connsiteX1" fmla="*/ 149802 w 149802"/>
                <a:gd name="connsiteY1" fmla="*/ 224704 h 299604"/>
                <a:gd name="connsiteX2" fmla="*/ 149802 w 149802"/>
                <a:gd name="connsiteY2" fmla="*/ 74901 h 299604"/>
                <a:gd name="connsiteX3" fmla="*/ 74901 w 149802"/>
                <a:gd name="connsiteY3" fmla="*/ 0 h 299604"/>
                <a:gd name="connsiteX4" fmla="*/ 0 w 149802"/>
                <a:gd name="connsiteY4" fmla="*/ 74901 h 299604"/>
                <a:gd name="connsiteX5" fmla="*/ 0 w 149802"/>
                <a:gd name="connsiteY5" fmla="*/ 224704 h 299604"/>
                <a:gd name="connsiteX6" fmla="*/ 74901 w 149802"/>
                <a:gd name="connsiteY6" fmla="*/ 299605 h 29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802" h="299604">
                  <a:moveTo>
                    <a:pt x="74901" y="299605"/>
                  </a:moveTo>
                  <a:cubicBezTo>
                    <a:pt x="117345" y="299605"/>
                    <a:pt x="149802" y="267148"/>
                    <a:pt x="149802" y="224704"/>
                  </a:cubicBezTo>
                  <a:lnTo>
                    <a:pt x="149802" y="74901"/>
                  </a:lnTo>
                  <a:cubicBezTo>
                    <a:pt x="149802" y="32457"/>
                    <a:pt x="117345" y="0"/>
                    <a:pt x="74901" y="0"/>
                  </a:cubicBezTo>
                  <a:cubicBezTo>
                    <a:pt x="32457" y="0"/>
                    <a:pt x="0" y="32457"/>
                    <a:pt x="0" y="74901"/>
                  </a:cubicBezTo>
                  <a:lnTo>
                    <a:pt x="0" y="224704"/>
                  </a:lnTo>
                  <a:cubicBezTo>
                    <a:pt x="0" y="267148"/>
                    <a:pt x="32457" y="299605"/>
                    <a:pt x="74901" y="299605"/>
                  </a:cubicBezTo>
                  <a:close/>
                </a:path>
              </a:pathLst>
            </a:custGeom>
            <a:grpFill/>
            <a:ln w="24904" cap="flat">
              <a:noFill/>
              <a:prstDash val="solid"/>
              <a:miter/>
            </a:ln>
          </p:spPr>
          <p:txBody>
            <a:bodyPr rtlCol="0" anchor="ctr"/>
            <a:lstStyle/>
            <a:p>
              <a:endParaRPr lang="es-SV"/>
            </a:p>
          </p:txBody>
        </p:sp>
        <p:sp>
          <p:nvSpPr>
            <p:cNvPr id="9" name="Forma libre: forma 8"/>
            <p:cNvSpPr/>
            <p:nvPr/>
          </p:nvSpPr>
          <p:spPr>
            <a:xfrm>
              <a:off x="1915100" y="3421782"/>
              <a:ext cx="1697760" cy="1098550"/>
            </a:xfrm>
            <a:custGeom>
              <a:avLst/>
              <a:gdLst>
                <a:gd name="connsiteX0" fmla="*/ 149802 w 1697760"/>
                <a:gd name="connsiteY0" fmla="*/ 749012 h 1098550"/>
                <a:gd name="connsiteX1" fmla="*/ 549275 w 1697760"/>
                <a:gd name="connsiteY1" fmla="*/ 749012 h 1098550"/>
                <a:gd name="connsiteX2" fmla="*/ 549275 w 1697760"/>
                <a:gd name="connsiteY2" fmla="*/ 948748 h 1098550"/>
                <a:gd name="connsiteX3" fmla="*/ 149802 w 1697760"/>
                <a:gd name="connsiteY3" fmla="*/ 948748 h 1098550"/>
                <a:gd name="connsiteX4" fmla="*/ 149802 w 1697760"/>
                <a:gd name="connsiteY4" fmla="*/ 749012 h 1098550"/>
                <a:gd name="connsiteX5" fmla="*/ 149802 w 1697760"/>
                <a:gd name="connsiteY5" fmla="*/ 449407 h 1098550"/>
                <a:gd name="connsiteX6" fmla="*/ 549275 w 1697760"/>
                <a:gd name="connsiteY6" fmla="*/ 449407 h 1098550"/>
                <a:gd name="connsiteX7" fmla="*/ 549275 w 1697760"/>
                <a:gd name="connsiteY7" fmla="*/ 649144 h 1098550"/>
                <a:gd name="connsiteX8" fmla="*/ 149802 w 1697760"/>
                <a:gd name="connsiteY8" fmla="*/ 649144 h 1098550"/>
                <a:gd name="connsiteX9" fmla="*/ 149802 w 1697760"/>
                <a:gd name="connsiteY9" fmla="*/ 449407 h 1098550"/>
                <a:gd name="connsiteX10" fmla="*/ 149802 w 1697760"/>
                <a:gd name="connsiteY10" fmla="*/ 149802 h 1098550"/>
                <a:gd name="connsiteX11" fmla="*/ 549275 w 1697760"/>
                <a:gd name="connsiteY11" fmla="*/ 149802 h 1098550"/>
                <a:gd name="connsiteX12" fmla="*/ 549275 w 1697760"/>
                <a:gd name="connsiteY12" fmla="*/ 349539 h 1098550"/>
                <a:gd name="connsiteX13" fmla="*/ 149802 w 1697760"/>
                <a:gd name="connsiteY13" fmla="*/ 349539 h 1098550"/>
                <a:gd name="connsiteX14" fmla="*/ 149802 w 1697760"/>
                <a:gd name="connsiteY14" fmla="*/ 149802 h 1098550"/>
                <a:gd name="connsiteX15" fmla="*/ 1048617 w 1697760"/>
                <a:gd name="connsiteY15" fmla="*/ 149802 h 1098550"/>
                <a:gd name="connsiteX16" fmla="*/ 1048617 w 1697760"/>
                <a:gd name="connsiteY16" fmla="*/ 349539 h 1098550"/>
                <a:gd name="connsiteX17" fmla="*/ 649144 w 1697760"/>
                <a:gd name="connsiteY17" fmla="*/ 349539 h 1098550"/>
                <a:gd name="connsiteX18" fmla="*/ 649144 w 1697760"/>
                <a:gd name="connsiteY18" fmla="*/ 149802 h 1098550"/>
                <a:gd name="connsiteX19" fmla="*/ 1048617 w 1697760"/>
                <a:gd name="connsiteY19" fmla="*/ 149802 h 1098550"/>
                <a:gd name="connsiteX20" fmla="*/ 1547958 w 1697760"/>
                <a:gd name="connsiteY20" fmla="*/ 149802 h 1098550"/>
                <a:gd name="connsiteX21" fmla="*/ 1547958 w 1697760"/>
                <a:gd name="connsiteY21" fmla="*/ 349539 h 1098550"/>
                <a:gd name="connsiteX22" fmla="*/ 1148485 w 1697760"/>
                <a:gd name="connsiteY22" fmla="*/ 349539 h 1098550"/>
                <a:gd name="connsiteX23" fmla="*/ 1148485 w 1697760"/>
                <a:gd name="connsiteY23" fmla="*/ 149802 h 1098550"/>
                <a:gd name="connsiteX24" fmla="*/ 1547958 w 1697760"/>
                <a:gd name="connsiteY24" fmla="*/ 149802 h 1098550"/>
                <a:gd name="connsiteX25" fmla="*/ 1547958 w 1697760"/>
                <a:gd name="connsiteY25" fmla="*/ 649144 h 1098550"/>
                <a:gd name="connsiteX26" fmla="*/ 1148485 w 1697760"/>
                <a:gd name="connsiteY26" fmla="*/ 649144 h 1098550"/>
                <a:gd name="connsiteX27" fmla="*/ 1148485 w 1697760"/>
                <a:gd name="connsiteY27" fmla="*/ 449407 h 1098550"/>
                <a:gd name="connsiteX28" fmla="*/ 1547958 w 1697760"/>
                <a:gd name="connsiteY28" fmla="*/ 449407 h 1098550"/>
                <a:gd name="connsiteX29" fmla="*/ 1547958 w 1697760"/>
                <a:gd name="connsiteY29" fmla="*/ 649144 h 1098550"/>
                <a:gd name="connsiteX30" fmla="*/ 1547958 w 1697760"/>
                <a:gd name="connsiteY30" fmla="*/ 948748 h 1098550"/>
                <a:gd name="connsiteX31" fmla="*/ 1148485 w 1697760"/>
                <a:gd name="connsiteY31" fmla="*/ 948748 h 1098550"/>
                <a:gd name="connsiteX32" fmla="*/ 1148485 w 1697760"/>
                <a:gd name="connsiteY32" fmla="*/ 749012 h 1098550"/>
                <a:gd name="connsiteX33" fmla="*/ 1547958 w 1697760"/>
                <a:gd name="connsiteY33" fmla="*/ 749012 h 1098550"/>
                <a:gd name="connsiteX34" fmla="*/ 1547958 w 1697760"/>
                <a:gd name="connsiteY34" fmla="*/ 948748 h 1098550"/>
                <a:gd name="connsiteX35" fmla="*/ 649144 w 1697760"/>
                <a:gd name="connsiteY35" fmla="*/ 649144 h 1098550"/>
                <a:gd name="connsiteX36" fmla="*/ 649144 w 1697760"/>
                <a:gd name="connsiteY36" fmla="*/ 449407 h 1098550"/>
                <a:gd name="connsiteX37" fmla="*/ 1048617 w 1697760"/>
                <a:gd name="connsiteY37" fmla="*/ 449407 h 1098550"/>
                <a:gd name="connsiteX38" fmla="*/ 1048617 w 1697760"/>
                <a:gd name="connsiteY38" fmla="*/ 649144 h 1098550"/>
                <a:gd name="connsiteX39" fmla="*/ 649144 w 1697760"/>
                <a:gd name="connsiteY39" fmla="*/ 649144 h 1098550"/>
                <a:gd name="connsiteX40" fmla="*/ 649144 w 1697760"/>
                <a:gd name="connsiteY40" fmla="*/ 948748 h 1098550"/>
                <a:gd name="connsiteX41" fmla="*/ 649144 w 1697760"/>
                <a:gd name="connsiteY41" fmla="*/ 749012 h 1098550"/>
                <a:gd name="connsiteX42" fmla="*/ 1048617 w 1697760"/>
                <a:gd name="connsiteY42" fmla="*/ 749012 h 1098550"/>
                <a:gd name="connsiteX43" fmla="*/ 1048617 w 1697760"/>
                <a:gd name="connsiteY43" fmla="*/ 948748 h 1098550"/>
                <a:gd name="connsiteX44" fmla="*/ 649144 w 1697760"/>
                <a:gd name="connsiteY44" fmla="*/ 948748 h 1098550"/>
                <a:gd name="connsiteX45" fmla="*/ 0 w 1697760"/>
                <a:gd name="connsiteY45" fmla="*/ 1098551 h 1098550"/>
                <a:gd name="connsiteX46" fmla="*/ 1697760 w 1697760"/>
                <a:gd name="connsiteY46" fmla="*/ 1098551 h 1098550"/>
                <a:gd name="connsiteX47" fmla="*/ 1697760 w 1697760"/>
                <a:gd name="connsiteY47" fmla="*/ 0 h 1098550"/>
                <a:gd name="connsiteX48" fmla="*/ 0 w 1697760"/>
                <a:gd name="connsiteY48" fmla="*/ 0 h 1098550"/>
                <a:gd name="connsiteX49" fmla="*/ 0 w 1697760"/>
                <a:gd name="connsiteY49" fmla="*/ 1098551 h 109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697760" h="1098550">
                  <a:moveTo>
                    <a:pt x="149802" y="749012"/>
                  </a:moveTo>
                  <a:lnTo>
                    <a:pt x="549275" y="749012"/>
                  </a:lnTo>
                  <a:lnTo>
                    <a:pt x="549275" y="948748"/>
                  </a:lnTo>
                  <a:lnTo>
                    <a:pt x="149802" y="948748"/>
                  </a:lnTo>
                  <a:lnTo>
                    <a:pt x="149802" y="749012"/>
                  </a:lnTo>
                  <a:close/>
                  <a:moveTo>
                    <a:pt x="149802" y="449407"/>
                  </a:moveTo>
                  <a:lnTo>
                    <a:pt x="549275" y="449407"/>
                  </a:lnTo>
                  <a:lnTo>
                    <a:pt x="549275" y="649144"/>
                  </a:lnTo>
                  <a:lnTo>
                    <a:pt x="149802" y="649144"/>
                  </a:lnTo>
                  <a:lnTo>
                    <a:pt x="149802" y="449407"/>
                  </a:lnTo>
                  <a:close/>
                  <a:moveTo>
                    <a:pt x="149802" y="149802"/>
                  </a:moveTo>
                  <a:lnTo>
                    <a:pt x="549275" y="149802"/>
                  </a:lnTo>
                  <a:lnTo>
                    <a:pt x="549275" y="349539"/>
                  </a:lnTo>
                  <a:lnTo>
                    <a:pt x="149802" y="349539"/>
                  </a:lnTo>
                  <a:lnTo>
                    <a:pt x="149802" y="149802"/>
                  </a:lnTo>
                  <a:close/>
                  <a:moveTo>
                    <a:pt x="1048617" y="149802"/>
                  </a:moveTo>
                  <a:lnTo>
                    <a:pt x="1048617" y="349539"/>
                  </a:lnTo>
                  <a:lnTo>
                    <a:pt x="649144" y="349539"/>
                  </a:lnTo>
                  <a:lnTo>
                    <a:pt x="649144" y="149802"/>
                  </a:lnTo>
                  <a:lnTo>
                    <a:pt x="1048617" y="149802"/>
                  </a:lnTo>
                  <a:close/>
                  <a:moveTo>
                    <a:pt x="1547958" y="149802"/>
                  </a:moveTo>
                  <a:lnTo>
                    <a:pt x="1547958" y="349539"/>
                  </a:lnTo>
                  <a:lnTo>
                    <a:pt x="1148485" y="349539"/>
                  </a:lnTo>
                  <a:lnTo>
                    <a:pt x="1148485" y="149802"/>
                  </a:lnTo>
                  <a:lnTo>
                    <a:pt x="1547958" y="149802"/>
                  </a:lnTo>
                  <a:close/>
                  <a:moveTo>
                    <a:pt x="1547958" y="649144"/>
                  </a:moveTo>
                  <a:lnTo>
                    <a:pt x="1148485" y="649144"/>
                  </a:lnTo>
                  <a:lnTo>
                    <a:pt x="1148485" y="449407"/>
                  </a:lnTo>
                  <a:lnTo>
                    <a:pt x="1547958" y="449407"/>
                  </a:lnTo>
                  <a:lnTo>
                    <a:pt x="1547958" y="649144"/>
                  </a:lnTo>
                  <a:close/>
                  <a:moveTo>
                    <a:pt x="1547958" y="948748"/>
                  </a:moveTo>
                  <a:lnTo>
                    <a:pt x="1148485" y="948748"/>
                  </a:lnTo>
                  <a:lnTo>
                    <a:pt x="1148485" y="749012"/>
                  </a:lnTo>
                  <a:lnTo>
                    <a:pt x="1547958" y="749012"/>
                  </a:lnTo>
                  <a:lnTo>
                    <a:pt x="1547958" y="948748"/>
                  </a:lnTo>
                  <a:close/>
                  <a:moveTo>
                    <a:pt x="649144" y="649144"/>
                  </a:moveTo>
                  <a:lnTo>
                    <a:pt x="649144" y="449407"/>
                  </a:lnTo>
                  <a:lnTo>
                    <a:pt x="1048617" y="449407"/>
                  </a:lnTo>
                  <a:lnTo>
                    <a:pt x="1048617" y="649144"/>
                  </a:lnTo>
                  <a:lnTo>
                    <a:pt x="649144" y="649144"/>
                  </a:lnTo>
                  <a:close/>
                  <a:moveTo>
                    <a:pt x="649144" y="948748"/>
                  </a:moveTo>
                  <a:lnTo>
                    <a:pt x="649144" y="749012"/>
                  </a:lnTo>
                  <a:lnTo>
                    <a:pt x="1048617" y="749012"/>
                  </a:lnTo>
                  <a:lnTo>
                    <a:pt x="1048617" y="948748"/>
                  </a:lnTo>
                  <a:lnTo>
                    <a:pt x="649144" y="948748"/>
                  </a:lnTo>
                  <a:close/>
                  <a:moveTo>
                    <a:pt x="0" y="1098551"/>
                  </a:moveTo>
                  <a:lnTo>
                    <a:pt x="1697760" y="1098551"/>
                  </a:lnTo>
                  <a:lnTo>
                    <a:pt x="1697760" y="0"/>
                  </a:lnTo>
                  <a:lnTo>
                    <a:pt x="0" y="0"/>
                  </a:lnTo>
                  <a:lnTo>
                    <a:pt x="0" y="1098551"/>
                  </a:lnTo>
                  <a:close/>
                </a:path>
              </a:pathLst>
            </a:custGeom>
            <a:grpFill/>
            <a:ln w="24904" cap="flat">
              <a:noFill/>
              <a:prstDash val="solid"/>
              <a:miter/>
            </a:ln>
          </p:spPr>
          <p:txBody>
            <a:bodyPr rtlCol="0" anchor="ctr"/>
            <a:lstStyle/>
            <a:p>
              <a:endParaRPr lang="es-SV" dirty="0"/>
            </a:p>
          </p:txBody>
        </p:sp>
        <p:sp>
          <p:nvSpPr>
            <p:cNvPr id="10" name="Forma libre: forma 9"/>
            <p:cNvSpPr/>
            <p:nvPr/>
          </p:nvSpPr>
          <p:spPr>
            <a:xfrm>
              <a:off x="3163454" y="2822572"/>
              <a:ext cx="149802" cy="299604"/>
            </a:xfrm>
            <a:custGeom>
              <a:avLst/>
              <a:gdLst>
                <a:gd name="connsiteX0" fmla="*/ 74901 w 149802"/>
                <a:gd name="connsiteY0" fmla="*/ 299605 h 299604"/>
                <a:gd name="connsiteX1" fmla="*/ 149802 w 149802"/>
                <a:gd name="connsiteY1" fmla="*/ 224704 h 299604"/>
                <a:gd name="connsiteX2" fmla="*/ 149802 w 149802"/>
                <a:gd name="connsiteY2" fmla="*/ 74901 h 299604"/>
                <a:gd name="connsiteX3" fmla="*/ 74901 w 149802"/>
                <a:gd name="connsiteY3" fmla="*/ 0 h 299604"/>
                <a:gd name="connsiteX4" fmla="*/ 0 w 149802"/>
                <a:gd name="connsiteY4" fmla="*/ 74901 h 299604"/>
                <a:gd name="connsiteX5" fmla="*/ 0 w 149802"/>
                <a:gd name="connsiteY5" fmla="*/ 224704 h 299604"/>
                <a:gd name="connsiteX6" fmla="*/ 74901 w 149802"/>
                <a:gd name="connsiteY6" fmla="*/ 299605 h 29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802" h="299604">
                  <a:moveTo>
                    <a:pt x="74901" y="299605"/>
                  </a:moveTo>
                  <a:cubicBezTo>
                    <a:pt x="117345" y="299605"/>
                    <a:pt x="149802" y="267148"/>
                    <a:pt x="149802" y="224704"/>
                  </a:cubicBezTo>
                  <a:lnTo>
                    <a:pt x="149802" y="74901"/>
                  </a:lnTo>
                  <a:cubicBezTo>
                    <a:pt x="149802" y="32457"/>
                    <a:pt x="117345" y="0"/>
                    <a:pt x="74901" y="0"/>
                  </a:cubicBezTo>
                  <a:cubicBezTo>
                    <a:pt x="32457" y="0"/>
                    <a:pt x="0" y="32457"/>
                    <a:pt x="0" y="74901"/>
                  </a:cubicBezTo>
                  <a:lnTo>
                    <a:pt x="0" y="224704"/>
                  </a:lnTo>
                  <a:cubicBezTo>
                    <a:pt x="0" y="267148"/>
                    <a:pt x="32457" y="299605"/>
                    <a:pt x="74901" y="299605"/>
                  </a:cubicBezTo>
                  <a:close/>
                </a:path>
              </a:pathLst>
            </a:custGeom>
            <a:grpFill/>
            <a:ln w="24904" cap="flat">
              <a:noFill/>
              <a:prstDash val="solid"/>
              <a:miter/>
            </a:ln>
          </p:spPr>
          <p:txBody>
            <a:bodyPr rtlCol="0" anchor="ctr"/>
            <a:lstStyle/>
            <a:p>
              <a:endParaRPr lang="es-SV"/>
            </a:p>
          </p:txBody>
        </p:sp>
        <p:sp>
          <p:nvSpPr>
            <p:cNvPr id="11" name="Forma libre: forma 10"/>
            <p:cNvSpPr/>
            <p:nvPr/>
          </p:nvSpPr>
          <p:spPr>
            <a:xfrm>
              <a:off x="1915100" y="2972375"/>
              <a:ext cx="1697760" cy="349538"/>
            </a:xfrm>
            <a:custGeom>
              <a:avLst/>
              <a:gdLst>
                <a:gd name="connsiteX0" fmla="*/ 1498024 w 1697760"/>
                <a:gd name="connsiteY0" fmla="*/ 0 h 349538"/>
                <a:gd name="connsiteX1" fmla="*/ 1498024 w 1697760"/>
                <a:gd name="connsiteY1" fmla="*/ 74901 h 349538"/>
                <a:gd name="connsiteX2" fmla="*/ 1323254 w 1697760"/>
                <a:gd name="connsiteY2" fmla="*/ 249671 h 349538"/>
                <a:gd name="connsiteX3" fmla="*/ 1148485 w 1697760"/>
                <a:gd name="connsiteY3" fmla="*/ 74901 h 349538"/>
                <a:gd name="connsiteX4" fmla="*/ 1148485 w 1697760"/>
                <a:gd name="connsiteY4" fmla="*/ 0 h 349538"/>
                <a:gd name="connsiteX5" fmla="*/ 549275 w 1697760"/>
                <a:gd name="connsiteY5" fmla="*/ 0 h 349538"/>
                <a:gd name="connsiteX6" fmla="*/ 549275 w 1697760"/>
                <a:gd name="connsiteY6" fmla="*/ 74901 h 349538"/>
                <a:gd name="connsiteX7" fmla="*/ 374506 w 1697760"/>
                <a:gd name="connsiteY7" fmla="*/ 249671 h 349538"/>
                <a:gd name="connsiteX8" fmla="*/ 199737 w 1697760"/>
                <a:gd name="connsiteY8" fmla="*/ 74901 h 349538"/>
                <a:gd name="connsiteX9" fmla="*/ 199737 w 1697760"/>
                <a:gd name="connsiteY9" fmla="*/ 0 h 349538"/>
                <a:gd name="connsiteX10" fmla="*/ 0 w 1697760"/>
                <a:gd name="connsiteY10" fmla="*/ 0 h 349538"/>
                <a:gd name="connsiteX11" fmla="*/ 0 w 1697760"/>
                <a:gd name="connsiteY11" fmla="*/ 349539 h 349538"/>
                <a:gd name="connsiteX12" fmla="*/ 1697760 w 1697760"/>
                <a:gd name="connsiteY12" fmla="*/ 349539 h 349538"/>
                <a:gd name="connsiteX13" fmla="*/ 1697760 w 1697760"/>
                <a:gd name="connsiteY13" fmla="*/ 0 h 349538"/>
                <a:gd name="connsiteX14" fmla="*/ 1498024 w 1697760"/>
                <a:gd name="connsiteY14" fmla="*/ 0 h 34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7760" h="349538">
                  <a:moveTo>
                    <a:pt x="1498024" y="0"/>
                  </a:moveTo>
                  <a:lnTo>
                    <a:pt x="1498024" y="74901"/>
                  </a:lnTo>
                  <a:cubicBezTo>
                    <a:pt x="1498024" y="172273"/>
                    <a:pt x="1420626" y="249671"/>
                    <a:pt x="1323254" y="249671"/>
                  </a:cubicBezTo>
                  <a:cubicBezTo>
                    <a:pt x="1225883" y="249671"/>
                    <a:pt x="1148485" y="172273"/>
                    <a:pt x="1148485" y="74901"/>
                  </a:cubicBezTo>
                  <a:lnTo>
                    <a:pt x="1148485" y="0"/>
                  </a:lnTo>
                  <a:lnTo>
                    <a:pt x="549275" y="0"/>
                  </a:lnTo>
                  <a:lnTo>
                    <a:pt x="549275" y="74901"/>
                  </a:lnTo>
                  <a:cubicBezTo>
                    <a:pt x="549275" y="172273"/>
                    <a:pt x="471878" y="249671"/>
                    <a:pt x="374506" y="249671"/>
                  </a:cubicBezTo>
                  <a:cubicBezTo>
                    <a:pt x="277134" y="249671"/>
                    <a:pt x="199737" y="172273"/>
                    <a:pt x="199737" y="74901"/>
                  </a:cubicBezTo>
                  <a:lnTo>
                    <a:pt x="199737" y="0"/>
                  </a:lnTo>
                  <a:lnTo>
                    <a:pt x="0" y="0"/>
                  </a:lnTo>
                  <a:lnTo>
                    <a:pt x="0" y="349539"/>
                  </a:lnTo>
                  <a:lnTo>
                    <a:pt x="1697760" y="349539"/>
                  </a:lnTo>
                  <a:lnTo>
                    <a:pt x="1697760" y="0"/>
                  </a:lnTo>
                  <a:lnTo>
                    <a:pt x="1498024" y="0"/>
                  </a:lnTo>
                  <a:close/>
                </a:path>
              </a:pathLst>
            </a:custGeom>
            <a:grpFill/>
            <a:ln w="24904" cap="flat">
              <a:noFill/>
              <a:prstDash val="solid"/>
              <a:miter/>
            </a:ln>
          </p:spPr>
          <p:txBody>
            <a:bodyPr rtlCol="0" anchor="ctr"/>
            <a:lstStyle/>
            <a:p>
              <a:endParaRPr lang="es-SV" dirty="0"/>
            </a:p>
          </p:txBody>
        </p:sp>
      </p:grpSp>
      <p:sp>
        <p:nvSpPr>
          <p:cNvPr id="12" name="CuadroTexto 11"/>
          <p:cNvSpPr txBox="1"/>
          <p:nvPr/>
        </p:nvSpPr>
        <p:spPr>
          <a:xfrm>
            <a:off x="3054350" y="1183640"/>
            <a:ext cx="6567170" cy="4298950"/>
          </a:xfrm>
          <a:prstGeom prst="rect">
            <a:avLst/>
          </a:prstGeom>
          <a:noFill/>
        </p:spPr>
        <p:txBody>
          <a:bodyPr wrap="square" rtlCol="0">
            <a:noAutofit/>
          </a:bodyPr>
          <a:lstStyle/>
          <a:p>
            <a:pPr marL="0" indent="0" algn="ctr">
              <a:buNone/>
            </a:pPr>
            <a:r>
              <a:rPr lang="es-SV" altLang="en-US" sz="2000" b="1">
                <a:solidFill>
                  <a:srgbClr val="202020"/>
                </a:solidFill>
                <a:latin typeface="Arial" panose="020B0604020202020204" pitchFamily="34" charset="0"/>
                <a:cs typeface="Arial" panose="020B0604020202020204" pitchFamily="34" charset="0"/>
                <a:sym typeface="+mn-ea"/>
              </a:rPr>
              <a:t>Instituto Nacional Profesora</a:t>
            </a:r>
            <a:endParaRPr lang="es-SV" altLang="en-US" sz="2000" b="1">
              <a:solidFill>
                <a:srgbClr val="202020"/>
              </a:solidFill>
              <a:latin typeface="Arial" panose="020B0604020202020204" pitchFamily="34" charset="0"/>
              <a:cs typeface="Arial" panose="020B0604020202020204" pitchFamily="34" charset="0"/>
            </a:endParaRPr>
          </a:p>
          <a:p>
            <a:pPr marL="0" indent="0" algn="ctr">
              <a:buNone/>
            </a:pPr>
            <a:r>
              <a:rPr lang="es-SV" altLang="en-US" sz="2000" b="1">
                <a:solidFill>
                  <a:srgbClr val="202020"/>
                </a:solidFill>
                <a:latin typeface="Arial" panose="020B0604020202020204" pitchFamily="34" charset="0"/>
                <a:cs typeface="Arial" panose="020B0604020202020204" pitchFamily="34" charset="0"/>
                <a:sym typeface="+mn-ea"/>
              </a:rPr>
              <a:t> Bertha Fidelia Cañas </a:t>
            </a:r>
            <a:endParaRPr lang="es-SV" altLang="en-US" sz="2000" b="1">
              <a:solidFill>
                <a:srgbClr val="202020"/>
              </a:solidFill>
              <a:latin typeface="Arial" panose="020B0604020202020204" pitchFamily="34" charset="0"/>
              <a:cs typeface="Arial" panose="020B0604020202020204" pitchFamily="34" charset="0"/>
            </a:endParaRPr>
          </a:p>
          <a:p>
            <a:pPr algn="l"/>
            <a:endParaRPr lang="es-SV" altLang="en-US" sz="2000">
              <a:solidFill>
                <a:srgbClr val="202020"/>
              </a:solidFill>
              <a:latin typeface="Arial" panose="020B0604020202020204" pitchFamily="34" charset="0"/>
              <a:cs typeface="Arial" panose="020B0604020202020204" pitchFamily="34" charset="0"/>
            </a:endParaRPr>
          </a:p>
          <a:p>
            <a:pPr marL="0" indent="0" algn="l">
              <a:buNone/>
            </a:pPr>
            <a:r>
              <a:rPr lang="es-SV" altLang="en-US" sz="2000">
                <a:solidFill>
                  <a:srgbClr val="202020"/>
                </a:solidFill>
                <a:latin typeface="Arial" panose="020B0604020202020204" pitchFamily="34" charset="0"/>
                <a:cs typeface="Arial" panose="020B0604020202020204" pitchFamily="34" charset="0"/>
                <a:sym typeface="+mn-ea"/>
              </a:rPr>
              <a:t>Grupo # 6 </a:t>
            </a:r>
            <a:endParaRPr lang="es-SV" altLang="en-US" sz="2000">
              <a:solidFill>
                <a:srgbClr val="202020"/>
              </a:solidFill>
              <a:latin typeface="Arial" panose="020B0604020202020204" pitchFamily="34" charset="0"/>
              <a:cs typeface="Arial" panose="020B0604020202020204" pitchFamily="34" charset="0"/>
            </a:endParaRPr>
          </a:p>
          <a:p>
            <a:pPr algn="ctr"/>
            <a:endParaRPr lang="es-SV" altLang="en-US" sz="2000">
              <a:solidFill>
                <a:srgbClr val="202020"/>
              </a:solidFill>
              <a:latin typeface="Arial" panose="020B0604020202020204" pitchFamily="34" charset="0"/>
              <a:cs typeface="Arial" panose="020B0604020202020204" pitchFamily="34" charset="0"/>
              <a:sym typeface="+mn-ea"/>
            </a:endParaRPr>
          </a:p>
          <a:p>
            <a:pPr marL="0" indent="0" algn="l">
              <a:buNone/>
            </a:pPr>
            <a:r>
              <a:rPr lang="es-SV" altLang="en-US" sz="2000" b="1">
                <a:solidFill>
                  <a:srgbClr val="202020"/>
                </a:solidFill>
                <a:latin typeface="Arial" panose="020B0604020202020204" pitchFamily="34" charset="0"/>
                <a:cs typeface="Arial" panose="020B0604020202020204" pitchFamily="34" charset="0"/>
                <a:sym typeface="+mn-ea"/>
              </a:rPr>
              <a:t>Integrantes</a:t>
            </a:r>
            <a:r>
              <a:rPr lang="es-SV" altLang="en-US" sz="2000">
                <a:solidFill>
                  <a:srgbClr val="202020"/>
                </a:solidFill>
                <a:latin typeface="Arial Rounded MT Bold" panose="020F0704030504030204" charset="0"/>
                <a:cs typeface="Arial Rounded MT Bold" panose="020F0704030504030204" charset="0"/>
                <a:sym typeface="+mn-ea"/>
              </a:rPr>
              <a:t>:   </a:t>
            </a:r>
            <a:r>
              <a:rPr lang="es-SV" altLang="en-US" sz="2000">
                <a:gradFill>
                  <a:gsLst>
                    <a:gs pos="0">
                      <a:srgbClr val="012D86"/>
                    </a:gs>
                    <a:gs pos="100000">
                      <a:srgbClr val="0E2557"/>
                    </a:gs>
                  </a:gsLst>
                  <a:lin scaled="0"/>
                </a:gradFill>
                <a:latin typeface="Arial Rounded MT Bold" panose="020F0704030504030204" charset="0"/>
                <a:cs typeface="Arial Rounded MT Bold" panose="020F0704030504030204" charset="0"/>
                <a:sym typeface="+mn-ea"/>
              </a:rPr>
              <a:t>J</a:t>
            </a:r>
            <a:r>
              <a:rPr lang="es-SV" altLang="en-US" sz="2000">
                <a:solidFill>
                  <a:srgbClr val="202020"/>
                </a:solidFill>
                <a:latin typeface="Arial Rounded MT Bold" panose="020F0704030504030204" charset="0"/>
                <a:cs typeface="Arial Rounded MT Bold" panose="020F0704030504030204" charset="0"/>
                <a:sym typeface="+mn-ea"/>
              </a:rPr>
              <a:t>ennifer Adamaris Basilios Méndez  #2</a:t>
            </a:r>
            <a:endParaRPr lang="es-SV" altLang="en-US" sz="2000">
              <a:solidFill>
                <a:srgbClr val="202020"/>
              </a:solidFill>
              <a:latin typeface="Arial Rounded MT Bold" panose="020F0704030504030204" charset="0"/>
              <a:cs typeface="Arial Rounded MT Bold" panose="020F0704030504030204" charset="0"/>
              <a:sym typeface="+mn-ea"/>
            </a:endParaRPr>
          </a:p>
          <a:p>
            <a:pPr marL="0" indent="0" algn="l">
              <a:buNone/>
            </a:pPr>
            <a:r>
              <a:rPr lang="es-SV" altLang="en-US" sz="2000">
                <a:solidFill>
                  <a:srgbClr val="202020"/>
                </a:solidFill>
                <a:latin typeface="Arial Rounded MT Bold" panose="020F0704030504030204" charset="0"/>
                <a:cs typeface="Arial Rounded MT Bold" panose="020F0704030504030204" charset="0"/>
                <a:sym typeface="+mn-ea"/>
              </a:rPr>
              <a:t>                           Katy Noelia Miranda Andres          #13</a:t>
            </a:r>
            <a:endParaRPr lang="es-SV" altLang="en-US" sz="2000">
              <a:solidFill>
                <a:srgbClr val="202020"/>
              </a:solidFill>
              <a:latin typeface="Arial Rounded MT Bold" panose="020F0704030504030204" charset="0"/>
              <a:cs typeface="Arial Rounded MT Bold" panose="020F0704030504030204" charset="0"/>
            </a:endParaRPr>
          </a:p>
          <a:p>
            <a:pPr marL="0" indent="0" algn="l">
              <a:buNone/>
            </a:pPr>
            <a:r>
              <a:rPr lang="es-SV" altLang="en-US" sz="2000">
                <a:solidFill>
                  <a:srgbClr val="202020"/>
                </a:solidFill>
                <a:latin typeface="Arial Rounded MT Bold" panose="020F0704030504030204" charset="0"/>
                <a:cs typeface="Arial Rounded MT Bold" panose="020F0704030504030204" charset="0"/>
                <a:sym typeface="+mn-ea"/>
              </a:rPr>
              <a:t>                           Griseyda Jael Melara Méndez       #11</a:t>
            </a:r>
            <a:endParaRPr lang="es-SV" altLang="en-US" sz="2000">
              <a:solidFill>
                <a:srgbClr val="202020"/>
              </a:solidFill>
              <a:latin typeface="Arial Rounded MT Bold" panose="020F0704030504030204" charset="0"/>
              <a:cs typeface="Arial Rounded MT Bold" panose="020F0704030504030204" charset="0"/>
            </a:endParaRPr>
          </a:p>
          <a:p>
            <a:pPr marL="0" indent="0" algn="l">
              <a:buNone/>
            </a:pPr>
            <a:r>
              <a:rPr lang="es-SV" altLang="en-US" sz="2000">
                <a:solidFill>
                  <a:srgbClr val="202020"/>
                </a:solidFill>
                <a:latin typeface="Arial Rounded MT Bold" panose="020F0704030504030204" charset="0"/>
                <a:cs typeface="Arial Rounded MT Bold" panose="020F0704030504030204" charset="0"/>
                <a:sym typeface="+mn-ea"/>
              </a:rPr>
              <a:t>                           cristian Adonay Vasquez Ramos  #30</a:t>
            </a:r>
            <a:endParaRPr lang="es-SV" altLang="en-US" sz="2000">
              <a:solidFill>
                <a:srgbClr val="202020"/>
              </a:solidFill>
              <a:latin typeface="Arial Rounded MT Bold" panose="020F0704030504030204" charset="0"/>
              <a:cs typeface="Arial Rounded MT Bold" panose="020F0704030504030204" charset="0"/>
            </a:endParaRPr>
          </a:p>
          <a:p>
            <a:pPr marL="0" indent="0" algn="l">
              <a:buNone/>
            </a:pPr>
            <a:r>
              <a:rPr lang="es-SV" altLang="en-US" sz="2000">
                <a:solidFill>
                  <a:srgbClr val="202020"/>
                </a:solidFill>
                <a:latin typeface="Arial Rounded MT Bold" panose="020F0704030504030204" charset="0"/>
                <a:cs typeface="Arial Rounded MT Bold" panose="020F0704030504030204" charset="0"/>
                <a:sym typeface="+mn-ea"/>
              </a:rPr>
              <a:t>                           Samaria Jasmin Cruz Torres         </a:t>
            </a:r>
            <a:r>
              <a:rPr lang="es-SV" altLang="en-US" sz="2000">
                <a:gradFill>
                  <a:gsLst>
                    <a:gs pos="0">
                      <a:srgbClr val="012D86"/>
                    </a:gs>
                    <a:gs pos="100000">
                      <a:srgbClr val="0E2557"/>
                    </a:gs>
                  </a:gsLst>
                  <a:lin scaled="0"/>
                </a:gradFill>
                <a:latin typeface="Arial Rounded MT Bold" panose="020F0704030504030204" charset="0"/>
                <a:cs typeface="Arial Rounded MT Bold" panose="020F0704030504030204" charset="0"/>
                <a:sym typeface="+mn-ea"/>
              </a:rPr>
              <a:t> #</a:t>
            </a:r>
            <a:r>
              <a:rPr lang="es-SV" altLang="en-US" sz="2000">
                <a:solidFill>
                  <a:srgbClr val="202020"/>
                </a:solidFill>
                <a:latin typeface="Arial Rounded MT Bold" panose="020F0704030504030204" charset="0"/>
                <a:cs typeface="Arial Rounded MT Bold" panose="020F0704030504030204" charset="0"/>
                <a:sym typeface="+mn-ea"/>
              </a:rPr>
              <a:t>5</a:t>
            </a:r>
            <a:endParaRPr lang="es-SV" altLang="en-US" sz="2000">
              <a:solidFill>
                <a:srgbClr val="202020"/>
              </a:solidFill>
              <a:latin typeface="Arial Rounded MT Bold" panose="020F0704030504030204" charset="0"/>
              <a:cs typeface="Arial Rounded MT Bold" panose="020F0704030504030204" charset="0"/>
              <a:sym typeface="+mn-ea"/>
            </a:endParaRPr>
          </a:p>
          <a:p>
            <a:pPr marL="0" indent="0" algn="l">
              <a:buNone/>
            </a:pPr>
            <a:endParaRPr lang="es-SV" altLang="en-US" sz="2000">
              <a:solidFill>
                <a:srgbClr val="202020"/>
              </a:solidFill>
              <a:latin typeface="Arial Rounded MT Bold" panose="020F0704030504030204" charset="0"/>
              <a:cs typeface="Arial Rounded MT Bold" panose="020F0704030504030204" charset="0"/>
              <a:sym typeface="+mn-ea"/>
            </a:endParaRPr>
          </a:p>
          <a:p>
            <a:pPr marL="0" indent="0" algn="l">
              <a:buNone/>
            </a:pPr>
            <a:r>
              <a:rPr lang="es-SV" altLang="en-US" sz="3200" b="1">
                <a:solidFill>
                  <a:srgbClr val="202020"/>
                </a:solidFill>
                <a:latin typeface="Arial" panose="020B0604020202020204" pitchFamily="34" charset="0"/>
                <a:cs typeface="Arial" panose="020B0604020202020204" pitchFamily="34" charset="0"/>
                <a:sym typeface="+mn-ea"/>
              </a:rPr>
              <a:t>Tema:</a:t>
            </a:r>
            <a:r>
              <a:rPr lang="es-SV" altLang="en-US" sz="2000" b="1">
                <a:solidFill>
                  <a:srgbClr val="202020"/>
                </a:solidFill>
                <a:latin typeface="Arial" panose="020B0604020202020204" pitchFamily="34" charset="0"/>
                <a:cs typeface="Arial" panose="020B0604020202020204" pitchFamily="34" charset="0"/>
                <a:sym typeface="+mn-ea"/>
              </a:rPr>
              <a:t>   </a:t>
            </a:r>
            <a:r>
              <a:rPr lang="es-SV" altLang="en-US" sz="3600">
                <a:solidFill>
                  <a:srgbClr val="202020"/>
                </a:solidFill>
                <a:latin typeface="Arial Black" panose="020B0A04020102020204" pitchFamily="34" charset="0"/>
                <a:cs typeface="Arial Black" panose="020B0A04020102020204" pitchFamily="34" charset="0"/>
                <a:sym typeface="+mn-ea"/>
              </a:rPr>
              <a:t>Conceptos y                      funciones de ventas.  </a:t>
            </a:r>
            <a:r>
              <a:rPr lang="es-SV" altLang="en-US" sz="2000">
                <a:solidFill>
                  <a:srgbClr val="202020"/>
                </a:solidFill>
                <a:latin typeface="Arial Black" panose="020B0A04020102020204" pitchFamily="34" charset="0"/>
                <a:cs typeface="Arial Black" panose="020B0A04020102020204" pitchFamily="34" charset="0"/>
                <a:sym typeface="+mn-ea"/>
              </a:rPr>
              <a:t>                   </a:t>
            </a:r>
            <a:endParaRPr lang="es-SV" altLang="en-US" sz="2000">
              <a:solidFill>
                <a:srgbClr val="202020"/>
              </a:solidFill>
              <a:latin typeface="Arial Black" panose="020B0A04020102020204" pitchFamily="34" charset="0"/>
              <a:cs typeface="Arial Black" panose="020B0A04020102020204" pitchFamily="34" charset="0"/>
            </a:endParaRPr>
          </a:p>
          <a:p>
            <a:pPr algn="l"/>
            <a:endParaRPr lang="es-SV" sz="2000" dirty="0">
              <a:latin typeface="Arial Black" panose="020B0A04020102020204" pitchFamily="34" charset="0"/>
              <a:cs typeface="Arial Black" panose="020B0A040201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9000" b="-9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812418" y="1055941"/>
            <a:ext cx="6567054" cy="6739255"/>
          </a:xfrm>
          <a:prstGeom prst="rect">
            <a:avLst/>
          </a:prstGeom>
          <a:noFill/>
        </p:spPr>
        <p:txBody>
          <a:bodyPr wrap="square" rtlCol="0">
            <a:spAutoFit/>
          </a:bodyPr>
          <a:lstStyle/>
          <a:p>
            <a:pPr marL="0" indent="0">
              <a:buNone/>
            </a:pPr>
            <a:r>
              <a:rPr lang="en-US" altLang="es-ES" b="1">
                <a:solidFill>
                  <a:schemeClr val="bg1"/>
                </a:solidFill>
                <a:latin typeface="Arial" panose="020B0604020202020204" pitchFamily="34" charset="0"/>
                <a:cs typeface="Arial" panose="020B0604020202020204" pitchFamily="34" charset="0"/>
                <a:sym typeface="+mn-ea"/>
              </a:rPr>
              <a:t>Qu</a:t>
            </a:r>
            <a:r>
              <a:rPr lang="en-US" altLang="en-US" b="1">
                <a:solidFill>
                  <a:schemeClr val="bg1"/>
                </a:solidFill>
                <a:latin typeface="Arial" panose="020B0604020202020204" pitchFamily="34" charset="0"/>
                <a:cs typeface="Arial" panose="020B0604020202020204" pitchFamily="34" charset="0"/>
                <a:sym typeface="+mn-ea"/>
              </a:rPr>
              <a:t>é</a:t>
            </a:r>
            <a:r>
              <a:rPr lang="en-US" altLang="es-ES" b="1">
                <a:solidFill>
                  <a:schemeClr val="bg1"/>
                </a:solidFill>
                <a:latin typeface="Arial" panose="020B0604020202020204" pitchFamily="34" charset="0"/>
                <a:cs typeface="Arial" panose="020B0604020202020204" pitchFamily="34" charset="0"/>
                <a:sym typeface="+mn-ea"/>
              </a:rPr>
              <a:t> son las ventas?</a:t>
            </a:r>
            <a:endParaRPr lang="en-US" altLang="es-ES" b="1">
              <a:solidFill>
                <a:schemeClr val="bg1"/>
              </a:solidFill>
              <a:latin typeface="Arial" panose="020B0604020202020204" pitchFamily="34" charset="0"/>
              <a:cs typeface="Arial" panose="020B0604020202020204" pitchFamily="34" charset="0"/>
            </a:endParaRPr>
          </a:p>
          <a:p>
            <a:pPr marL="0" indent="0">
              <a:buNone/>
            </a:pPr>
            <a:r>
              <a:rPr lang="en-US" altLang="es-ES" b="1">
                <a:latin typeface="Arial" panose="020B0604020202020204" pitchFamily="34" charset="0"/>
                <a:cs typeface="Arial" panose="020B0604020202020204" pitchFamily="34" charset="0"/>
                <a:sym typeface="+mn-ea"/>
              </a:rPr>
              <a:t>El concepto de ventas se refiere a la entrega de un bien o servicio a cambio de una contraprestaci</a:t>
            </a:r>
            <a:r>
              <a:rPr lang="en-US" altLang="en-US" b="1">
                <a:latin typeface="Arial" panose="020B0604020202020204" pitchFamily="34" charset="0"/>
                <a:cs typeface="Arial" panose="020B0604020202020204" pitchFamily="34" charset="0"/>
                <a:sym typeface="+mn-ea"/>
              </a:rPr>
              <a:t>ó</a:t>
            </a:r>
            <a:r>
              <a:rPr lang="en-US" altLang="es-ES" b="1">
                <a:latin typeface="Arial" panose="020B0604020202020204" pitchFamily="34" charset="0"/>
                <a:cs typeface="Arial" panose="020B0604020202020204" pitchFamily="34" charset="0"/>
                <a:sym typeface="+mn-ea"/>
              </a:rPr>
              <a:t>n econ</a:t>
            </a:r>
            <a:r>
              <a:rPr lang="en-US" altLang="en-US" b="1">
                <a:latin typeface="Arial" panose="020B0604020202020204" pitchFamily="34" charset="0"/>
                <a:cs typeface="Arial" panose="020B0604020202020204" pitchFamily="34" charset="0"/>
                <a:sym typeface="+mn-ea"/>
              </a:rPr>
              <a:t>ó</a:t>
            </a:r>
            <a:r>
              <a:rPr lang="en-US" altLang="es-ES" b="1">
                <a:latin typeface="Arial" panose="020B0604020202020204" pitchFamily="34" charset="0"/>
                <a:cs typeface="Arial" panose="020B0604020202020204" pitchFamily="34" charset="0"/>
                <a:sym typeface="+mn-ea"/>
              </a:rPr>
              <a:t>mica en forma de dinero. Las ventas son el proceso de persuadir a los clientes para que adquieran un producto o servicio, con el objetivo de cerrar transacciones que generen ingresos para la empresa. El concepto de venta tambi</a:t>
            </a:r>
            <a:r>
              <a:rPr lang="en-US" altLang="en-US" b="1">
                <a:latin typeface="Arial" panose="020B0604020202020204" pitchFamily="34" charset="0"/>
                <a:cs typeface="Arial" panose="020B0604020202020204" pitchFamily="34" charset="0"/>
                <a:sym typeface="+mn-ea"/>
              </a:rPr>
              <a:t>é</a:t>
            </a:r>
            <a:r>
              <a:rPr lang="en-US" altLang="es-ES" b="1">
                <a:latin typeface="Arial" panose="020B0604020202020204" pitchFamily="34" charset="0"/>
                <a:cs typeface="Arial" panose="020B0604020202020204" pitchFamily="34" charset="0"/>
                <a:sym typeface="+mn-ea"/>
              </a:rPr>
              <a:t>n implica estimular a los consumidores para que compren</a:t>
            </a:r>
            <a:r>
              <a:rPr lang="es-SV" altLang="en-US" b="1">
                <a:latin typeface="Arial" panose="020B0604020202020204" pitchFamily="34" charset="0"/>
                <a:cs typeface="Arial" panose="020B0604020202020204" pitchFamily="34" charset="0"/>
                <a:sym typeface="+mn-ea"/>
              </a:rPr>
              <a:t>.</a:t>
            </a:r>
            <a:endParaRPr lang="es-SV" altLang="en-US" b="1">
              <a:latin typeface="Arial" panose="020B0604020202020204" pitchFamily="34" charset="0"/>
              <a:cs typeface="Arial" panose="020B0604020202020204" pitchFamily="34" charset="0"/>
            </a:endParaRPr>
          </a:p>
          <a:p>
            <a:pPr marL="0" indent="0">
              <a:buNone/>
            </a:pPr>
            <a:endParaRPr lang="en-US" altLang="es-ES" b="1">
              <a:latin typeface="Arial" panose="020B0604020202020204" pitchFamily="34" charset="0"/>
              <a:cs typeface="Arial" panose="020B0604020202020204" pitchFamily="34" charset="0"/>
            </a:endParaRPr>
          </a:p>
          <a:p>
            <a:pPr marL="0" indent="0">
              <a:buNone/>
            </a:pPr>
            <a:r>
              <a:rPr lang="es-SV" altLang="en-US" b="1">
                <a:latin typeface="Arial" panose="020B0604020202020204" pitchFamily="34" charset="0"/>
                <a:cs typeface="Arial" panose="020B0604020202020204" pitchFamily="34" charset="0"/>
                <a:sym typeface="+mn-ea"/>
              </a:rPr>
              <a:t>Diferentes conceptos de venta son</a:t>
            </a:r>
            <a:r>
              <a:rPr lang="es-SV" altLang="en-US">
                <a:latin typeface="Arial" panose="020B0604020202020204" pitchFamily="34" charset="0"/>
                <a:cs typeface="Arial" panose="020B0604020202020204" pitchFamily="34" charset="0"/>
                <a:sym typeface="+mn-ea"/>
              </a:rPr>
              <a:t>.</a:t>
            </a:r>
            <a:endParaRPr lang="es-SV" altLang="en-US">
              <a:latin typeface="Arial" panose="020B0604020202020204" pitchFamily="34" charset="0"/>
              <a:cs typeface="Arial" panose="020B0604020202020204" pitchFamily="34" charset="0"/>
            </a:endParaRPr>
          </a:p>
          <a:p>
            <a:pPr marL="0" indent="0">
              <a:buNone/>
            </a:pPr>
            <a:r>
              <a:rPr lang="es-SV" altLang="en-US" b="1">
                <a:latin typeface="Arial" panose="020B0604020202020204" pitchFamily="34" charset="0"/>
                <a:cs typeface="Arial" panose="020B0604020202020204" pitchFamily="34" charset="0"/>
                <a:sym typeface="+mn-ea"/>
              </a:rPr>
              <a:t>Concepto de produccion </a:t>
            </a:r>
            <a:r>
              <a:rPr lang="es-SV" altLang="en-US">
                <a:latin typeface="Arial" panose="020B0604020202020204" pitchFamily="34" charset="0"/>
                <a:cs typeface="Arial" panose="020B0604020202020204" pitchFamily="34" charset="0"/>
                <a:sym typeface="+mn-ea"/>
              </a:rPr>
              <a:t>: se basa  en la idea de que los consumidores prefieren productos accecibles y economico. </a:t>
            </a:r>
            <a:endParaRPr lang="es-SV" altLang="en-US" b="1">
              <a:latin typeface="Arial" panose="020B0604020202020204" pitchFamily="34" charset="0"/>
              <a:cs typeface="Arial" panose="020B0604020202020204" pitchFamily="34" charset="0"/>
              <a:sym typeface="+mn-ea"/>
            </a:endParaRPr>
          </a:p>
          <a:p>
            <a:pPr marL="0" indent="0">
              <a:buNone/>
            </a:pPr>
            <a:r>
              <a:rPr lang="es-SV" altLang="en-US" b="1">
                <a:latin typeface="Arial" panose="020B0604020202020204" pitchFamily="34" charset="0"/>
                <a:cs typeface="Arial" panose="020B0604020202020204" pitchFamily="34" charset="0"/>
                <a:sym typeface="+mn-ea"/>
              </a:rPr>
              <a:t>concepto de producto:</a:t>
            </a:r>
            <a:r>
              <a:rPr lang="es-SV" altLang="en-US">
                <a:latin typeface="Arial" panose="020B0604020202020204" pitchFamily="34" charset="0"/>
                <a:cs typeface="Arial" panose="020B0604020202020204" pitchFamily="34" charset="0"/>
                <a:sym typeface="+mn-ea"/>
              </a:rPr>
              <a:t> Se sostiene que los consumidores valoren la calidad, innovación y caracteristica del producto.</a:t>
            </a:r>
            <a:endParaRPr lang="es-SV" altLang="en-US" b="1">
              <a:latin typeface="Arial" panose="020B0604020202020204" pitchFamily="34" charset="0"/>
              <a:cs typeface="Arial" panose="020B0604020202020204" pitchFamily="34" charset="0"/>
              <a:sym typeface="+mn-ea"/>
            </a:endParaRPr>
          </a:p>
          <a:p>
            <a:pPr marL="0" indent="0">
              <a:buNone/>
            </a:pPr>
            <a:r>
              <a:rPr lang="es-SV" altLang="en-US" b="1">
                <a:latin typeface="Arial" panose="020B0604020202020204" pitchFamily="34" charset="0"/>
                <a:cs typeface="Arial" panose="020B0604020202020204" pitchFamily="34" charset="0"/>
                <a:sym typeface="+mn-ea"/>
              </a:rPr>
              <a:t>concepto de venta:</a:t>
            </a:r>
            <a:r>
              <a:rPr lang="es-SV" altLang="en-US">
                <a:latin typeface="Arial" panose="020B0604020202020204" pitchFamily="34" charset="0"/>
                <a:cs typeface="Arial" panose="020B0604020202020204" pitchFamily="34" charset="0"/>
                <a:sym typeface="+mn-ea"/>
              </a:rPr>
              <a:t> Parte de la idea a que los consumidores no compraran por si solos, por eso se necesitan estrategias agresivas de venta y publicidad.</a:t>
            </a:r>
            <a:endParaRPr lang="es-SV" altLang="en-US">
              <a:latin typeface="Arial" panose="020B0604020202020204" pitchFamily="34" charset="0"/>
              <a:cs typeface="Arial" panose="020B0604020202020204" pitchFamily="34" charset="0"/>
              <a:sym typeface="+mn-ea"/>
            </a:endParaRPr>
          </a:p>
          <a:p>
            <a:pPr marL="0" indent="0">
              <a:buNone/>
            </a:pPr>
            <a:endParaRPr lang="en-US" altLang="es-ES">
              <a:latin typeface="Arial" panose="020B0604020202020204" pitchFamily="34" charset="0"/>
              <a:cs typeface="Arial" panose="020B0604020202020204" pitchFamily="34" charset="0"/>
            </a:endParaRPr>
          </a:p>
          <a:p>
            <a:endParaRPr lang="es-SV" sz="3600" dirty="0">
              <a:latin typeface="Arial Black" panose="020B0A04020102020204" pitchFamily="34" charset="0"/>
            </a:endParaRPr>
          </a:p>
          <a:p>
            <a:endParaRPr lang="es-SV" sz="3600"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Gráfico de barras con relleno sólido"/>
          <p:cNvPicPr>
            <a:picLocks noChangeAspect="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74543" y="3333202"/>
            <a:ext cx="1803573" cy="180357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5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ltLang="es-ES" b="1" dirty="0">
              <a:solidFill>
                <a:schemeClr val="tx1"/>
              </a:solidFill>
            </a:endParaRPr>
          </a:p>
          <a:p>
            <a:pPr algn="l"/>
            <a:endParaRPr lang="en-US" altLang="es-ES" b="1" dirty="0">
              <a:solidFill>
                <a:schemeClr val="tx1"/>
              </a:solidFill>
            </a:endParaRPr>
          </a:p>
        </p:txBody>
      </p:sp>
      <p:sp>
        <p:nvSpPr>
          <p:cNvPr id="12" name="CuadroTexto 11"/>
          <p:cNvSpPr txBox="1"/>
          <p:nvPr/>
        </p:nvSpPr>
        <p:spPr>
          <a:xfrm>
            <a:off x="2823845" y="977265"/>
            <a:ext cx="7108825" cy="4910455"/>
          </a:xfrm>
          <a:prstGeom prst="rect">
            <a:avLst/>
          </a:prstGeom>
          <a:noFill/>
        </p:spPr>
        <p:txBody>
          <a:bodyPr wrap="square" rtlCol="0">
            <a:noAutofit/>
          </a:bodyPr>
          <a:lstStyle/>
          <a:p>
            <a:pPr algn="l"/>
            <a:r>
              <a:rPr lang="es-SV" altLang="en-US" sz="2000" b="1" dirty="0">
                <a:sym typeface="+mn-ea"/>
              </a:rPr>
              <a:t>C</a:t>
            </a:r>
            <a:r>
              <a:rPr lang="en-US" altLang="es-ES" sz="2000" b="1" dirty="0">
                <a:sym typeface="+mn-ea"/>
              </a:rPr>
              <a:t>aracter</a:t>
            </a:r>
            <a:r>
              <a:rPr lang="en-US" altLang="en-US" sz="2000" b="1" dirty="0">
                <a:sym typeface="+mn-ea"/>
              </a:rPr>
              <a:t>í</a:t>
            </a:r>
            <a:r>
              <a:rPr lang="en-US" altLang="es-ES" sz="2000" b="1" dirty="0">
                <a:sym typeface="+mn-ea"/>
              </a:rPr>
              <a:t>sticas de Ventas</a:t>
            </a:r>
            <a:endParaRPr lang="en-US" altLang="es-ES" sz="2000" b="1" dirty="0">
              <a:solidFill>
                <a:schemeClr val="tx1"/>
              </a:solidFill>
            </a:endParaRPr>
          </a:p>
          <a:p>
            <a:pPr algn="l"/>
            <a:endParaRPr lang="en-US" altLang="es-ES" sz="2000" b="1" dirty="0">
              <a:sym typeface="+mn-ea"/>
            </a:endParaRPr>
          </a:p>
          <a:p>
            <a:pPr algn="l"/>
            <a:r>
              <a:rPr lang="en-US" altLang="es-ES" sz="2000" b="1" dirty="0">
                <a:sym typeface="+mn-ea"/>
              </a:rPr>
              <a:t>Implica persuasi</a:t>
            </a:r>
            <a:r>
              <a:rPr lang="en-US" altLang="en-US" sz="2000" b="1" dirty="0">
                <a:sym typeface="+mn-ea"/>
              </a:rPr>
              <a:t>ó</a:t>
            </a:r>
            <a:r>
              <a:rPr lang="en-US" altLang="es-ES" sz="2000" b="1" dirty="0">
                <a:sym typeface="+mn-ea"/>
              </a:rPr>
              <a:t>n y negociaci</a:t>
            </a:r>
            <a:r>
              <a:rPr lang="en-US" altLang="en-US" sz="2000" b="1" dirty="0">
                <a:sym typeface="+mn-ea"/>
              </a:rPr>
              <a:t>ó</a:t>
            </a:r>
            <a:r>
              <a:rPr lang="en-US" altLang="es-ES" sz="2000" b="1" dirty="0">
                <a:sym typeface="+mn-ea"/>
              </a:rPr>
              <a:t>n.</a:t>
            </a:r>
            <a:endParaRPr lang="en-US" altLang="es-ES" sz="2000" b="1" dirty="0">
              <a:sym typeface="+mn-ea"/>
            </a:endParaRPr>
          </a:p>
          <a:p>
            <a:pPr algn="l"/>
            <a:endParaRPr lang="en-US" altLang="es-ES" sz="2000" b="1" dirty="0">
              <a:solidFill>
                <a:schemeClr val="tx1"/>
              </a:solidFill>
            </a:endParaRPr>
          </a:p>
          <a:p>
            <a:pPr algn="l"/>
            <a:r>
              <a:rPr lang="en-US" altLang="es-ES" sz="2000" b="1" dirty="0">
                <a:sym typeface="+mn-ea"/>
              </a:rPr>
              <a:t>Enfocado en la satisfacci</a:t>
            </a:r>
            <a:r>
              <a:rPr lang="en-US" altLang="en-US" sz="2000" b="1" dirty="0">
                <a:sym typeface="+mn-ea"/>
              </a:rPr>
              <a:t>ó</a:t>
            </a:r>
            <a:r>
              <a:rPr lang="en-US" altLang="es-ES" sz="2000" b="1" dirty="0">
                <a:sym typeface="+mn-ea"/>
              </a:rPr>
              <a:t>n del cliente.</a:t>
            </a:r>
            <a:endParaRPr lang="en-US" altLang="es-ES" sz="2000" b="1" dirty="0">
              <a:solidFill>
                <a:schemeClr val="tx1"/>
              </a:solidFill>
            </a:endParaRPr>
          </a:p>
          <a:p>
            <a:pPr algn="l"/>
            <a:endParaRPr lang="en-US" altLang="es-ES" sz="2000" b="1" dirty="0">
              <a:sym typeface="+mn-ea"/>
            </a:endParaRPr>
          </a:p>
          <a:p>
            <a:pPr algn="l"/>
            <a:r>
              <a:rPr lang="en-US" altLang="es-ES" sz="2000" b="1" dirty="0">
                <a:sym typeface="+mn-ea"/>
              </a:rPr>
              <a:t>Genera ingresos y beneficios.</a:t>
            </a:r>
            <a:endParaRPr lang="en-US" altLang="es-ES" sz="2000" b="1" dirty="0">
              <a:sym typeface="+mn-ea"/>
            </a:endParaRPr>
          </a:p>
          <a:p>
            <a:pPr algn="l"/>
            <a:endParaRPr lang="en-US" altLang="es-ES" sz="2000" b="1" dirty="0">
              <a:sym typeface="+mn-ea"/>
            </a:endParaRPr>
          </a:p>
          <a:p>
            <a:pPr algn="l"/>
            <a:r>
              <a:rPr lang="en-US" altLang="es-ES" sz="2000" b="1" dirty="0">
                <a:sym typeface="+mn-ea"/>
              </a:rPr>
              <a:t>Requiere habilidades de comunicaci</a:t>
            </a:r>
            <a:r>
              <a:rPr lang="en-US" altLang="en-US" sz="2000" b="1" dirty="0">
                <a:sym typeface="+mn-ea"/>
              </a:rPr>
              <a:t>ó</a:t>
            </a:r>
            <a:r>
              <a:rPr lang="en-US" altLang="es-ES" sz="2000" b="1" dirty="0">
                <a:sym typeface="+mn-ea"/>
              </a:rPr>
              <a:t>n y relaciones </a:t>
            </a:r>
            <a:endParaRPr lang="en-US" altLang="es-ES" sz="2000" b="1" dirty="0">
              <a:sym typeface="+mn-ea"/>
            </a:endParaRPr>
          </a:p>
          <a:p>
            <a:pPr algn="l"/>
            <a:r>
              <a:rPr lang="en-US" altLang="es-ES" sz="2000" b="1" dirty="0">
                <a:sym typeface="+mn-ea"/>
              </a:rPr>
              <a:t>interperso</a:t>
            </a:r>
            <a:endParaRPr lang="es-SV" sz="20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7289" y="284740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54350" y="1183640"/>
            <a:ext cx="6567170" cy="4369435"/>
          </a:xfrm>
          <a:prstGeom prst="rect">
            <a:avLst/>
          </a:prstGeom>
          <a:noFill/>
        </p:spPr>
        <p:txBody>
          <a:bodyPr wrap="square" rtlCol="0">
            <a:noAutofit/>
          </a:bodyPr>
          <a:lstStyle/>
          <a:p>
            <a:r>
              <a:rPr lang="en-US" altLang="en-US" dirty="0">
                <a:latin typeface="Arial Black" panose="020B0A04020102020204" pitchFamily="34" charset="0"/>
              </a:rPr>
              <a:t>¿</a:t>
            </a:r>
            <a:r>
              <a:rPr lang="en-US" altLang="es-ES" dirty="0">
                <a:latin typeface="Arial Black" panose="020B0A04020102020204" pitchFamily="34" charset="0"/>
              </a:rPr>
              <a:t>Qu</a:t>
            </a:r>
            <a:r>
              <a:rPr lang="en-US" altLang="en-US" dirty="0">
                <a:latin typeface="Arial Black" panose="020B0A04020102020204" pitchFamily="34" charset="0"/>
              </a:rPr>
              <a:t>é</a:t>
            </a:r>
            <a:r>
              <a:rPr lang="en-US" altLang="es-ES" dirty="0">
                <a:latin typeface="Arial Black" panose="020B0A04020102020204" pitchFamily="34" charset="0"/>
              </a:rPr>
              <a:t> es un departamento de ventas?</a:t>
            </a:r>
            <a:endParaRPr lang="en-US" altLang="es-ES" dirty="0">
              <a:latin typeface="Arial Black" panose="020B0A04020102020204" pitchFamily="34" charset="0"/>
            </a:endParaRPr>
          </a:p>
          <a:p>
            <a:endParaRPr lang="en-US" altLang="es-ES" dirty="0">
              <a:latin typeface="Arial Black" panose="020B0A04020102020204" pitchFamily="34" charset="0"/>
            </a:endParaRPr>
          </a:p>
          <a:p>
            <a:r>
              <a:rPr lang="en-US" altLang="es-ES" dirty="0">
                <a:latin typeface="Arial Black" panose="020B0A04020102020204" pitchFamily="34" charset="0"/>
              </a:rPr>
              <a:t>El </a:t>
            </a:r>
            <a:r>
              <a:rPr lang="en-US" altLang="en-US" dirty="0">
                <a:latin typeface="Arial Black" panose="020B0A04020102020204" pitchFamily="34" charset="0"/>
              </a:rPr>
              <a:t>á</a:t>
            </a:r>
            <a:r>
              <a:rPr lang="en-US" altLang="es-ES" dirty="0">
                <a:latin typeface="Arial Black" panose="020B0A04020102020204" pitchFamily="34" charset="0"/>
              </a:rPr>
              <a:t>rea de ventas es</a:t>
            </a:r>
            <a:r>
              <a:rPr lang="en-US" altLang="en-US" dirty="0">
                <a:latin typeface="Arial Black" panose="020B0A04020102020204" pitchFamily="34" charset="0"/>
              </a:rPr>
              <a:t> </a:t>
            </a:r>
            <a:r>
              <a:rPr lang="en-US" altLang="es-ES" dirty="0">
                <a:latin typeface="Arial Black" panose="020B0A04020102020204" pitchFamily="34" charset="0"/>
              </a:rPr>
              <a:t>la fuerza motriz que impulsa las estrategias comerciales de cualquier empresa.</a:t>
            </a:r>
            <a:r>
              <a:rPr lang="en-US" altLang="en-US" dirty="0">
                <a:latin typeface="Arial Black" panose="020B0A04020102020204" pitchFamily="34" charset="0"/>
              </a:rPr>
              <a:t> </a:t>
            </a:r>
            <a:r>
              <a:rPr lang="en-US" altLang="es-ES" dirty="0">
                <a:latin typeface="Arial Black" panose="020B0A04020102020204" pitchFamily="34" charset="0"/>
              </a:rPr>
              <a:t>Adem</a:t>
            </a:r>
            <a:r>
              <a:rPr lang="en-US" altLang="en-US" dirty="0">
                <a:latin typeface="Arial Black" panose="020B0A04020102020204" pitchFamily="34" charset="0"/>
              </a:rPr>
              <a:t>á</a:t>
            </a:r>
            <a:r>
              <a:rPr lang="en-US" altLang="es-ES" dirty="0">
                <a:latin typeface="Arial Black" panose="020B0A04020102020204" pitchFamily="34" charset="0"/>
              </a:rPr>
              <a:t>s, es la responsable de marcar el ritmo de producci</a:t>
            </a:r>
            <a:r>
              <a:rPr lang="en-US" altLang="en-US" dirty="0">
                <a:latin typeface="Arial Black" panose="020B0A04020102020204" pitchFamily="34" charset="0"/>
              </a:rPr>
              <a:t>ó</a:t>
            </a:r>
            <a:r>
              <a:rPr lang="en-US" altLang="es-ES" dirty="0">
                <a:latin typeface="Arial Black" panose="020B0A04020102020204" pitchFamily="34" charset="0"/>
              </a:rPr>
              <a:t>n; evitar que la empresa sufra problemas econ</a:t>
            </a:r>
            <a:r>
              <a:rPr lang="en-US" altLang="en-US" dirty="0">
                <a:latin typeface="Arial Black" panose="020B0A04020102020204" pitchFamily="34" charset="0"/>
              </a:rPr>
              <a:t>ó</a:t>
            </a:r>
            <a:r>
              <a:rPr lang="en-US" altLang="es-ES" dirty="0">
                <a:latin typeface="Arial Black" panose="020B0A04020102020204" pitchFamily="34" charset="0"/>
              </a:rPr>
              <a:t>micos y garantizar que se expanda a nuevos mercados. Un departamento de ventas es el responsable de mantener las buenas relaciones entre la empresa y sus clientes. Pero </a:t>
            </a:r>
            <a:r>
              <a:rPr lang="en-US" altLang="en-US" dirty="0">
                <a:latin typeface="Arial Black" panose="020B0A04020102020204" pitchFamily="34" charset="0"/>
              </a:rPr>
              <a:t>¿</a:t>
            </a:r>
            <a:r>
              <a:rPr lang="en-US" altLang="es-ES" dirty="0">
                <a:latin typeface="Arial Black" panose="020B0A04020102020204" pitchFamily="34" charset="0"/>
              </a:rPr>
              <a:t>c</a:t>
            </a:r>
            <a:r>
              <a:rPr lang="en-US" altLang="en-US" dirty="0">
                <a:latin typeface="Arial Black" panose="020B0A04020102020204" pitchFamily="34" charset="0"/>
              </a:rPr>
              <a:t>ó</a:t>
            </a:r>
            <a:r>
              <a:rPr lang="en-US" altLang="es-ES" dirty="0">
                <a:latin typeface="Arial Black" panose="020B0A04020102020204" pitchFamily="34" charset="0"/>
              </a:rPr>
              <a:t>mo? Nombrando a un encargado de ventas y desarrollando un buen equipo de ventas, con vendedores motivados y dispuestos a seguir aprendiendo y creciendo junto a la empresa.</a:t>
            </a:r>
            <a:endParaRPr lang="es-SV"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6000" b="-6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34665" y="992505"/>
            <a:ext cx="7172960" cy="4361180"/>
          </a:xfrm>
          <a:prstGeom prst="rect">
            <a:avLst/>
          </a:prstGeom>
          <a:noFill/>
        </p:spPr>
        <p:txBody>
          <a:bodyPr wrap="square" rtlCol="0">
            <a:noAutofit/>
          </a:bodyPr>
          <a:lstStyle/>
          <a:p>
            <a:pPr marL="0" indent="0">
              <a:buNone/>
            </a:pPr>
            <a:r>
              <a:rPr lang="es-SV" altLang="en-US" b="1">
                <a:latin typeface="Arial" panose="020B0604020202020204" pitchFamily="34" charset="0"/>
                <a:cs typeface="Arial" panose="020B0604020202020204" pitchFamily="34" charset="0"/>
                <a:sym typeface="+mn-ea"/>
              </a:rPr>
              <a:t>Funciones de venta:</a:t>
            </a:r>
            <a:r>
              <a:rPr lang="es-SV" altLang="en-US">
                <a:latin typeface="Arial" panose="020B0604020202020204" pitchFamily="34" charset="0"/>
                <a:cs typeface="Arial" panose="020B0604020202020204" pitchFamily="34" charset="0"/>
                <a:sym typeface="+mn-ea"/>
              </a:rPr>
              <a:t> </a:t>
            </a:r>
            <a:endParaRPr lang="es-SV" altLang="en-US">
              <a:latin typeface="Arial" panose="020B0604020202020204" pitchFamily="34" charset="0"/>
              <a:cs typeface="Arial" panose="020B0604020202020204" pitchFamily="34" charset="0"/>
              <a:sym typeface="+mn-ea"/>
            </a:endParaRPr>
          </a:p>
          <a:p>
            <a:pPr marL="0" indent="0">
              <a:buNone/>
            </a:pPr>
            <a:r>
              <a:rPr lang="en-US" altLang="es-ES">
                <a:latin typeface="Arial" panose="020B0604020202020204" pitchFamily="34" charset="0"/>
                <a:cs typeface="Arial" panose="020B0604020202020204" pitchFamily="34" charset="0"/>
              </a:rPr>
              <a:t>Establecer metas y objetivos claros para el crecimiento de la empresa.</a:t>
            </a:r>
            <a:endParaRPr lang="en-US" altLang="es-ES">
              <a:latin typeface="Arial" panose="020B0604020202020204" pitchFamily="34" charset="0"/>
              <a:cs typeface="Arial" panose="020B0604020202020204" pitchFamily="34" charset="0"/>
            </a:endParaRPr>
          </a:p>
          <a:p>
            <a:pPr marL="0" indent="0">
              <a:buNone/>
            </a:pPr>
            <a:r>
              <a:rPr lang="en-US" altLang="es-ES">
                <a:latin typeface="Arial" panose="020B0604020202020204" pitchFamily="34" charset="0"/>
                <a:cs typeface="Arial" panose="020B0604020202020204" pitchFamily="34" charset="0"/>
              </a:rPr>
              <a:t>Dise</a:t>
            </a:r>
            <a:r>
              <a:rPr lang="en-US" altLang="en-US">
                <a:latin typeface="Arial" panose="020B0604020202020204" pitchFamily="34" charset="0"/>
                <a:cs typeface="Arial" panose="020B0604020202020204" pitchFamily="34" charset="0"/>
              </a:rPr>
              <a:t>ñ</a:t>
            </a:r>
            <a:r>
              <a:rPr lang="en-US" altLang="es-ES">
                <a:latin typeface="Arial" panose="020B0604020202020204" pitchFamily="34" charset="0"/>
                <a:cs typeface="Arial" panose="020B0604020202020204" pitchFamily="34" charset="0"/>
              </a:rPr>
              <a:t>ar estrategias y dirigir el equipo de ventas.</a:t>
            </a:r>
            <a:endParaRPr lang="en-US" altLang="es-ES">
              <a:latin typeface="Arial" panose="020B0604020202020204" pitchFamily="34" charset="0"/>
              <a:cs typeface="Arial" panose="020B0604020202020204" pitchFamily="34" charset="0"/>
            </a:endParaRPr>
          </a:p>
          <a:p>
            <a:pPr marL="0" indent="0">
              <a:buNone/>
            </a:pPr>
            <a:r>
              <a:rPr lang="en-US" altLang="es-ES">
                <a:latin typeface="Arial" panose="020B0604020202020204" pitchFamily="34" charset="0"/>
                <a:cs typeface="Arial" panose="020B0604020202020204" pitchFamily="34" charset="0"/>
              </a:rPr>
              <a:t>Conseguir nuevos clientes y contratos de fidelizaci</a:t>
            </a:r>
            <a:r>
              <a:rPr lang="en-US" altLang="en-US">
                <a:latin typeface="Arial" panose="020B0604020202020204" pitchFamily="34" charset="0"/>
                <a:cs typeface="Arial" panose="020B0604020202020204" pitchFamily="34" charset="0"/>
              </a:rPr>
              <a:t>ó</a:t>
            </a:r>
            <a:r>
              <a:rPr lang="en-US" altLang="es-ES">
                <a:latin typeface="Arial" panose="020B0604020202020204" pitchFamily="34" charset="0"/>
                <a:cs typeface="Arial" panose="020B0604020202020204" pitchFamily="34" charset="0"/>
              </a:rPr>
              <a:t>n.</a:t>
            </a:r>
            <a:endParaRPr lang="en-US" altLang="es-ES">
              <a:latin typeface="Arial" panose="020B0604020202020204" pitchFamily="34" charset="0"/>
              <a:cs typeface="Arial" panose="020B0604020202020204" pitchFamily="34" charset="0"/>
            </a:endParaRPr>
          </a:p>
          <a:p>
            <a:pPr marL="0" indent="0">
              <a:buNone/>
            </a:pPr>
            <a:r>
              <a:rPr lang="en-US" altLang="es-ES">
                <a:latin typeface="Arial" panose="020B0604020202020204" pitchFamily="34" charset="0"/>
                <a:cs typeface="Arial" panose="020B0604020202020204" pitchFamily="34" charset="0"/>
              </a:rPr>
              <a:t>Coordinar acciones comerciales y de marketing.</a:t>
            </a:r>
            <a:endParaRPr lang="en-US" altLang="es-ES">
              <a:latin typeface="Arial" panose="020B0604020202020204" pitchFamily="34" charset="0"/>
              <a:cs typeface="Arial" panose="020B0604020202020204" pitchFamily="34" charset="0"/>
            </a:endParaRPr>
          </a:p>
          <a:p>
            <a:pPr marL="0" indent="0">
              <a:buNone/>
            </a:pPr>
            <a:r>
              <a:rPr lang="en-US" altLang="es-ES">
                <a:latin typeface="Arial" panose="020B0604020202020204" pitchFamily="34" charset="0"/>
                <a:cs typeface="Arial" panose="020B0604020202020204" pitchFamily="34" charset="0"/>
              </a:rPr>
              <a:t>Promocionar la empresa.</a:t>
            </a:r>
            <a:endParaRPr lang="es-SV" altLang="en-US">
              <a:latin typeface="Arial" panose="020B0604020202020204" pitchFamily="34" charset="0"/>
              <a:cs typeface="Arial" panose="020B0604020202020204" pitchFamily="34" charset="0"/>
              <a:sym typeface="+mn-ea"/>
            </a:endParaRPr>
          </a:p>
          <a:p>
            <a:pPr marL="0" indent="0">
              <a:buNone/>
            </a:pPr>
            <a:endParaRPr lang="en-US" altLang="es-ES">
              <a:latin typeface="Arial" panose="020B0604020202020204" pitchFamily="34" charset="0"/>
              <a:cs typeface="Arial" panose="020B0604020202020204" pitchFamily="34" charset="0"/>
            </a:endParaRPr>
          </a:p>
          <a:p>
            <a:r>
              <a:rPr lang="en-US" altLang="es-ES">
                <a:latin typeface="Arial" panose="020B0604020202020204" pitchFamily="34" charset="0"/>
                <a:cs typeface="Arial" panose="020B0604020202020204" pitchFamily="34" charset="0"/>
                <a:sym typeface="+mn-ea"/>
              </a:rPr>
              <a:t>Las</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operaciones</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de venta, contablemente deben registrase, y emitirse comprobantes</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al cliente a trav</a:t>
            </a:r>
            <a:r>
              <a:rPr lang="en-US" altLang="en-US">
                <a:latin typeface="Arial" panose="020B0604020202020204" pitchFamily="34" charset="0"/>
                <a:cs typeface="Arial" panose="020B0604020202020204" pitchFamily="34" charset="0"/>
                <a:sym typeface="+mn-ea"/>
              </a:rPr>
              <a:t>é</a:t>
            </a:r>
            <a:r>
              <a:rPr lang="en-US" altLang="es-ES">
                <a:latin typeface="Arial" panose="020B0604020202020204" pitchFamily="34" charset="0"/>
                <a:cs typeface="Arial" panose="020B0604020202020204" pitchFamily="34" charset="0"/>
                <a:sym typeface="+mn-ea"/>
              </a:rPr>
              <a:t>s de tique</a:t>
            </a:r>
            <a:r>
              <a:rPr lang="es-SV" altLang="en-US">
                <a:latin typeface="Arial" panose="020B0604020202020204" pitchFamily="34" charset="0"/>
                <a:cs typeface="Arial" panose="020B0604020202020204" pitchFamily="34" charset="0"/>
                <a:sym typeface="+mn-ea"/>
              </a:rPr>
              <a:t>t</a:t>
            </a:r>
            <a:r>
              <a:rPr lang="en-US" altLang="es-ES">
                <a:latin typeface="Arial" panose="020B0604020202020204" pitchFamily="34" charset="0"/>
                <a:cs typeface="Arial" panose="020B0604020202020204" pitchFamily="34" charset="0"/>
                <a:sym typeface="+mn-ea"/>
              </a:rPr>
              <a:t> (para ventas minoristas de escaso monto), recibo (que</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certifica que la deuda ha sido cancelada) o facturas (con detalles de la operaci</a:t>
            </a:r>
            <a:r>
              <a:rPr lang="en-US" altLang="en-US">
                <a:latin typeface="Arial" panose="020B0604020202020204" pitchFamily="34" charset="0"/>
                <a:cs typeface="Arial" panose="020B0604020202020204" pitchFamily="34" charset="0"/>
                <a:sym typeface="+mn-ea"/>
              </a:rPr>
              <a:t>ó</a:t>
            </a:r>
            <a:r>
              <a:rPr lang="en-US" altLang="es-ES">
                <a:latin typeface="Arial" panose="020B0604020202020204" pitchFamily="34" charset="0"/>
                <a:cs typeface="Arial" panose="020B0604020202020204" pitchFamily="34" charset="0"/>
                <a:sym typeface="+mn-ea"/>
              </a:rPr>
              <a:t>n y</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utilizada en ventas por mayor y menor).Precio de venta es el monto que se ofrece un bien al</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p</a:t>
            </a:r>
            <a:r>
              <a:rPr lang="en-US" altLang="en-US">
                <a:latin typeface="Arial" panose="020B0604020202020204" pitchFamily="34" charset="0"/>
                <a:cs typeface="Arial" panose="020B0604020202020204" pitchFamily="34" charset="0"/>
                <a:sym typeface="+mn-ea"/>
              </a:rPr>
              <a:t>ú</a:t>
            </a:r>
            <a:r>
              <a:rPr lang="en-US" altLang="es-ES">
                <a:latin typeface="Arial" panose="020B0604020202020204" pitchFamily="34" charset="0"/>
                <a:cs typeface="Arial" panose="020B0604020202020204" pitchFamily="34" charset="0"/>
                <a:sym typeface="+mn-ea"/>
              </a:rPr>
              <a:t>blico,con el fin de que lo</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adquiera. Se fija en el sistema capitalista y de libre cambio, por la ley de la oferta y la</a:t>
            </a:r>
            <a:r>
              <a:rPr lang="es-SV" altLang="en-US">
                <a:latin typeface="Arial" panose="020B0604020202020204" pitchFamily="34" charset="0"/>
                <a:cs typeface="Arial" panose="020B0604020202020204" pitchFamily="34" charset="0"/>
                <a:sym typeface="+mn-ea"/>
              </a:rPr>
              <a:t> </a:t>
            </a:r>
            <a:r>
              <a:rPr lang="en-US" altLang="es-ES">
                <a:latin typeface="Arial" panose="020B0604020202020204" pitchFamily="34" charset="0"/>
                <a:cs typeface="Arial" panose="020B0604020202020204" pitchFamily="34" charset="0"/>
                <a:sym typeface="+mn-ea"/>
              </a:rPr>
              <a:t>demanda</a:t>
            </a:r>
            <a:r>
              <a:rPr lang="es-SV" altLang="en-US">
                <a:latin typeface="Arial" panose="020B0604020202020204" pitchFamily="34" charset="0"/>
                <a:cs typeface="Arial" panose="020B0604020202020204" pitchFamily="34" charset="0"/>
                <a:sym typeface="+mn-ea"/>
              </a:rPr>
              <a:t>. </a:t>
            </a:r>
            <a:endParaRPr lang="es-SV" altLang="en-US">
              <a:latin typeface="Arial" panose="020B0604020202020204" pitchFamily="34" charset="0"/>
              <a:cs typeface="Arial" panose="020B0604020202020204" pitchFamily="34" charset="0"/>
            </a:endParaRPr>
          </a:p>
          <a:p>
            <a:endParaRPr lang="en-US" altLang="es-ES" dirty="0">
              <a:latin typeface="Arial Black" panose="020B0A04020102020204" pitchFamily="34" charset="0"/>
            </a:endParaRPr>
          </a:p>
          <a:p>
            <a:endParaRPr lang="en-US" altLang="es-ES" dirty="0">
              <a:latin typeface="Arial Black" panose="020B0A04020102020204" pitchFamily="34" charset="0"/>
            </a:endParaRPr>
          </a:p>
          <a:p>
            <a:endParaRPr lang="es-SV" sz="3600"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5" name="Gráfico 4" descr="Carro de la compra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2327" y="3180300"/>
            <a:ext cx="1732466" cy="17324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5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907030" y="1070610"/>
            <a:ext cx="7219950" cy="4716780"/>
          </a:xfrm>
          <a:prstGeom prst="rect">
            <a:avLst/>
          </a:prstGeom>
          <a:noFill/>
        </p:spPr>
        <p:txBody>
          <a:bodyPr wrap="square" rtlCol="0">
            <a:noAutofit/>
          </a:bodyPr>
          <a:lstStyle/>
          <a:p>
            <a:pPr marL="0" indent="0" algn="just">
              <a:buNone/>
            </a:pPr>
            <a:r>
              <a:rPr lang="en-US" altLang="en-US" sz="1600" b="1" dirty="0">
                <a:latin typeface="Arial Black" panose="020B0A04020102020204" pitchFamily="34" charset="0"/>
              </a:rPr>
              <a:t>¿</a:t>
            </a:r>
            <a:r>
              <a:rPr lang="en-US" altLang="es-ES" sz="1600" b="1" dirty="0">
                <a:latin typeface="Arial Black" panose="020B0A04020102020204" pitchFamily="34" charset="0"/>
              </a:rPr>
              <a:t>Qu</a:t>
            </a:r>
            <a:r>
              <a:rPr lang="en-US" altLang="en-US" sz="1600" b="1" dirty="0">
                <a:latin typeface="Arial Black" panose="020B0A04020102020204" pitchFamily="34" charset="0"/>
              </a:rPr>
              <a:t>é</a:t>
            </a:r>
            <a:r>
              <a:rPr lang="en-US" altLang="es-ES" sz="1600" b="1" dirty="0">
                <a:latin typeface="Arial Black" panose="020B0A04020102020204" pitchFamily="34" charset="0"/>
              </a:rPr>
              <a:t> hace un departamento de ventas y cu</a:t>
            </a:r>
            <a:r>
              <a:rPr lang="en-US" altLang="en-US" sz="1600" b="1" dirty="0">
                <a:latin typeface="Arial Black" panose="020B0A04020102020204" pitchFamily="34" charset="0"/>
              </a:rPr>
              <a:t>á</a:t>
            </a:r>
            <a:r>
              <a:rPr lang="en-US" altLang="es-ES" sz="1600" b="1" dirty="0">
                <a:latin typeface="Arial Black" panose="020B0A04020102020204" pitchFamily="34" charset="0"/>
              </a:rPr>
              <a:t>les son sus funciones?</a:t>
            </a:r>
            <a:endParaRPr lang="en-US" altLang="es-ES" sz="1600" b="1" dirty="0">
              <a:latin typeface="Arial Black" panose="020B0A04020102020204" pitchFamily="34" charset="0"/>
            </a:endParaRPr>
          </a:p>
          <a:p>
            <a:pPr marL="0" indent="0" algn="just">
              <a:buNone/>
            </a:pPr>
            <a:endParaRPr lang="en-US" altLang="es-ES" sz="1600" b="1" dirty="0">
              <a:latin typeface="Arial Black" panose="020B0A04020102020204" pitchFamily="34" charset="0"/>
            </a:endParaRPr>
          </a:p>
          <a:p>
            <a:pPr marL="0" indent="0" algn="just">
              <a:buNone/>
            </a:pPr>
            <a:r>
              <a:rPr lang="en-US" altLang="es-ES" sz="1600" b="1" dirty="0">
                <a:latin typeface="Arial Black" panose="020B0A04020102020204" pitchFamily="34" charset="0"/>
              </a:rPr>
              <a:t>Las funciones del departamento de ventas van m</a:t>
            </a:r>
            <a:r>
              <a:rPr lang="en-US" altLang="en-US" sz="1600" b="1" dirty="0">
                <a:latin typeface="Arial Black" panose="020B0A04020102020204" pitchFamily="34" charset="0"/>
              </a:rPr>
              <a:t>á</a:t>
            </a:r>
            <a:r>
              <a:rPr lang="en-US" altLang="es-ES" sz="1600" b="1" dirty="0">
                <a:latin typeface="Arial Black" panose="020B0A04020102020204" pitchFamily="34" charset="0"/>
              </a:rPr>
              <a:t>s all</a:t>
            </a:r>
            <a:r>
              <a:rPr lang="en-US" altLang="en-US" sz="1600" b="1" dirty="0">
                <a:latin typeface="Arial Black" panose="020B0A04020102020204" pitchFamily="34" charset="0"/>
              </a:rPr>
              <a:t>á</a:t>
            </a:r>
            <a:r>
              <a:rPr lang="en-US" altLang="es-ES" sz="1600" b="1" dirty="0">
                <a:latin typeface="Arial Black" panose="020B0A04020102020204" pitchFamily="34" charset="0"/>
              </a:rPr>
              <a:t> de vender los productos o servicios de la empresa, ya que asumen tareas como planeaci</a:t>
            </a:r>
            <a:r>
              <a:rPr lang="en-US" altLang="en-US" sz="1600" b="1" dirty="0">
                <a:latin typeface="Arial Black" panose="020B0A04020102020204" pitchFamily="34" charset="0"/>
              </a:rPr>
              <a:t>ó</a:t>
            </a:r>
            <a:r>
              <a:rPr lang="en-US" altLang="es-ES" sz="1600" b="1" dirty="0">
                <a:latin typeface="Arial Black" panose="020B0A04020102020204" pitchFamily="34" charset="0"/>
              </a:rPr>
              <a:t>n, ejecuci</a:t>
            </a:r>
            <a:r>
              <a:rPr lang="en-US" altLang="en-US" sz="1600" b="1" dirty="0">
                <a:latin typeface="Arial Black" panose="020B0A04020102020204" pitchFamily="34" charset="0"/>
              </a:rPr>
              <a:t>ó</a:t>
            </a:r>
            <a:r>
              <a:rPr lang="en-US" altLang="es-ES" sz="1600" b="1" dirty="0">
                <a:latin typeface="Arial Black" panose="020B0A04020102020204" pitchFamily="34" charset="0"/>
              </a:rPr>
              <a:t>n y control de actividades para alcanzar un mejor funcionamiento de todo el negocio.</a:t>
            </a:r>
            <a:endParaRPr lang="es-SV" sz="1600" b="1" dirty="0">
              <a:latin typeface="Arial Black" panose="020B0A04020102020204" pitchFamily="34" charset="0"/>
            </a:endParaRPr>
          </a:p>
        </p:txBody>
      </p:sp>
      <p:pic>
        <p:nvPicPr>
          <p:cNvPr id="5" name="Gráfico 4" descr="Gráfico de barras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02327" y="3602145"/>
            <a:ext cx="1732466" cy="17324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9000" b="-9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343150" y="1143000"/>
            <a:ext cx="7538720" cy="4774565"/>
          </a:xfrm>
          <a:prstGeom prst="rect">
            <a:avLst/>
          </a:prstGeom>
          <a:noFill/>
        </p:spPr>
        <p:txBody>
          <a:bodyPr wrap="square" rtlCol="0">
            <a:noAutofit/>
          </a:bodyPr>
          <a:lstStyle/>
          <a:p>
            <a:r>
              <a:rPr lang="es-SV" altLang="en-US" sz="1400" b="1">
                <a:latin typeface="Arial" panose="020B0604020202020204" pitchFamily="34" charset="0"/>
                <a:cs typeface="Arial" panose="020B0604020202020204" pitchFamily="34" charset="0"/>
                <a:sym typeface="+mn-ea"/>
              </a:rPr>
              <a:t>1.</a:t>
            </a:r>
            <a:r>
              <a:rPr lang="en-US" altLang="es-ES" sz="1400" b="1">
                <a:latin typeface="Arial" panose="020B0604020202020204" pitchFamily="34" charset="0"/>
                <a:cs typeface="Arial" panose="020B0604020202020204" pitchFamily="34" charset="0"/>
                <a:sym typeface="+mn-ea"/>
              </a:rPr>
              <a:t> Desarrollar buenas estrategias</a:t>
            </a:r>
            <a:endParaRPr lang="en-US" altLang="es-ES" sz="1400" b="1">
              <a:latin typeface="Arial" panose="020B0604020202020204" pitchFamily="34" charset="0"/>
              <a:cs typeface="Arial" panose="020B0604020202020204" pitchFamily="34" charset="0"/>
            </a:endParaRPr>
          </a:p>
          <a:p>
            <a:pPr marL="0" indent="0">
              <a:buNone/>
            </a:pPr>
            <a:r>
              <a:rPr lang="en-US" altLang="es-ES" sz="1400" b="1">
                <a:latin typeface="Arial" panose="020B0604020202020204" pitchFamily="34" charset="0"/>
                <a:cs typeface="Arial" panose="020B0604020202020204" pitchFamily="34" charset="0"/>
                <a:sym typeface="+mn-ea"/>
              </a:rPr>
              <a:t>Luego de fijar metas, el departamento de ventas debe crear estrategias de ventas para lograr los objetivos. Es decir, definir los canales de desempe</a:t>
            </a:r>
            <a:r>
              <a:rPr lang="en-US" altLang="en-US" sz="1400" b="1">
                <a:latin typeface="Arial" panose="020B0604020202020204" pitchFamily="34" charset="0"/>
                <a:cs typeface="Arial" panose="020B0604020202020204" pitchFamily="34" charset="0"/>
                <a:sym typeface="+mn-ea"/>
              </a:rPr>
              <a:t>ñ</a:t>
            </a:r>
            <a:r>
              <a:rPr lang="en-US" altLang="es-ES" sz="1400" b="1">
                <a:latin typeface="Arial" panose="020B0604020202020204" pitchFamily="34" charset="0"/>
                <a:cs typeface="Arial" panose="020B0604020202020204" pitchFamily="34" charset="0"/>
                <a:sym typeface="+mn-ea"/>
              </a:rPr>
              <a:t>o, predecir problemas y la metodolog</a:t>
            </a:r>
            <a:r>
              <a:rPr lang="en-US" altLang="en-US" sz="1400" b="1">
                <a:latin typeface="Arial" panose="020B0604020202020204" pitchFamily="34" charset="0"/>
                <a:cs typeface="Arial" panose="020B0604020202020204" pitchFamily="34" charset="0"/>
                <a:sym typeface="+mn-ea"/>
              </a:rPr>
              <a:t>í</a:t>
            </a:r>
            <a:r>
              <a:rPr lang="en-US" altLang="es-ES" sz="1400" b="1">
                <a:latin typeface="Arial" panose="020B0604020202020204" pitchFamily="34" charset="0"/>
                <a:cs typeface="Arial" panose="020B0604020202020204" pitchFamily="34" charset="0"/>
                <a:sym typeface="+mn-ea"/>
              </a:rPr>
              <a:t>a de servicio para que el equipo est</a:t>
            </a:r>
            <a:r>
              <a:rPr lang="en-US" altLang="en-US" sz="1400" b="1">
                <a:latin typeface="Arial" panose="020B0604020202020204" pitchFamily="34" charset="0"/>
                <a:cs typeface="Arial" panose="020B0604020202020204" pitchFamily="34" charset="0"/>
                <a:sym typeface="+mn-ea"/>
              </a:rPr>
              <a:t>é</a:t>
            </a:r>
            <a:r>
              <a:rPr lang="en-US" altLang="es-ES" sz="1400" b="1">
                <a:latin typeface="Arial" panose="020B0604020202020204" pitchFamily="34" charset="0"/>
                <a:cs typeface="Arial" panose="020B0604020202020204" pitchFamily="34" charset="0"/>
                <a:sym typeface="+mn-ea"/>
              </a:rPr>
              <a:t> bien orientado.</a:t>
            </a:r>
            <a:endParaRPr lang="en-US" altLang="es-ES" sz="1400" b="1">
              <a:latin typeface="Arial" panose="020B0604020202020204" pitchFamily="34" charset="0"/>
              <a:cs typeface="Arial" panose="020B0604020202020204" pitchFamily="34" charset="0"/>
              <a:sym typeface="+mn-ea"/>
            </a:endParaRPr>
          </a:p>
          <a:p>
            <a:endParaRPr lang="en-US" altLang="es-ES" sz="1400" b="1">
              <a:latin typeface="Arial" panose="020B0604020202020204" pitchFamily="34" charset="0"/>
              <a:cs typeface="Arial" panose="020B0604020202020204" pitchFamily="34" charset="0"/>
              <a:sym typeface="+mn-ea"/>
            </a:endParaRPr>
          </a:p>
          <a:p>
            <a:pPr marL="0" indent="0">
              <a:buNone/>
            </a:pPr>
            <a:r>
              <a:rPr lang="en-US" altLang="es-ES" sz="1400" b="1">
                <a:latin typeface="Arial" panose="020B0604020202020204" pitchFamily="34" charset="0"/>
                <a:cs typeface="Arial" panose="020B0604020202020204" pitchFamily="34" charset="0"/>
                <a:sym typeface="+mn-ea"/>
              </a:rPr>
              <a:t>Para desarrollar una buena estrategia es necesario:</a:t>
            </a:r>
            <a:endParaRPr lang="en-US" altLang="es-ES" sz="1400" b="1">
              <a:latin typeface="Arial" panose="020B0604020202020204" pitchFamily="34" charset="0"/>
              <a:cs typeface="Arial" panose="020B0604020202020204" pitchFamily="34" charset="0"/>
              <a:sym typeface="+mn-ea"/>
            </a:endParaRPr>
          </a:p>
          <a:p>
            <a:pPr marL="457200" lvl="1" indent="0">
              <a:buNone/>
            </a:pPr>
            <a:endParaRPr lang="en-US" altLang="es-ES" sz="1400" b="1">
              <a:latin typeface="Arial" panose="020B0604020202020204" pitchFamily="34" charset="0"/>
              <a:cs typeface="Arial" panose="020B0604020202020204" pitchFamily="34" charset="0"/>
              <a:sym typeface="+mn-ea"/>
            </a:endParaRPr>
          </a:p>
          <a:p>
            <a:pPr marL="0" indent="0">
              <a:buNone/>
            </a:pPr>
            <a:r>
              <a:rPr lang="en-US" altLang="es-ES" sz="1400" b="1">
                <a:latin typeface="Arial" panose="020B0604020202020204" pitchFamily="34" charset="0"/>
                <a:cs typeface="Arial" panose="020B0604020202020204" pitchFamily="34" charset="0"/>
                <a:sym typeface="+mn-ea"/>
              </a:rPr>
              <a:t>Conocer a fondo los productos y servicios ofrecidos por tu empresa es crucial, ya que con base en este conocimiento vas a fijar los precios y perfeccionar el servicio al cliente — elementos que influyen en el </a:t>
            </a:r>
            <a:r>
              <a:rPr lang="en-US" altLang="en-US" sz="1400" b="1">
                <a:latin typeface="Arial" panose="020B0604020202020204" pitchFamily="34" charset="0"/>
                <a:cs typeface="Arial" panose="020B0604020202020204" pitchFamily="34" charset="0"/>
                <a:sym typeface="+mn-ea"/>
              </a:rPr>
              <a:t>é</a:t>
            </a:r>
            <a:r>
              <a:rPr lang="en-US" altLang="es-ES" sz="1400" b="1">
                <a:latin typeface="Arial" panose="020B0604020202020204" pitchFamily="34" charset="0"/>
                <a:cs typeface="Arial" panose="020B0604020202020204" pitchFamily="34" charset="0"/>
                <a:sym typeface="+mn-ea"/>
              </a:rPr>
              <a:t>xito de las ventas.</a:t>
            </a:r>
            <a:endParaRPr lang="en-US" altLang="es-ES" sz="1400" b="1">
              <a:latin typeface="Arial" panose="020B0604020202020204" pitchFamily="34" charset="0"/>
              <a:cs typeface="Arial" panose="020B0604020202020204" pitchFamily="34" charset="0"/>
              <a:sym typeface="+mn-ea"/>
            </a:endParaRPr>
          </a:p>
          <a:p>
            <a:endParaRPr lang="en-US" altLang="es-ES" sz="1400" b="1">
              <a:latin typeface="Arial" panose="020B0604020202020204" pitchFamily="34" charset="0"/>
              <a:cs typeface="Arial" panose="020B0604020202020204" pitchFamily="34" charset="0"/>
              <a:sym typeface="+mn-ea"/>
            </a:endParaRPr>
          </a:p>
          <a:p>
            <a:r>
              <a:rPr lang="es-SV" altLang="en-US" sz="1400" b="1">
                <a:latin typeface="Arial" panose="020B0604020202020204" pitchFamily="34" charset="0"/>
                <a:cs typeface="Arial" panose="020B0604020202020204" pitchFamily="34" charset="0"/>
                <a:sym typeface="+mn-ea"/>
              </a:rPr>
              <a:t>2.</a:t>
            </a:r>
            <a:r>
              <a:rPr lang="en-US" altLang="es-ES" sz="1400" b="1">
                <a:latin typeface="Arial" panose="020B0604020202020204" pitchFamily="34" charset="0"/>
                <a:cs typeface="Arial" panose="020B0604020202020204" pitchFamily="34" charset="0"/>
                <a:sym typeface="+mn-ea"/>
              </a:rPr>
              <a:t> Mejorar la atenci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al cliente</a:t>
            </a:r>
            <a:endParaRPr lang="en-US" altLang="es-ES" sz="1400" b="1">
              <a:latin typeface="Arial" panose="020B0604020202020204" pitchFamily="34" charset="0"/>
              <a:cs typeface="Arial" panose="020B0604020202020204" pitchFamily="34" charset="0"/>
            </a:endParaRPr>
          </a:p>
          <a:p>
            <a:pPr marL="0" indent="0">
              <a:buNone/>
            </a:pPr>
            <a:r>
              <a:rPr lang="en-US" altLang="es-ES" sz="1400" b="1">
                <a:latin typeface="Arial" panose="020B0604020202020204" pitchFamily="34" charset="0"/>
                <a:cs typeface="Arial" panose="020B0604020202020204" pitchFamily="34" charset="0"/>
                <a:sym typeface="+mn-ea"/>
              </a:rPr>
              <a:t>El servicio al cliente es una parte importante del </a:t>
            </a:r>
            <a:r>
              <a:rPr lang="en-US" altLang="en-US" sz="1400" b="1">
                <a:latin typeface="Arial" panose="020B0604020202020204" pitchFamily="34" charset="0"/>
                <a:cs typeface="Arial" panose="020B0604020202020204" pitchFamily="34" charset="0"/>
                <a:sym typeface="+mn-ea"/>
              </a:rPr>
              <a:t>á</a:t>
            </a:r>
            <a:r>
              <a:rPr lang="en-US" altLang="es-ES" sz="1400" b="1">
                <a:latin typeface="Arial" panose="020B0604020202020204" pitchFamily="34" charset="0"/>
                <a:cs typeface="Arial" panose="020B0604020202020204" pitchFamily="34" charset="0"/>
                <a:sym typeface="+mn-ea"/>
              </a:rPr>
              <a:t>rea de ventas, porque mantiene la calidad de la base de clientes, retiene informaci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valiosa para la empresa y garantiza la satisfacci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del cliente.</a:t>
            </a:r>
            <a:endParaRPr lang="en-US" altLang="es-ES" sz="1400" b="1">
              <a:latin typeface="Arial" panose="020B0604020202020204" pitchFamily="34" charset="0"/>
              <a:cs typeface="Arial" panose="020B0604020202020204" pitchFamily="34" charset="0"/>
            </a:endParaRPr>
          </a:p>
          <a:p>
            <a:endParaRPr lang="en-US" altLang="es-ES" sz="1400" b="1">
              <a:latin typeface="Arial" panose="020B0604020202020204" pitchFamily="34" charset="0"/>
              <a:cs typeface="Arial" panose="020B0604020202020204" pitchFamily="34" charset="0"/>
            </a:endParaRPr>
          </a:p>
          <a:p>
            <a:pPr marL="0" indent="0">
              <a:buNone/>
            </a:pPr>
            <a:r>
              <a:rPr lang="en-US" altLang="es-ES" sz="1400" b="1">
                <a:latin typeface="Arial" panose="020B0604020202020204" pitchFamily="34" charset="0"/>
                <a:cs typeface="Arial" panose="020B0604020202020204" pitchFamily="34" charset="0"/>
                <a:sym typeface="+mn-ea"/>
              </a:rPr>
              <a:t>Ofrecer una experiencia memorable en cada interacci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con el cliente es esencial, ya que crea lazos significativos, demuestra empat</a:t>
            </a:r>
            <a:r>
              <a:rPr lang="en-US" altLang="en-US" sz="1400" b="1">
                <a:latin typeface="Arial" panose="020B0604020202020204" pitchFamily="34" charset="0"/>
                <a:cs typeface="Arial" panose="020B0604020202020204" pitchFamily="34" charset="0"/>
                <a:sym typeface="+mn-ea"/>
              </a:rPr>
              <a:t>í</a:t>
            </a:r>
            <a:r>
              <a:rPr lang="en-US" altLang="es-ES" sz="1400" b="1">
                <a:latin typeface="Arial" panose="020B0604020202020204" pitchFamily="34" charset="0"/>
                <a:cs typeface="Arial" panose="020B0604020202020204" pitchFamily="34" charset="0"/>
                <a:sym typeface="+mn-ea"/>
              </a:rPr>
              <a:t>a y desarrolla una comunicaci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efectiva. Para eso, la atenci</a:t>
            </a:r>
            <a:r>
              <a:rPr lang="en-US" altLang="en-US" sz="1400" b="1">
                <a:latin typeface="Arial" panose="020B0604020202020204" pitchFamily="34" charset="0"/>
                <a:cs typeface="Arial" panose="020B0604020202020204" pitchFamily="34" charset="0"/>
                <a:sym typeface="+mn-ea"/>
              </a:rPr>
              <a:t>ó</a:t>
            </a:r>
            <a:r>
              <a:rPr lang="en-US" altLang="es-ES" sz="1400" b="1">
                <a:latin typeface="Arial" panose="020B0604020202020204" pitchFamily="34" charset="0"/>
                <a:cs typeface="Arial" panose="020B0604020202020204" pitchFamily="34" charset="0"/>
                <a:sym typeface="+mn-ea"/>
              </a:rPr>
              <a:t>n al cliente debe contar con herramientas de calidad, que facilitar</a:t>
            </a:r>
            <a:r>
              <a:rPr lang="en-US" altLang="en-US" sz="1400" b="1">
                <a:latin typeface="Arial" panose="020B0604020202020204" pitchFamily="34" charset="0"/>
                <a:cs typeface="Arial" panose="020B0604020202020204" pitchFamily="34" charset="0"/>
                <a:sym typeface="+mn-ea"/>
              </a:rPr>
              <a:t>á</a:t>
            </a:r>
            <a:r>
              <a:rPr lang="en-US" altLang="es-ES" sz="1400" b="1">
                <a:latin typeface="Arial" panose="020B0604020202020204" pitchFamily="34" charset="0"/>
                <a:cs typeface="Arial" panose="020B0604020202020204" pitchFamily="34" charset="0"/>
                <a:sym typeface="+mn-ea"/>
              </a:rPr>
              <a:t>n los procesos, como el CRM de Salesforce.</a:t>
            </a:r>
            <a:endParaRPr lang="en-US" altLang="es-ES" sz="1400" b="1">
              <a:latin typeface="Arial" panose="020B0604020202020204" pitchFamily="34" charset="0"/>
              <a:cs typeface="Arial" panose="020B0604020202020204" pitchFamily="34" charset="0"/>
            </a:endParaRPr>
          </a:p>
          <a:p>
            <a:endParaRPr lang="es-ES" altLang="en-US" sz="1400" b="1"/>
          </a:p>
          <a:p>
            <a:endParaRPr lang="en-US" altLang="es-ES" sz="1400" b="1">
              <a:latin typeface="Arial" panose="020B0604020202020204" pitchFamily="34" charset="0"/>
              <a:cs typeface="Arial" panose="020B0604020202020204" pitchFamily="34" charset="0"/>
              <a:sym typeface="+mn-ea"/>
            </a:endParaRPr>
          </a:p>
          <a:p>
            <a:endParaRPr lang="es-SV" sz="1400" b="1" dirty="0">
              <a:latin typeface="Arial Black" panose="020B0A04020102020204" pitchFamily="34" charset="0"/>
            </a:endParaRPr>
          </a:p>
          <a:p>
            <a:endParaRPr lang="es-SV" sz="1400" b="1" dirty="0">
              <a:latin typeface="Arial Black" panose="020B0A04020102020204" pitchFamily="34" charset="0"/>
            </a:endParaRPr>
          </a:p>
          <a:p>
            <a:r>
              <a:rPr lang="es-SV" sz="1400" b="1" dirty="0">
                <a:latin typeface="Arial Black" panose="020B0A04020102020204" pitchFamily="34" charset="0"/>
              </a:rPr>
              <a:t>  </a:t>
            </a:r>
            <a:endParaRPr lang="es-SV" sz="1400" b="1"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4000" b="-14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54353" y="1183576"/>
            <a:ext cx="6567054" cy="1753235"/>
          </a:xfrm>
          <a:prstGeom prst="rect">
            <a:avLst/>
          </a:prstGeom>
          <a:noFill/>
        </p:spPr>
        <p:txBody>
          <a:bodyPr wrap="square" rtlCol="0">
            <a:spAutoFit/>
          </a:bodyPr>
          <a:lstStyle/>
          <a:p>
            <a:endParaRPr lang="es-SV" sz="3600" dirty="0">
              <a:latin typeface="Arial Black" panose="020B0A04020102020204" pitchFamily="34" charset="0"/>
            </a:endParaRPr>
          </a:p>
          <a:p>
            <a:endParaRPr lang="es-SV" sz="3600"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pic>
        <p:nvPicPr>
          <p:cNvPr id="6" name="Marcador de posición de contenido 5" descr="concepto de venta"/>
          <p:cNvPicPr>
            <a:picLocks noChangeAspect="1"/>
          </p:cNvPicPr>
          <p:nvPr/>
        </p:nvPicPr>
        <p:blipFill>
          <a:blip r:embed="rId4"/>
          <a:stretch>
            <a:fillRect/>
          </a:stretch>
        </p:blipFill>
        <p:spPr>
          <a:xfrm>
            <a:off x="3965575" y="1183640"/>
            <a:ext cx="4744720" cy="46882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l="-4000" r="-4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823845" y="1092200"/>
            <a:ext cx="6901815" cy="4673600"/>
          </a:xfrm>
          <a:prstGeom prst="rect">
            <a:avLst/>
          </a:prstGeom>
          <a:noFill/>
        </p:spPr>
        <p:txBody>
          <a:bodyPr wrap="square" rtlCol="0">
            <a:noAutofit/>
          </a:bodyPr>
          <a:lstStyle/>
          <a:p>
            <a:endParaRPr lang="es-SV" sz="3600"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pic>
        <p:nvPicPr>
          <p:cNvPr id="7" name="Imagen 6" descr="funciones"/>
          <p:cNvPicPr>
            <a:picLocks noChangeAspect="1"/>
          </p:cNvPicPr>
          <p:nvPr/>
        </p:nvPicPr>
        <p:blipFill>
          <a:blip r:embed="rId4"/>
          <a:stretch>
            <a:fillRect/>
          </a:stretch>
        </p:blipFill>
        <p:spPr>
          <a:xfrm>
            <a:off x="3554095" y="935355"/>
            <a:ext cx="5980430" cy="4830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4000" b="-14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497455" y="1183640"/>
            <a:ext cx="7124065" cy="5354320"/>
          </a:xfrm>
          <a:prstGeom prst="rect">
            <a:avLst/>
          </a:prstGeom>
          <a:noFill/>
        </p:spPr>
        <p:txBody>
          <a:bodyPr wrap="square" rtlCol="0">
            <a:spAutoFit/>
          </a:bodyPr>
          <a:lstStyle/>
          <a:p>
            <a:pPr marL="0" indent="0">
              <a:buNone/>
            </a:pPr>
            <a:r>
              <a:rPr lang="es-SV" altLang="en-US" b="1">
                <a:latin typeface="Arial" panose="020B0604020202020204" pitchFamily="34" charset="0"/>
                <a:cs typeface="Arial" panose="020B0604020202020204" pitchFamily="34" charset="0"/>
                <a:sym typeface="+mn-ea"/>
              </a:rPr>
              <a:t>Objetivo Especifico de conceptos y funciones de venta:</a:t>
            </a:r>
            <a:endParaRPr lang="es-SV" altLang="en-US" b="1">
              <a:latin typeface="Arial" panose="020B0604020202020204" pitchFamily="34" charset="0"/>
              <a:cs typeface="Arial" panose="020B0604020202020204" pitchFamily="34" charset="0"/>
            </a:endParaRPr>
          </a:p>
          <a:p>
            <a:pPr marL="0" indent="0">
              <a:buNone/>
            </a:pPr>
            <a:endParaRPr lang="es-SV" altLang="en-US">
              <a:latin typeface="Arial" panose="020B0604020202020204" pitchFamily="34" charset="0"/>
              <a:cs typeface="Arial" panose="020B0604020202020204" pitchFamily="34" charset="0"/>
            </a:endParaRPr>
          </a:p>
          <a:p>
            <a:pPr marL="0" indent="0">
              <a:buNone/>
            </a:pPr>
            <a:r>
              <a:rPr lang="es-SV" altLang="en-US" b="1">
                <a:latin typeface="Arial" panose="020B0604020202020204" pitchFamily="34" charset="0"/>
                <a:cs typeface="Arial" panose="020B0604020202020204" pitchFamily="34" charset="0"/>
                <a:sym typeface="+mn-ea"/>
              </a:rPr>
              <a:t>Es analizar y aplicar los conceptos de venta para diseñar estrategias efectivas que eso se optimicen el proceso comercial, mejoren la experiencia del cliente y aumentan la conversion de prospectos en clientes fieles.</a:t>
            </a:r>
            <a:endParaRPr lang="es-SV" altLang="en-US" b="1">
              <a:latin typeface="Arial" panose="020B0604020202020204" pitchFamily="34" charset="0"/>
              <a:cs typeface="Arial" panose="020B0604020202020204" pitchFamily="34" charset="0"/>
            </a:endParaRPr>
          </a:p>
          <a:p>
            <a:pPr marL="0" indent="0">
              <a:buNone/>
            </a:pPr>
            <a:endParaRPr lang="es-SV" altLang="en-US">
              <a:latin typeface="Arial" panose="020B0604020202020204" pitchFamily="34" charset="0"/>
              <a:cs typeface="Arial" panose="020B0604020202020204" pitchFamily="34" charset="0"/>
            </a:endParaRPr>
          </a:p>
          <a:p>
            <a:pPr marL="0" indent="0">
              <a:buNone/>
            </a:pPr>
            <a:r>
              <a:rPr lang="es-SV" altLang="en-US" b="1">
                <a:latin typeface="Arial" panose="020B0604020202020204" pitchFamily="34" charset="0"/>
                <a:cs typeface="Arial" panose="020B0604020202020204" pitchFamily="34" charset="0"/>
                <a:sym typeface="+mn-ea"/>
              </a:rPr>
              <a:t>Objetivo  general de conceptos y funciones de venta:</a:t>
            </a:r>
            <a:endParaRPr lang="es-SV" altLang="en-US" b="1">
              <a:latin typeface="Arial" panose="020B0604020202020204" pitchFamily="34" charset="0"/>
              <a:cs typeface="Arial" panose="020B0604020202020204" pitchFamily="34" charset="0"/>
            </a:endParaRPr>
          </a:p>
          <a:p>
            <a:pPr marL="0" indent="0">
              <a:buNone/>
            </a:pPr>
            <a:endParaRPr lang="es-SV" altLang="en-US">
              <a:latin typeface="Arial" panose="020B0604020202020204" pitchFamily="34" charset="0"/>
              <a:cs typeface="Arial" panose="020B0604020202020204" pitchFamily="34" charset="0"/>
            </a:endParaRPr>
          </a:p>
          <a:p>
            <a:pPr marL="0" indent="0">
              <a:buNone/>
            </a:pPr>
            <a:r>
              <a:rPr lang="es-SV" altLang="en-US" b="1">
                <a:latin typeface="Arial" panose="020B0604020202020204" pitchFamily="34" charset="0"/>
                <a:cs typeface="Arial" panose="020B0604020202020204" pitchFamily="34" charset="0"/>
                <a:sym typeface="+mn-ea"/>
              </a:rPr>
              <a:t>Es analizar y aplicar los conceptos y funciones de venta es para desarollar una esrategia comerciales o efectivas para mejora la capación de clientes, eso optimicen un proceso de ventas asi que fortalezcan la fidelización, contribuyendo al crecimiento y rentabilidad de un negocio.</a:t>
            </a:r>
            <a:r>
              <a:rPr lang="es-SV" altLang="en-US">
                <a:latin typeface="Arial" panose="020B0604020202020204" pitchFamily="34" charset="0"/>
                <a:cs typeface="Arial" panose="020B0604020202020204" pitchFamily="34" charset="0"/>
                <a:sym typeface="+mn-ea"/>
              </a:rPr>
              <a:t> </a:t>
            </a:r>
            <a:endParaRPr lang="es-SV" altLang="en-US">
              <a:latin typeface="Arial" panose="020B0604020202020204" pitchFamily="34" charset="0"/>
              <a:cs typeface="Arial" panose="020B0604020202020204" pitchFamily="34" charset="0"/>
            </a:endParaRPr>
          </a:p>
          <a:p>
            <a:r>
              <a:rPr lang="es-SV" dirty="0">
                <a:latin typeface="Arial Black" panose="020B0A04020102020204" pitchFamily="34" charset="0"/>
              </a:rPr>
              <a:t> </a:t>
            </a:r>
            <a:endParaRPr lang="es-SV" dirty="0">
              <a:latin typeface="Arial Black" panose="020B0A04020102020204" pitchFamily="34" charset="0"/>
            </a:endParaRPr>
          </a:p>
          <a:p>
            <a:endParaRPr lang="es-SV" dirty="0">
              <a:latin typeface="Arial Black" panose="020B0A04020102020204" pitchFamily="34" charset="0"/>
            </a:endParaRPr>
          </a:p>
          <a:p>
            <a:endParaRPr lang="es-SV"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8000"/>
            <a:lum/>
          </a:blip>
          <a:srcRect/>
          <a:stretch>
            <a:fillRect t="-1000" b="-1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54353" y="1056576"/>
            <a:ext cx="6567054" cy="5507990"/>
          </a:xfrm>
          <a:prstGeom prst="rect">
            <a:avLst/>
          </a:prstGeom>
          <a:noFill/>
        </p:spPr>
        <p:txBody>
          <a:bodyPr wrap="square" rtlCol="0">
            <a:spAutoFit/>
          </a:bodyPr>
          <a:lstStyle/>
          <a:p>
            <a:pPr marL="0" indent="0">
              <a:buNone/>
            </a:pPr>
            <a:endParaRPr lang="en-US" altLang="es-ES" sz="1000">
              <a:latin typeface="Arial" panose="020B0604020202020204" pitchFamily="34" charset="0"/>
              <a:cs typeface="Arial" panose="020B0604020202020204" pitchFamily="34" charset="0"/>
            </a:endParaRPr>
          </a:p>
          <a:p>
            <a:pPr marL="0" indent="0">
              <a:buNone/>
            </a:pPr>
            <a:r>
              <a:rPr lang="es-SV" altLang="en-US" sz="1000">
                <a:latin typeface="Arial" panose="020B0604020202020204" pitchFamily="34" charset="0"/>
                <a:cs typeface="Arial" panose="020B0604020202020204" pitchFamily="34" charset="0"/>
                <a:sym typeface="+mn-ea"/>
              </a:rPr>
              <a:t> </a:t>
            </a:r>
            <a:r>
              <a:rPr lang="en-US" altLang="en-US" b="1">
                <a:latin typeface="Arial" panose="020B0604020202020204" pitchFamily="34" charset="0"/>
                <a:cs typeface="Arial" panose="020B0604020202020204" pitchFamily="34" charset="0"/>
                <a:sym typeface="+mn-ea"/>
              </a:rPr>
              <a:t>¿</a:t>
            </a:r>
            <a:r>
              <a:rPr lang="en-US" altLang="es-ES" b="1">
                <a:latin typeface="Arial" panose="020B0604020202020204" pitchFamily="34" charset="0"/>
                <a:cs typeface="Arial" panose="020B0604020202020204" pitchFamily="34" charset="0"/>
                <a:sym typeface="+mn-ea"/>
              </a:rPr>
              <a:t>Qu</a:t>
            </a:r>
            <a:r>
              <a:rPr lang="en-US" altLang="en-US" b="1">
                <a:latin typeface="Arial" panose="020B0604020202020204" pitchFamily="34" charset="0"/>
                <a:cs typeface="Arial" panose="020B0604020202020204" pitchFamily="34" charset="0"/>
                <a:sym typeface="+mn-ea"/>
              </a:rPr>
              <a:t>é</a:t>
            </a:r>
            <a:r>
              <a:rPr lang="en-US" altLang="es-ES" b="1">
                <a:latin typeface="Arial" panose="020B0604020202020204" pitchFamily="34" charset="0"/>
                <a:cs typeface="Arial" panose="020B0604020202020204" pitchFamily="34" charset="0"/>
                <a:sym typeface="+mn-ea"/>
              </a:rPr>
              <a:t> es el marketing</a:t>
            </a:r>
            <a:r>
              <a:rPr lang="es-SV" altLang="en-US" b="1">
                <a:latin typeface="Arial" panose="020B0604020202020204" pitchFamily="34" charset="0"/>
                <a:cs typeface="Arial" panose="020B0604020202020204" pitchFamily="34" charset="0"/>
                <a:sym typeface="+mn-ea"/>
              </a:rPr>
              <a:t>?</a:t>
            </a:r>
            <a:endParaRPr lang="en-US" altLang="es-ES" b="1">
              <a:latin typeface="Arial" panose="020B0604020202020204" pitchFamily="34" charset="0"/>
              <a:cs typeface="Arial" panose="020B0604020202020204" pitchFamily="34" charset="0"/>
            </a:endParaRPr>
          </a:p>
          <a:p>
            <a:endParaRPr lang="en-US" altLang="es-ES">
              <a:latin typeface="Arial" panose="020B0604020202020204" pitchFamily="34" charset="0"/>
              <a:cs typeface="Arial" panose="020B0604020202020204" pitchFamily="34" charset="0"/>
            </a:endParaRPr>
          </a:p>
          <a:p>
            <a:r>
              <a:rPr lang="en-US" altLang="es-ES">
                <a:latin typeface="Arial" panose="020B0604020202020204" pitchFamily="34" charset="0"/>
                <a:cs typeface="Arial" panose="020B0604020202020204" pitchFamily="34" charset="0"/>
                <a:sym typeface="+mn-ea"/>
              </a:rPr>
              <a:t>“El Marketing es una filosof</a:t>
            </a:r>
            <a:r>
              <a:rPr lang="en-US" altLang="en-US">
                <a:latin typeface="Arial" panose="020B0604020202020204" pitchFamily="34" charset="0"/>
                <a:cs typeface="Arial" panose="020B0604020202020204" pitchFamily="34" charset="0"/>
                <a:sym typeface="+mn-ea"/>
              </a:rPr>
              <a:t>í</a:t>
            </a:r>
            <a:r>
              <a:rPr lang="en-US" altLang="es-ES">
                <a:latin typeface="Arial" panose="020B0604020202020204" pitchFamily="34" charset="0"/>
                <a:cs typeface="Arial" panose="020B0604020202020204" pitchFamily="34" charset="0"/>
                <a:sym typeface="+mn-ea"/>
              </a:rPr>
              <a:t>a de negocio que se centra en el cliente, y se basa en un conjunto de t</a:t>
            </a:r>
            <a:r>
              <a:rPr lang="en-US" altLang="en-US">
                <a:latin typeface="Arial" panose="020B0604020202020204" pitchFamily="34" charset="0"/>
                <a:cs typeface="Arial" panose="020B0604020202020204" pitchFamily="34" charset="0"/>
                <a:sym typeface="+mn-ea"/>
              </a:rPr>
              <a:t>é</a:t>
            </a:r>
            <a:r>
              <a:rPr lang="en-US" altLang="es-ES">
                <a:latin typeface="Arial" panose="020B0604020202020204" pitchFamily="34" charset="0"/>
                <a:cs typeface="Arial" panose="020B0604020202020204" pitchFamily="34" charset="0"/>
                <a:sym typeface="+mn-ea"/>
              </a:rPr>
              <a:t>cnicas de investigaci</a:t>
            </a:r>
            <a:r>
              <a:rPr lang="en-US" altLang="en-US">
                <a:latin typeface="Arial" panose="020B0604020202020204" pitchFamily="34" charset="0"/>
                <a:cs typeface="Arial" panose="020B0604020202020204" pitchFamily="34" charset="0"/>
                <a:sym typeface="+mn-ea"/>
              </a:rPr>
              <a:t>ó</a:t>
            </a:r>
            <a:r>
              <a:rPr lang="en-US" altLang="es-ES">
                <a:latin typeface="Arial" panose="020B0604020202020204" pitchFamily="34" charset="0"/>
                <a:cs typeface="Arial" panose="020B0604020202020204" pitchFamily="34" charset="0"/>
                <a:sym typeface="+mn-ea"/>
              </a:rPr>
              <a:t>n asociadas al an</a:t>
            </a:r>
            <a:r>
              <a:rPr lang="en-US" altLang="en-US">
                <a:latin typeface="Arial" panose="020B0604020202020204" pitchFamily="34" charset="0"/>
                <a:cs typeface="Arial" panose="020B0604020202020204" pitchFamily="34" charset="0"/>
                <a:sym typeface="+mn-ea"/>
              </a:rPr>
              <a:t>á</a:t>
            </a:r>
            <a:r>
              <a:rPr lang="en-US" altLang="es-ES">
                <a:latin typeface="Arial" panose="020B0604020202020204" pitchFamily="34" charset="0"/>
                <a:cs typeface="Arial" panose="020B0604020202020204" pitchFamily="34" charset="0"/>
                <a:sym typeface="+mn-ea"/>
              </a:rPr>
              <a:t>lisis estrat</a:t>
            </a:r>
            <a:r>
              <a:rPr lang="en-US" altLang="en-US">
                <a:latin typeface="Arial" panose="020B0604020202020204" pitchFamily="34" charset="0"/>
                <a:cs typeface="Arial" panose="020B0604020202020204" pitchFamily="34" charset="0"/>
                <a:sym typeface="+mn-ea"/>
              </a:rPr>
              <a:t>é</a:t>
            </a:r>
            <a:r>
              <a:rPr lang="en-US" altLang="es-ES">
                <a:latin typeface="Arial" panose="020B0604020202020204" pitchFamily="34" charset="0"/>
                <a:cs typeface="Arial" panose="020B0604020202020204" pitchFamily="34" charset="0"/>
                <a:sym typeface="+mn-ea"/>
              </a:rPr>
              <a:t>gico de los mercados, as</a:t>
            </a:r>
            <a:r>
              <a:rPr lang="en-US" altLang="en-US">
                <a:latin typeface="Arial" panose="020B0604020202020204" pitchFamily="34" charset="0"/>
                <a:cs typeface="Arial" panose="020B0604020202020204" pitchFamily="34" charset="0"/>
                <a:sym typeface="+mn-ea"/>
              </a:rPr>
              <a:t>í</a:t>
            </a:r>
            <a:r>
              <a:rPr lang="en-US" altLang="es-ES">
                <a:latin typeface="Arial" panose="020B0604020202020204" pitchFamily="34" charset="0"/>
                <a:cs typeface="Arial" panose="020B0604020202020204" pitchFamily="34" charset="0"/>
                <a:sym typeface="+mn-ea"/>
              </a:rPr>
              <a:t> como de un conjunto de t</a:t>
            </a:r>
            <a:r>
              <a:rPr lang="en-US" altLang="en-US">
                <a:latin typeface="Arial" panose="020B0604020202020204" pitchFamily="34" charset="0"/>
                <a:cs typeface="Arial" panose="020B0604020202020204" pitchFamily="34" charset="0"/>
                <a:sym typeface="+mn-ea"/>
              </a:rPr>
              <a:t>é</a:t>
            </a:r>
            <a:r>
              <a:rPr lang="en-US" altLang="es-ES">
                <a:latin typeface="Arial" panose="020B0604020202020204" pitchFamily="34" charset="0"/>
                <a:cs typeface="Arial" panose="020B0604020202020204" pitchFamily="34" charset="0"/>
                <a:sym typeface="+mn-ea"/>
              </a:rPr>
              <a:t>cnicas de comercializaci</a:t>
            </a:r>
            <a:r>
              <a:rPr lang="en-US" altLang="en-US">
                <a:latin typeface="Arial" panose="020B0604020202020204" pitchFamily="34" charset="0"/>
                <a:cs typeface="Arial" panose="020B0604020202020204" pitchFamily="34" charset="0"/>
                <a:sym typeface="+mn-ea"/>
              </a:rPr>
              <a:t>ó</a:t>
            </a:r>
            <a:r>
              <a:rPr lang="en-US" altLang="es-ES">
                <a:latin typeface="Arial" panose="020B0604020202020204" pitchFamily="34" charset="0"/>
                <a:cs typeface="Arial" panose="020B0604020202020204" pitchFamily="34" charset="0"/>
                <a:sym typeface="+mn-ea"/>
              </a:rPr>
              <a:t>n asociadas a la ejecuci</a:t>
            </a:r>
            <a:r>
              <a:rPr lang="en-US" altLang="en-US">
                <a:latin typeface="Arial" panose="020B0604020202020204" pitchFamily="34" charset="0"/>
                <a:cs typeface="Arial" panose="020B0604020202020204" pitchFamily="34" charset="0"/>
                <a:sym typeface="+mn-ea"/>
              </a:rPr>
              <a:t>ó</a:t>
            </a:r>
            <a:r>
              <a:rPr lang="en-US" altLang="es-ES">
                <a:latin typeface="Arial" panose="020B0604020202020204" pitchFamily="34" charset="0"/>
                <a:cs typeface="Arial" panose="020B0604020202020204" pitchFamily="34" charset="0"/>
                <a:sym typeface="+mn-ea"/>
              </a:rPr>
              <a:t>n de acciones de respuesta hacia los mercados”</a:t>
            </a:r>
            <a:endParaRPr lang="en-US" altLang="es-ES">
              <a:latin typeface="Arial" panose="020B0604020202020204" pitchFamily="34" charset="0"/>
              <a:cs typeface="Arial" panose="020B0604020202020204" pitchFamily="34" charset="0"/>
            </a:endParaRPr>
          </a:p>
          <a:p>
            <a:endParaRPr lang="en-US" altLang="es-ES">
              <a:latin typeface="Arial" panose="020B0604020202020204" pitchFamily="34" charset="0"/>
              <a:cs typeface="Arial" panose="020B0604020202020204" pitchFamily="34" charset="0"/>
            </a:endParaRPr>
          </a:p>
          <a:p>
            <a:r>
              <a:rPr lang="es-SV" altLang="en-US">
                <a:latin typeface="Arial" panose="020B0604020202020204" pitchFamily="34" charset="0"/>
                <a:cs typeface="Arial" panose="020B0604020202020204" pitchFamily="34" charset="0"/>
                <a:sym typeface="+mn-ea"/>
              </a:rPr>
              <a:t>Diferentes conceptos de marketing son.</a:t>
            </a:r>
            <a:endParaRPr lang="es-SV" altLang="en-US">
              <a:latin typeface="Arial" panose="020B0604020202020204" pitchFamily="34" charset="0"/>
              <a:cs typeface="Arial" panose="020B0604020202020204" pitchFamily="34" charset="0"/>
            </a:endParaRPr>
          </a:p>
          <a:p>
            <a:r>
              <a:rPr lang="es-SV" altLang="en-US" b="1">
                <a:latin typeface="Arial" panose="020B0604020202020204" pitchFamily="34" charset="0"/>
                <a:cs typeface="Arial" panose="020B0604020202020204" pitchFamily="34" charset="0"/>
                <a:sym typeface="+mn-ea"/>
              </a:rPr>
              <a:t> Mrkenting tradicional:</a:t>
            </a:r>
            <a:r>
              <a:rPr lang="es-SV" altLang="en-US">
                <a:latin typeface="Arial" panose="020B0604020202020204" pitchFamily="34" charset="0"/>
                <a:cs typeface="Arial" panose="020B0604020202020204" pitchFamily="34" charset="0"/>
                <a:sym typeface="+mn-ea"/>
              </a:rPr>
              <a:t> se basa en esrategias offline como anuncios en television,radio, prensa etc.</a:t>
            </a:r>
            <a:endParaRPr lang="es-SV" altLang="en-US">
              <a:latin typeface="Arial" panose="020B0604020202020204" pitchFamily="34" charset="0"/>
              <a:cs typeface="Arial" panose="020B0604020202020204" pitchFamily="34" charset="0"/>
            </a:endParaRPr>
          </a:p>
          <a:p>
            <a:r>
              <a:rPr lang="es-SV" altLang="en-US" b="1">
                <a:latin typeface="Arial" panose="020B0604020202020204" pitchFamily="34" charset="0"/>
                <a:cs typeface="Arial" panose="020B0604020202020204" pitchFamily="34" charset="0"/>
                <a:sym typeface="+mn-ea"/>
              </a:rPr>
              <a:t>markenting relacional: </a:t>
            </a:r>
            <a:r>
              <a:rPr lang="es-SV" altLang="en-US">
                <a:latin typeface="Arial" panose="020B0604020202020204" pitchFamily="34" charset="0"/>
                <a:cs typeface="Arial" panose="020B0604020202020204" pitchFamily="34" charset="0"/>
                <a:sym typeface="+mn-ea"/>
              </a:rPr>
              <a:t>se enfoca en construir relaciones a largo plazo con los clientes.</a:t>
            </a:r>
            <a:endParaRPr lang="es-SV" altLang="en-US">
              <a:latin typeface="Arial" panose="020B0604020202020204" pitchFamily="34" charset="0"/>
              <a:cs typeface="Arial" panose="020B0604020202020204" pitchFamily="34" charset="0"/>
            </a:endParaRPr>
          </a:p>
          <a:p>
            <a:r>
              <a:rPr lang="es-SV" altLang="en-US" b="1">
                <a:latin typeface="Arial" panose="020B0604020202020204" pitchFamily="34" charset="0"/>
                <a:cs typeface="Arial" panose="020B0604020202020204" pitchFamily="34" charset="0"/>
                <a:sym typeface="+mn-ea"/>
              </a:rPr>
              <a:t>Markenting Digital:</a:t>
            </a:r>
            <a:r>
              <a:rPr lang="es-SV" altLang="en-US">
                <a:latin typeface="Arial" panose="020B0604020202020204" pitchFamily="34" charset="0"/>
                <a:cs typeface="Arial" panose="020B0604020202020204" pitchFamily="34" charset="0"/>
                <a:sym typeface="+mn-ea"/>
              </a:rPr>
              <a:t> Utiliza canales digitales como redes sociales, sitios web, correo electronico y motores de busqueda.</a:t>
            </a:r>
            <a:endParaRPr lang="es-SV" altLang="en-US">
              <a:latin typeface="Arial" panose="020B0604020202020204" pitchFamily="34" charset="0"/>
              <a:cs typeface="Arial" panose="020B0604020202020204" pitchFamily="34" charset="0"/>
            </a:endParaRPr>
          </a:p>
          <a:p>
            <a:endParaRPr lang="es-SV" altLang="en-US">
              <a:latin typeface="Arial" panose="020B0604020202020204" pitchFamily="34" charset="0"/>
              <a:cs typeface="Arial" panose="020B0604020202020204" pitchFamily="34" charset="0"/>
            </a:endParaRPr>
          </a:p>
          <a:p>
            <a:endParaRPr lang="es-SV"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1000" b="-1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321560" y="1183640"/>
            <a:ext cx="7299960" cy="4665980"/>
          </a:xfrm>
          <a:prstGeom prst="rect">
            <a:avLst/>
          </a:prstGeom>
          <a:noFill/>
        </p:spPr>
        <p:txBody>
          <a:bodyPr wrap="square" rtlCol="0">
            <a:noAutofit/>
          </a:bodyPr>
          <a:lstStyle/>
          <a:p>
            <a:r>
              <a:rPr lang="es-SV" altLang="es-ES" sz="1600" b="1">
                <a:latin typeface="Arial" panose="020B0604020202020204" pitchFamily="34" charset="0"/>
                <a:cs typeface="Arial" panose="020B0604020202020204" pitchFamily="34" charset="0"/>
                <a:sym typeface="+mn-ea"/>
              </a:rPr>
              <a:t>Conceptos y funciones de venta según los autores </a:t>
            </a:r>
            <a:br>
              <a:rPr lang="es-SV" altLang="es-ES" sz="1600" b="1">
                <a:latin typeface="Arial" panose="020B0604020202020204" pitchFamily="34" charset="0"/>
                <a:cs typeface="Arial" panose="020B0604020202020204" pitchFamily="34" charset="0"/>
                <a:sym typeface="+mn-ea"/>
              </a:rPr>
            </a:br>
            <a:r>
              <a:rPr lang="es-SV" altLang="es-ES" sz="1600" b="1">
                <a:latin typeface="Arial" panose="020B0604020202020204" pitchFamily="34" charset="0"/>
                <a:cs typeface="Arial" panose="020B0604020202020204" pitchFamily="34" charset="0"/>
                <a:sym typeface="+mn-ea"/>
              </a:rPr>
              <a:t>Philip kotler, Laura Fischer y Jorge Espejo. </a:t>
            </a:r>
            <a:endParaRPr lang="es-SV" altLang="es-ES" sz="1600" b="1">
              <a:latin typeface="Arial" panose="020B0604020202020204" pitchFamily="34" charset="0"/>
              <a:cs typeface="Arial" panose="020B0604020202020204" pitchFamily="34" charset="0"/>
            </a:endParaRPr>
          </a:p>
          <a:p>
            <a:endParaRPr lang="es-SV" sz="1600" dirty="0">
              <a:latin typeface="Arial Black" panose="020B0A04020102020204" pitchFamily="34" charset="0"/>
            </a:endParaRPr>
          </a:p>
          <a:p>
            <a:r>
              <a:rPr lang="es-SV" altLang="en-US" b="1">
                <a:latin typeface="Arial" panose="020B0604020202020204" pitchFamily="34" charset="0"/>
                <a:cs typeface="Arial" panose="020B0604020202020204" pitchFamily="34" charset="0"/>
                <a:sym typeface="+mn-ea"/>
              </a:rPr>
              <a:t>P</a:t>
            </a:r>
            <a:r>
              <a:rPr lang="en-US" altLang="es-ES" b="1">
                <a:latin typeface="Arial" panose="020B0604020202020204" pitchFamily="34" charset="0"/>
                <a:cs typeface="Arial" panose="020B0604020202020204" pitchFamily="34" charset="0"/>
                <a:sym typeface="+mn-ea"/>
              </a:rPr>
              <a:t>hilip Kotler:</a:t>
            </a:r>
            <a:r>
              <a:rPr lang="es-SV" altLang="en-US" b="1">
                <a:latin typeface="Arial" panose="020B0604020202020204" pitchFamily="34" charset="0"/>
                <a:cs typeface="Arial" panose="020B0604020202020204" pitchFamily="34" charset="0"/>
                <a:sym typeface="+mn-ea"/>
              </a:rPr>
              <a:t>  </a:t>
            </a:r>
            <a:r>
              <a:rPr lang="es-SV" altLang="en-US">
                <a:latin typeface="Arial" panose="020B0604020202020204" pitchFamily="34" charset="0"/>
                <a:cs typeface="Arial" panose="020B0604020202020204" pitchFamily="34" charset="0"/>
                <a:sym typeface="+mn-ea"/>
              </a:rPr>
              <a:t>Kotler define las ventas como un proceso en el que el vendedor persuade al comprador para que adquiere un producto o servicio, satisfaciendo sus necesidades y generando valor para la empresa. Según kotler, la venta no es solo el acto de vender, sino parte de un enfoque más amplio dentro del markenting, donde la satisfacción del cliente es clave para lograr fidelizacón y rentabilidad. </a:t>
            </a:r>
            <a:r>
              <a:rPr lang="es-SV" altLang="en-US" b="1">
                <a:latin typeface="Arial" panose="020B0604020202020204" pitchFamily="34" charset="0"/>
                <a:cs typeface="Arial" panose="020B0604020202020204" pitchFamily="34" charset="0"/>
                <a:sym typeface="+mn-ea"/>
              </a:rPr>
              <a:t>  </a:t>
            </a:r>
            <a:endParaRPr lang="es-SV" altLang="en-US" b="1">
              <a:latin typeface="Arial" panose="020B0604020202020204" pitchFamily="34" charset="0"/>
              <a:cs typeface="Arial" panose="020B0604020202020204" pitchFamily="34" charset="0"/>
            </a:endParaRPr>
          </a:p>
          <a:p>
            <a:r>
              <a:rPr lang="es-SV" altLang="en-US" b="1">
                <a:latin typeface="Arial" panose="020B0604020202020204" pitchFamily="34" charset="0"/>
                <a:cs typeface="Arial" panose="020B0604020202020204" pitchFamily="34" charset="0"/>
                <a:sym typeface="+mn-ea"/>
              </a:rPr>
              <a:t>Funciones de ventas segun kotler.</a:t>
            </a:r>
            <a:endParaRPr lang="es-SV" altLang="en-US" b="1">
              <a:latin typeface="Arial" panose="020B0604020202020204" pitchFamily="34" charset="0"/>
              <a:cs typeface="Arial" panose="020B0604020202020204" pitchFamily="34" charset="0"/>
            </a:endParaRPr>
          </a:p>
          <a:p>
            <a:r>
              <a:rPr lang="es-SV" altLang="en-US" b="1">
                <a:latin typeface="Arial" panose="020B0604020202020204" pitchFamily="34" charset="0"/>
                <a:cs typeface="Arial" panose="020B0604020202020204" pitchFamily="34" charset="0"/>
                <a:sym typeface="+mn-ea"/>
              </a:rPr>
              <a:t>1. </a:t>
            </a:r>
            <a:r>
              <a:rPr lang="es-SV" altLang="en-US">
                <a:latin typeface="Arial" panose="020B0604020202020204" pitchFamily="34" charset="0"/>
                <a:cs typeface="Arial" panose="020B0604020202020204" pitchFamily="34" charset="0"/>
                <a:sym typeface="+mn-ea"/>
              </a:rPr>
              <a:t>Identificación de clientes potenciales (prospectos) </a:t>
            </a:r>
            <a:endParaRPr lang="es-SV" altLang="en-US">
              <a:latin typeface="Arial" panose="020B0604020202020204" pitchFamily="34" charset="0"/>
              <a:cs typeface="Arial" panose="020B0604020202020204" pitchFamily="34" charset="0"/>
            </a:endParaRPr>
          </a:p>
          <a:p>
            <a:r>
              <a:rPr lang="es-SV" altLang="en-US">
                <a:latin typeface="Arial" panose="020B0604020202020204" pitchFamily="34" charset="0"/>
                <a:cs typeface="Arial" panose="020B0604020202020204" pitchFamily="34" charset="0"/>
                <a:sym typeface="+mn-ea"/>
              </a:rPr>
              <a:t>2. comunicación y promoción del producto para generar interés. </a:t>
            </a:r>
            <a:endParaRPr lang="es-SV" altLang="en-US">
              <a:latin typeface="Arial" panose="020B0604020202020204" pitchFamily="34" charset="0"/>
              <a:cs typeface="Arial" panose="020B0604020202020204" pitchFamily="34" charset="0"/>
            </a:endParaRPr>
          </a:p>
          <a:p>
            <a:r>
              <a:rPr lang="es-SV" altLang="en-US">
                <a:latin typeface="Arial" panose="020B0604020202020204" pitchFamily="34" charset="0"/>
                <a:cs typeface="Arial" panose="020B0604020202020204" pitchFamily="34" charset="0"/>
                <a:sym typeface="+mn-ea"/>
              </a:rPr>
              <a:t>3. Negociación y persuasión para superar objeciones del cliente. </a:t>
            </a:r>
            <a:endParaRPr lang="es-SV" altLang="en-US">
              <a:latin typeface="Arial" panose="020B0604020202020204" pitchFamily="34" charset="0"/>
              <a:cs typeface="Arial" panose="020B0604020202020204" pitchFamily="34" charset="0"/>
            </a:endParaRPr>
          </a:p>
          <a:p>
            <a:r>
              <a:rPr lang="es-SV" altLang="en-US">
                <a:latin typeface="Arial" panose="020B0604020202020204" pitchFamily="34" charset="0"/>
                <a:cs typeface="Arial" panose="020B0604020202020204" pitchFamily="34" charset="0"/>
                <a:sym typeface="+mn-ea"/>
              </a:rPr>
              <a:t>4. cierre de la venta , logrando que el cliente realice la compra.</a:t>
            </a:r>
            <a:endParaRPr lang="es-SV" altLang="en-US">
              <a:latin typeface="Arial" panose="020B0604020202020204" pitchFamily="34" charset="0"/>
              <a:cs typeface="Arial" panose="020B0604020202020204" pitchFamily="34" charset="0"/>
            </a:endParaRPr>
          </a:p>
          <a:p>
            <a:r>
              <a:rPr lang="es-SV" altLang="en-US">
                <a:latin typeface="Arial" panose="020B0604020202020204" pitchFamily="34" charset="0"/>
                <a:cs typeface="Arial" panose="020B0604020202020204" pitchFamily="34" charset="0"/>
                <a:sym typeface="+mn-ea"/>
              </a:rPr>
              <a:t>5. seguimiento y fidelización, asegurando la sastifacción del cliente. </a:t>
            </a:r>
            <a:endParaRPr lang="es-SV" altLang="en-US" b="1">
              <a:latin typeface="Arial" panose="020B0604020202020204" pitchFamily="34" charset="0"/>
              <a:cs typeface="Arial" panose="020B0604020202020204" pitchFamily="34" charset="0"/>
            </a:endParaRPr>
          </a:p>
          <a:p>
            <a:endParaRPr lang="es-SV" altLang="en-US" b="1">
              <a:latin typeface="Arial" panose="020B0604020202020204" pitchFamily="34" charset="0"/>
              <a:cs typeface="Arial" panose="020B0604020202020204" pitchFamily="34" charset="0"/>
            </a:endParaRPr>
          </a:p>
          <a:p>
            <a:endParaRPr lang="es-SV" sz="1600" dirty="0">
              <a:latin typeface="Arial Black" panose="020B0A04020102020204" pitchFamily="34" charset="0"/>
            </a:endParaRPr>
          </a:p>
          <a:p>
            <a:r>
              <a:rPr lang="es-SV" sz="3600" dirty="0">
                <a:latin typeface="Arial Black" panose="020B0A04020102020204" pitchFamily="34" charset="0"/>
              </a:rPr>
              <a:t>  </a:t>
            </a:r>
            <a:endParaRPr lang="es-SV" sz="3600"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2823845" y="929005"/>
            <a:ext cx="7020560" cy="4960620"/>
          </a:xfrm>
          <a:prstGeom prst="rect">
            <a:avLst/>
          </a:prstGeom>
          <a:noFill/>
        </p:spPr>
        <p:txBody>
          <a:bodyPr wrap="square" rtlCol="0">
            <a:noAutofit/>
          </a:bodyPr>
          <a:lstStyle/>
          <a:p>
            <a:r>
              <a:rPr lang="es-SV" altLang="es-ES" sz="2000" b="1">
                <a:sym typeface="+mn-ea"/>
              </a:rPr>
              <a:t>Jorge Espejo define la venta como un proceso de intercambio en el que el vendedor ofrece valor al cliente a cambio de una compensación económica. resalta la importancia de la comunicación efectiva y el conocimiento del producto en la negociación.</a:t>
            </a:r>
            <a:endParaRPr lang="es-SV" altLang="es-ES" sz="2000" b="1"/>
          </a:p>
          <a:p>
            <a:endParaRPr lang="es-SV" altLang="es-ES" sz="2000" b="1"/>
          </a:p>
          <a:p>
            <a:r>
              <a:rPr lang="es-SV" altLang="es-ES" sz="2000" b="1">
                <a:sym typeface="+mn-ea"/>
              </a:rPr>
              <a:t>Funciones de venta según Jorge Espejo</a:t>
            </a:r>
            <a:endParaRPr lang="es-SV" altLang="es-ES" sz="2000" b="1"/>
          </a:p>
          <a:p>
            <a:endParaRPr lang="es-SV" altLang="es-ES" sz="2000" b="1"/>
          </a:p>
          <a:p>
            <a:pPr marL="0" indent="0">
              <a:buNone/>
            </a:pPr>
            <a:r>
              <a:rPr lang="es-SV" altLang="es-ES" sz="2000" b="1">
                <a:sym typeface="+mn-ea"/>
              </a:rPr>
              <a:t>1. prospección de clientes para identificar oportunidades de venta.</a:t>
            </a:r>
            <a:endParaRPr lang="es-SV" altLang="es-ES" sz="2000" b="1"/>
          </a:p>
          <a:p>
            <a:pPr marL="0" indent="0">
              <a:buNone/>
            </a:pPr>
            <a:r>
              <a:rPr lang="es-SV" altLang="es-ES" sz="2000" b="1">
                <a:sym typeface="+mn-ea"/>
              </a:rPr>
              <a:t>2.Presentacion efectiva del producto destacando sus beneficios. </a:t>
            </a:r>
            <a:endParaRPr lang="es-SV" altLang="es-ES" sz="2000" b="1"/>
          </a:p>
          <a:p>
            <a:pPr marL="0" indent="0">
              <a:buNone/>
            </a:pPr>
            <a:r>
              <a:rPr lang="es-SV" altLang="es-ES" sz="2000" b="1">
                <a:sym typeface="+mn-ea"/>
              </a:rPr>
              <a:t>3. Manejo de objeciones para resolver dudas y superar barreras de compra.</a:t>
            </a:r>
            <a:endParaRPr lang="es-SV" altLang="es-ES" sz="2000" b="1"/>
          </a:p>
          <a:p>
            <a:pPr marL="0" indent="0">
              <a:buNone/>
            </a:pPr>
            <a:r>
              <a:rPr lang="es-SV" altLang="es-ES" sz="2000" b="1">
                <a:sym typeface="+mn-ea"/>
              </a:rPr>
              <a:t>4. cierre de la venta para lograr que el cliente tome la decisión.</a:t>
            </a:r>
            <a:endParaRPr lang="es-SV" altLang="es-ES" sz="2000" b="1"/>
          </a:p>
          <a:p>
            <a:pPr marL="0" indent="0">
              <a:buNone/>
            </a:pPr>
            <a:r>
              <a:rPr lang="es-SV" altLang="es-ES" sz="2000" b="1">
                <a:sym typeface="+mn-ea"/>
              </a:rPr>
              <a:t>5. Seguimiento y fedelización para mantener una relación con el cliente. </a:t>
            </a:r>
            <a:endParaRPr lang="es-SV" sz="2000" b="1"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21330" y="1161415"/>
            <a:ext cx="7020560" cy="4960620"/>
          </a:xfrm>
          <a:prstGeom prst="rect">
            <a:avLst/>
          </a:prstGeom>
          <a:noFill/>
        </p:spPr>
        <p:txBody>
          <a:bodyPr wrap="square" rtlCol="0">
            <a:noAutofit/>
          </a:bodyPr>
          <a:lstStyle/>
          <a:p>
            <a:pPr marL="0" indent="0">
              <a:buNone/>
            </a:pPr>
            <a:r>
              <a:rPr lang="es-SV" altLang="en-US" sz="1600">
                <a:latin typeface="Arial" panose="020B0604020202020204" pitchFamily="34" charset="0"/>
                <a:cs typeface="Arial" panose="020B0604020202020204" pitchFamily="34" charset="0"/>
                <a:sym typeface="+mn-ea"/>
              </a:rPr>
              <a:t>Laura fischer definen las ventas como el proceso estratégico en el que se aplica tecnicas y herramientas para convencer al cliente de realizar una compra. para ella, las ventas forman parte de la mercadotecnia. La cual un producto o servicio es intercambiado por dinero, con el objetivo de satisfacer necesidades de consumidor y generar ingresos para la empresa. Destacan que las ventas deben basarse en el conocimiento del mercado, el cliente y la competencia para ser efectivas.</a:t>
            </a:r>
            <a:endParaRPr lang="es-SV" altLang="en-US" sz="1600">
              <a:latin typeface="Arial" panose="020B0604020202020204" pitchFamily="34" charset="0"/>
              <a:cs typeface="Arial" panose="020B0604020202020204" pitchFamily="34" charset="0"/>
              <a:sym typeface="+mn-ea"/>
            </a:endParaRPr>
          </a:p>
          <a:p>
            <a:pPr marL="0" indent="0">
              <a:buNone/>
            </a:pP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Funciones de ventas segun laura fischer.</a:t>
            </a:r>
            <a:endParaRPr lang="es-SV" altLang="en-US" sz="1600">
              <a:latin typeface="Arial" panose="020B0604020202020204" pitchFamily="34" charset="0"/>
              <a:cs typeface="Arial" panose="020B0604020202020204" pitchFamily="34" charset="0"/>
              <a:sym typeface="+mn-ea"/>
            </a:endParaRPr>
          </a:p>
          <a:p>
            <a:pPr marL="0" indent="0">
              <a:buNone/>
            </a:pP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1. Analisis del mercado y segmentacion para conocer a los clientes ideales.</a:t>
            </a: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2. Diseño de estrategias de ventas para atraer comprovadores. </a:t>
            </a: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3. interacción con el cliente para presentar el producto y responder deudas.</a:t>
            </a: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4 Negociación y cierre de la venta para concretar la compra.</a:t>
            </a:r>
            <a:endParaRPr lang="es-SV" altLang="en-US" sz="1600">
              <a:latin typeface="Arial" panose="020B0604020202020204" pitchFamily="34" charset="0"/>
              <a:cs typeface="Arial" panose="020B0604020202020204" pitchFamily="34" charset="0"/>
              <a:sym typeface="+mn-ea"/>
            </a:endParaRPr>
          </a:p>
          <a:p>
            <a:pPr marL="0" indent="0">
              <a:buNone/>
            </a:pPr>
            <a:r>
              <a:rPr lang="es-SV" altLang="en-US" sz="1600">
                <a:latin typeface="Arial" panose="020B0604020202020204" pitchFamily="34" charset="0"/>
                <a:cs typeface="Arial" panose="020B0604020202020204" pitchFamily="34" charset="0"/>
                <a:sym typeface="+mn-ea"/>
              </a:rPr>
              <a:t>5. servicio postventa para  garanizar la sastifacción y fidelizar al cliente. </a:t>
            </a:r>
            <a:endParaRPr lang="es-SV" altLang="en-US" sz="1600">
              <a:latin typeface="Arial" panose="020B0604020202020204" pitchFamily="34" charset="0"/>
              <a:cs typeface="Arial" panose="020B0604020202020204" pitchFamily="34" charset="0"/>
              <a:sym typeface="+mn-ea"/>
            </a:endParaRPr>
          </a:p>
          <a:p>
            <a:pPr marL="0" indent="0">
              <a:buNone/>
            </a:pPr>
            <a:endParaRPr lang="en-US" altLang="es-ES" sz="2000">
              <a:latin typeface="Arial" panose="020B0604020202020204" pitchFamily="34" charset="0"/>
              <a:cs typeface="Arial" panose="020B0604020202020204" pitchFamily="34" charset="0"/>
            </a:endParaRPr>
          </a:p>
          <a:p>
            <a:endParaRPr lang="es-SV" sz="2000" b="1"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t="-5000" b="-5000"/>
          </a:stretch>
        </a:blipFill>
        <a:effectLst/>
      </p:bgPr>
    </p:bg>
    <p:spTree>
      <p:nvGrpSpPr>
        <p:cNvPr id="1" name=""/>
        <p:cNvGrpSpPr/>
        <p:nvPr/>
      </p:nvGrpSpPr>
      <p:grpSpPr>
        <a:xfrm>
          <a:off x="0" y="0"/>
          <a:ext cx="0" cy="0"/>
          <a:chOff x="0" y="0"/>
          <a:chExt cx="0" cy="0"/>
        </a:xfrm>
      </p:grpSpPr>
      <p:sp>
        <p:nvSpPr>
          <p:cNvPr id="4" name="Rectángulo: esquinas redondeadas 3"/>
          <p:cNvSpPr/>
          <p:nvPr/>
        </p:nvSpPr>
        <p:spPr>
          <a:xfrm>
            <a:off x="1302327" y="824345"/>
            <a:ext cx="9130146" cy="5209309"/>
          </a:xfrm>
          <a:prstGeom prst="roundRect">
            <a:avLst/>
          </a:prstGeom>
          <a:solidFill>
            <a:schemeClr val="bg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SV" dirty="0"/>
          </a:p>
        </p:txBody>
      </p:sp>
      <p:sp>
        <p:nvSpPr>
          <p:cNvPr id="12" name="CuadroTexto 11"/>
          <p:cNvSpPr txBox="1"/>
          <p:nvPr/>
        </p:nvSpPr>
        <p:spPr>
          <a:xfrm>
            <a:off x="3054353" y="1771586"/>
            <a:ext cx="6567054" cy="3784600"/>
          </a:xfrm>
          <a:prstGeom prst="rect">
            <a:avLst/>
          </a:prstGeom>
          <a:noFill/>
        </p:spPr>
        <p:txBody>
          <a:bodyPr wrap="square" rtlCol="0">
            <a:spAutoFit/>
          </a:bodyPr>
          <a:lstStyle/>
          <a:p>
            <a:r>
              <a:rPr lang="es-SV" altLang="es-ES" sz="3600" b="1">
                <a:sym typeface="+mn-ea"/>
              </a:rPr>
              <a:t>Conclusión</a:t>
            </a:r>
            <a:endParaRPr lang="es-SV" altLang="es-ES" sz="3600" b="1">
              <a:sym typeface="+mn-ea"/>
            </a:endParaRPr>
          </a:p>
          <a:p>
            <a:r>
              <a:rPr lang="es-SV" altLang="es-ES" sz="3600" b="1">
                <a:sym typeface="+mn-ea"/>
              </a:rPr>
              <a:t>L</a:t>
            </a:r>
            <a:r>
              <a:rPr lang="es-SV" altLang="es-ES" sz="2800" b="1">
                <a:sym typeface="+mn-ea"/>
              </a:rPr>
              <a:t>as ventas no solo cumplen la función de generar ingresos para una empresa si no que tambien son una estrategia clave para el crecimiento y posicionamiento en el mercado. Su éxito depende de la compresión del cliente, la creación de valor y el establecimento de relaciones sólidas.</a:t>
            </a:r>
            <a:endParaRPr lang="es-SV" sz="2800" b="1" dirty="0">
              <a:latin typeface="Arial Black" panose="020B0A04020102020204" pitchFamily="34" charset="0"/>
            </a:endParaRPr>
          </a:p>
        </p:txBody>
      </p:sp>
      <p:pic>
        <p:nvPicPr>
          <p:cNvPr id="3" name="Gráfico 2" descr="Dólar con relleno sólido"/>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2029" y="3089971"/>
            <a:ext cx="1911854" cy="191185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8099</Words>
  <Application>WPS Presentation</Application>
  <PresentationFormat>Panorámica</PresentationFormat>
  <Paragraphs>144</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Arial Rounded MT Bold</vt:lpstr>
      <vt:lpstr>Arial Black</vt:lpstr>
      <vt:lpstr>Calibri</vt:lpstr>
      <vt:lpstr>Microsoft YaHei</vt:lpstr>
      <vt:lpstr>Arial Unicode MS</vt:lpstr>
      <vt:lpstr>Calibri Light</vt:lpstr>
      <vt:lpstr>Tema de 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Marvin</dc:creator>
  <cp:lastModifiedBy>MINEDUCYT</cp:lastModifiedBy>
  <cp:revision>5</cp:revision>
  <dcterms:created xsi:type="dcterms:W3CDTF">2025-03-15T13:22:00Z</dcterms:created>
  <dcterms:modified xsi:type="dcterms:W3CDTF">2025-03-19T00:00:31Z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87131447139B42C9A60322DC75689F21_13</vt:lpwstr>
  </property>
  <property fmtid="{D5CDD505-2E9C-101B-9397-08002B2CF9AE}" pid="3" name="KSOProductBuildVer">
    <vt:lpwstr>3082-12.2.0.20326</vt:lpwstr>
  </property>
</Properties>
</file>