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7" r:id="rId2"/>
    <p:sldId id="308" r:id="rId3"/>
    <p:sldId id="260" r:id="rId4"/>
    <p:sldId id="258" r:id="rId5"/>
    <p:sldId id="278" r:id="rId6"/>
    <p:sldId id="276" r:id="rId7"/>
    <p:sldId id="279" r:id="rId8"/>
    <p:sldId id="275" r:id="rId9"/>
    <p:sldId id="277" r:id="rId10"/>
    <p:sldId id="265" r:id="rId11"/>
    <p:sldId id="269" r:id="rId12"/>
    <p:sldId id="280" r:id="rId13"/>
    <p:sldId id="281" r:id="rId14"/>
    <p:sldId id="282" r:id="rId15"/>
    <p:sldId id="283" r:id="rId16"/>
    <p:sldId id="287" r:id="rId17"/>
    <p:sldId id="284" r:id="rId18"/>
    <p:sldId id="285" r:id="rId19"/>
    <p:sldId id="286" r:id="rId20"/>
    <p:sldId id="288" r:id="rId21"/>
    <p:sldId id="293" r:id="rId22"/>
    <p:sldId id="290" r:id="rId23"/>
    <p:sldId id="292" r:id="rId24"/>
    <p:sldId id="291" r:id="rId25"/>
    <p:sldId id="294" r:id="rId26"/>
    <p:sldId id="296" r:id="rId27"/>
    <p:sldId id="297" r:id="rId28"/>
    <p:sldId id="298" r:id="rId29"/>
    <p:sldId id="295" r:id="rId30"/>
    <p:sldId id="299" r:id="rId31"/>
    <p:sldId id="307" r:id="rId32"/>
    <p:sldId id="300" r:id="rId33"/>
    <p:sldId id="305" r:id="rId34"/>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206" autoAdjust="0"/>
  </p:normalViewPr>
  <p:slideViewPr>
    <p:cSldViewPr snapToGrid="0">
      <p:cViewPr varScale="1">
        <p:scale>
          <a:sx n="67" d="100"/>
          <a:sy n="67" d="100"/>
        </p:scale>
        <p:origin x="774"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289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BE13071-8EFD-C30B-06A9-CF7E20EAD8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a:extLst>
              <a:ext uri="{FF2B5EF4-FFF2-40B4-BE49-F238E27FC236}">
                <a16:creationId xmlns:a16="http://schemas.microsoft.com/office/drawing/2014/main" id="{8DA8E680-46A5-6379-23EA-1FA15489AA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52B18A-6795-487A-AF82-363F722F3001}" type="datetimeFigureOut">
              <a:rPr lang="es-SV" smtClean="0"/>
              <a:t>12/3/2025</a:t>
            </a:fld>
            <a:endParaRPr lang="es-SV"/>
          </a:p>
        </p:txBody>
      </p:sp>
      <p:sp>
        <p:nvSpPr>
          <p:cNvPr id="4" name="Marcador de pie de página 3">
            <a:extLst>
              <a:ext uri="{FF2B5EF4-FFF2-40B4-BE49-F238E27FC236}">
                <a16:creationId xmlns:a16="http://schemas.microsoft.com/office/drawing/2014/main" id="{CC210D26-284F-44AD-96D1-FA88CE95A8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5" name="Marcador de número de diapositiva 4">
            <a:extLst>
              <a:ext uri="{FF2B5EF4-FFF2-40B4-BE49-F238E27FC236}">
                <a16:creationId xmlns:a16="http://schemas.microsoft.com/office/drawing/2014/main" id="{4DC55D67-6DCC-6CE8-0E86-EF0A35169C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D586C-6A94-4C53-B3FF-209633C8C207}" type="slidenum">
              <a:rPr lang="es-SV" smtClean="0"/>
              <a:t>‹Nº›</a:t>
            </a:fld>
            <a:endParaRPr lang="es-SV"/>
          </a:p>
        </p:txBody>
      </p:sp>
    </p:spTree>
    <p:extLst>
      <p:ext uri="{BB962C8B-B14F-4D97-AF65-F5344CB8AC3E}">
        <p14:creationId xmlns:p14="http://schemas.microsoft.com/office/powerpoint/2010/main" val="11185826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B99256-D4A7-4DAC-B52C-336F50EE3648}" type="datetimeFigureOut">
              <a:rPr lang="es-SV" smtClean="0"/>
              <a:t>12/3/2025</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1EA73-7CE2-4476-8E5A-10B1274D1FB2}" type="slidenum">
              <a:rPr lang="es-SV" smtClean="0"/>
              <a:t>‹Nº›</a:t>
            </a:fld>
            <a:endParaRPr lang="es-SV"/>
          </a:p>
        </p:txBody>
      </p:sp>
    </p:spTree>
    <p:extLst>
      <p:ext uri="{BB962C8B-B14F-4D97-AF65-F5344CB8AC3E}">
        <p14:creationId xmlns:p14="http://schemas.microsoft.com/office/powerpoint/2010/main" val="1942681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FDADD5D-EB8F-D15B-737B-5000834155C3}"/>
              </a:ext>
            </a:extLst>
          </p:cNvPr>
          <p:cNvSpPr txBox="1"/>
          <p:nvPr userDrawn="1"/>
        </p:nvSpPr>
        <p:spPr>
          <a:xfrm>
            <a:off x="1920520" y="673967"/>
            <a:ext cx="10014857" cy="2862322"/>
          </a:xfrm>
          <a:prstGeom prst="rect">
            <a:avLst/>
          </a:prstGeom>
          <a:noFill/>
        </p:spPr>
        <p:txBody>
          <a:bodyPr wrap="square" rtlCol="0">
            <a:spAutoFit/>
          </a:bodyPr>
          <a:lstStyle/>
          <a:p>
            <a:r>
              <a:rPr lang="es-SV" sz="6000" dirty="0"/>
              <a:t>DEFINICIÓN Y TIPOS DE INVESTIGACIÓN DE  MERCADOS </a:t>
            </a:r>
          </a:p>
        </p:txBody>
      </p:sp>
      <p:sp>
        <p:nvSpPr>
          <p:cNvPr id="8" name="CuadroTexto 7">
            <a:extLst>
              <a:ext uri="{FF2B5EF4-FFF2-40B4-BE49-F238E27FC236}">
                <a16:creationId xmlns:a16="http://schemas.microsoft.com/office/drawing/2014/main" id="{9E966372-1266-1180-E962-7BBC0D46A2F0}"/>
              </a:ext>
            </a:extLst>
          </p:cNvPr>
          <p:cNvSpPr txBox="1"/>
          <p:nvPr userDrawn="1"/>
        </p:nvSpPr>
        <p:spPr>
          <a:xfrm>
            <a:off x="1725328" y="3438939"/>
            <a:ext cx="9467928" cy="3683829"/>
          </a:xfrm>
          <a:prstGeom prst="rect">
            <a:avLst/>
          </a:prstGeom>
          <a:noFill/>
        </p:spPr>
        <p:txBody>
          <a:bodyPr wrap="square" rtlCol="0">
            <a:spAutoFit/>
          </a:bodyPr>
          <a:lstStyle/>
          <a:p>
            <a:pPr lvl="0"/>
            <a:r>
              <a:rPr lang="es-ES" sz="2400" dirty="0">
                <a:solidFill>
                  <a:schemeClr val="accent3">
                    <a:lumMod val="75000"/>
                  </a:schemeClr>
                </a:solidFill>
              </a:rPr>
              <a:t>DOCENTE: DORA ALICIA LÓPEZ </a:t>
            </a:r>
          </a:p>
          <a:p>
            <a:pPr lvl="0"/>
            <a:r>
              <a:rPr lang="es-ES" sz="2400" dirty="0">
                <a:solidFill>
                  <a:schemeClr val="accent3">
                    <a:lumMod val="75000"/>
                  </a:schemeClr>
                </a:solidFill>
              </a:rPr>
              <a:t> REPRESENTANTE DEL GRUPO: CYNTHIA MICHELLE MIRANDA </a:t>
            </a:r>
          </a:p>
          <a:p>
            <a:pPr>
              <a:lnSpc>
                <a:spcPct val="107000"/>
              </a:lnSpc>
              <a:spcAft>
                <a:spcPts val="800"/>
              </a:spcAft>
            </a:pPr>
            <a:r>
              <a:rPr lang="es-ES" sz="2400" dirty="0">
                <a:solidFill>
                  <a:schemeClr val="accent3">
                    <a:lumMod val="75000"/>
                  </a:schemeClr>
                </a:solidFill>
              </a:rPr>
              <a:t>				</a:t>
            </a:r>
            <a:r>
              <a:rPr lang="es-SV" sz="2400" kern="100" dirty="0">
                <a:effectLst/>
                <a:latin typeface="+mn-lt"/>
                <a:ea typeface="Calibri" panose="020F0502020204030204" pitchFamily="34" charset="0"/>
                <a:cs typeface="Times New Roman" panose="02020603050405020304" pitchFamily="18" charset="0"/>
              </a:rPr>
              <a:t> </a:t>
            </a:r>
            <a:r>
              <a:rPr lang="es-SV" sz="2400" kern="100" dirty="0">
                <a:solidFill>
                  <a:schemeClr val="accent3">
                    <a:lumMod val="75000"/>
                  </a:schemeClr>
                </a:solidFill>
                <a:effectLst/>
                <a:latin typeface="+mn-lt"/>
                <a:ea typeface="Calibri" panose="020F0502020204030204" pitchFamily="34" charset="0"/>
                <a:cs typeface="Times New Roman" panose="02020603050405020304" pitchFamily="18" charset="0"/>
              </a:rPr>
              <a:t>WENDY VANESSA LANDAVERDE </a:t>
            </a:r>
          </a:p>
          <a:p>
            <a:pPr>
              <a:lnSpc>
                <a:spcPct val="107000"/>
              </a:lnSpc>
              <a:spcAft>
                <a:spcPts val="800"/>
              </a:spcAft>
            </a:pPr>
            <a:r>
              <a:rPr lang="es-SV"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SV" sz="2400" kern="100" dirty="0">
                <a:solidFill>
                  <a:schemeClr val="accent3">
                    <a:lumMod val="75000"/>
                  </a:schemeClr>
                </a:solidFill>
                <a:effectLst/>
                <a:latin typeface="+mn-lt"/>
                <a:ea typeface="Calibri" panose="020F0502020204030204" pitchFamily="34" charset="0"/>
                <a:cs typeface="Times New Roman" panose="02020603050405020304" pitchFamily="18" charset="0"/>
              </a:rPr>
              <a:t>CLAUDIA YESSENIA VÁSQUEZ</a:t>
            </a:r>
          </a:p>
          <a:p>
            <a:pPr>
              <a:lnSpc>
                <a:spcPct val="107000"/>
              </a:lnSpc>
              <a:spcAft>
                <a:spcPts val="800"/>
              </a:spcAft>
            </a:pPr>
            <a:r>
              <a:rPr lang="es-SV" sz="2400" kern="100" dirty="0">
                <a:solidFill>
                  <a:schemeClr val="accent3">
                    <a:lumMod val="75000"/>
                  </a:schemeClr>
                </a:solidFill>
                <a:effectLst/>
                <a:latin typeface="+mn-lt"/>
                <a:ea typeface="Calibri" panose="020F0502020204030204" pitchFamily="34" charset="0"/>
                <a:cs typeface="Times New Roman" panose="02020603050405020304" pitchFamily="18" charset="0"/>
              </a:rPr>
              <a:t>				MARCELA ELIZABETH ORTIZ </a:t>
            </a:r>
          </a:p>
          <a:p>
            <a:pPr>
              <a:lnSpc>
                <a:spcPct val="107000"/>
              </a:lnSpc>
              <a:spcAft>
                <a:spcPts val="800"/>
              </a:spcAft>
            </a:pPr>
            <a:r>
              <a:rPr lang="es-SV" sz="2400" kern="100" dirty="0">
                <a:solidFill>
                  <a:schemeClr val="accent3">
                    <a:lumMod val="75000"/>
                  </a:schemeClr>
                </a:solidFill>
                <a:effectLst/>
                <a:latin typeface="+mn-lt"/>
                <a:ea typeface="Calibri" panose="020F0502020204030204" pitchFamily="34" charset="0"/>
                <a:cs typeface="Times New Roman" panose="02020603050405020304" pitchFamily="18" charset="0"/>
              </a:rPr>
              <a:t>				AMY ZULEYMA MARTÍNEZ  </a:t>
            </a:r>
          </a:p>
          <a:p>
            <a:r>
              <a:rPr lang="es-SV" sz="2400" dirty="0">
                <a:solidFill>
                  <a:schemeClr val="accent3">
                    <a:lumMod val="75000"/>
                  </a:schemeClr>
                </a:solidFill>
                <a:effectLst/>
                <a:latin typeface="+mn-lt"/>
                <a:ea typeface="Calibri" panose="020F0502020204030204" pitchFamily="34" charset="0"/>
                <a:cs typeface="Times New Roman" panose="02020603050405020304" pitchFamily="18" charset="0"/>
              </a:rPr>
              <a:t> 				AMÉRICA YAMILETH GUZMÁN</a:t>
            </a:r>
            <a:r>
              <a:rPr lang="es-SV" sz="1800" dirty="0">
                <a:effectLst/>
                <a:latin typeface="Calibri" panose="020F0502020204030204" pitchFamily="34" charset="0"/>
                <a:ea typeface="Calibri" panose="020F0502020204030204" pitchFamily="34" charset="0"/>
                <a:cs typeface="Times New Roman" panose="02020603050405020304" pitchFamily="18" charset="0"/>
              </a:rPr>
              <a:t> </a:t>
            </a:r>
            <a:r>
              <a:rPr lang="es-ES" sz="2400" dirty="0">
                <a:solidFill>
                  <a:schemeClr val="accent3">
                    <a:lumMod val="75000"/>
                  </a:schemeClr>
                </a:solidFill>
              </a:rPr>
              <a:t> </a:t>
            </a:r>
          </a:p>
          <a:p>
            <a:endParaRPr lang="es-SV" sz="3200" dirty="0">
              <a:solidFill>
                <a:schemeClr val="accent3">
                  <a:lumMod val="75000"/>
                </a:schemeClr>
              </a:solidFill>
            </a:endParaRPr>
          </a:p>
        </p:txBody>
      </p:sp>
    </p:spTree>
    <p:extLst>
      <p:ext uri="{BB962C8B-B14F-4D97-AF65-F5344CB8AC3E}">
        <p14:creationId xmlns:p14="http://schemas.microsoft.com/office/powerpoint/2010/main" val="16272441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199DF-CA55-BF5C-067D-123A55268461}"/>
              </a:ext>
            </a:extLst>
          </p:cNvPr>
          <p:cNvSpPr>
            <a:spLocks noGrp="1"/>
          </p:cNvSpPr>
          <p:nvPr>
            <p:ph type="ctrTitle" hasCustomPrompt="1"/>
          </p:nvPr>
        </p:nvSpPr>
        <p:spPr>
          <a:xfrm>
            <a:off x="1234826" y="1768890"/>
            <a:ext cx="9144000" cy="2387600"/>
          </a:xfrm>
          <a:prstGeom prst="rect">
            <a:avLst/>
          </a:prstGeom>
        </p:spPr>
        <p:txBody>
          <a:bodyPr anchor="b"/>
          <a:lstStyle>
            <a:lvl1pPr algn="ctr">
              <a:defRPr sz="6000" baseline="0">
                <a:latin typeface="+mn-lt"/>
              </a:defRPr>
            </a:lvl1pPr>
          </a:lstStyle>
          <a:p>
            <a:r>
              <a:rPr lang="es-SV" dirty="0"/>
              <a:t>DEFINICIÓN DE MERCADO</a:t>
            </a:r>
          </a:p>
        </p:txBody>
      </p:sp>
    </p:spTree>
    <p:extLst>
      <p:ext uri="{BB962C8B-B14F-4D97-AF65-F5344CB8AC3E}">
        <p14:creationId xmlns:p14="http://schemas.microsoft.com/office/powerpoint/2010/main" val="17442496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3" nodeType="withEffect">
                                  <p:stCondLst>
                                    <p:cond delay="0"/>
                                  </p:stCondLst>
                                  <p:childTnLst>
                                    <p:animMotion origin="layout" path="M -1.02995 0.02917 L 2.08333E-7 -3.7037E-7 " pathEditMode="relative" rAng="0" ptsTypes="AA">
                                      <p:cBhvr>
                                        <p:cTn id="6" dur="5000" fill="hold"/>
                                        <p:tgtEl>
                                          <p:spTgt spid="2"/>
                                        </p:tgtEl>
                                        <p:attrNameLst>
                                          <p:attrName>ppt_x</p:attrName>
                                          <p:attrName>ppt_y</p:attrName>
                                        </p:attrNameLst>
                                      </p:cBhvr>
                                      <p:rCtr x="51745" y="-26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3"/>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8C4A60D7-6F44-6B87-57BE-8A9D039633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3339" y="-781878"/>
            <a:ext cx="12920869" cy="7925336"/>
          </a:xfrm>
          <a:prstGeom prst="rect">
            <a:avLst/>
          </a:prstGeom>
        </p:spPr>
      </p:pic>
      <p:sp>
        <p:nvSpPr>
          <p:cNvPr id="7" name="CuadroTexto 6">
            <a:extLst>
              <a:ext uri="{FF2B5EF4-FFF2-40B4-BE49-F238E27FC236}">
                <a16:creationId xmlns:a16="http://schemas.microsoft.com/office/drawing/2014/main" id="{6521E2FA-6DB0-733E-8756-6209A88304AF}"/>
              </a:ext>
            </a:extLst>
          </p:cNvPr>
          <p:cNvSpPr txBox="1"/>
          <p:nvPr userDrawn="1"/>
        </p:nvSpPr>
        <p:spPr>
          <a:xfrm>
            <a:off x="1955800" y="733442"/>
            <a:ext cx="4368800" cy="5511509"/>
          </a:xfrm>
          <a:prstGeom prst="rect">
            <a:avLst/>
          </a:prstGeom>
          <a:noFill/>
        </p:spPr>
        <p:txBody>
          <a:bodyPr wrap="square" rtlCol="0">
            <a:spAutoFit/>
          </a:bodyPr>
          <a:lstStyle/>
          <a:p>
            <a:pPr algn="just">
              <a:lnSpc>
                <a:spcPct val="107000"/>
              </a:lnSpc>
              <a:spcAft>
                <a:spcPts val="800"/>
              </a:spcAft>
            </a:pPr>
            <a:r>
              <a:rPr lang="es-SV" sz="2400" kern="100" dirty="0">
                <a:effectLst/>
                <a:latin typeface="Arial" panose="020B0604020202020204" pitchFamily="34" charset="0"/>
                <a:ea typeface="Calibri" panose="020F0502020204030204" pitchFamily="34" charset="0"/>
                <a:cs typeface="Times New Roman" panose="02020603050405020304" pitchFamily="18" charset="0"/>
              </a:rPr>
              <a:t>El mercado hace referencia al sistema por el que se intercambian bienes y servicios en una economía. Para que exista el mercado, deben intervenir dos figuras: compradores y vendedores.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lang="es-SV" sz="2400" kern="100" dirty="0">
                <a:effectLst/>
                <a:latin typeface="Arial" panose="020B0604020202020204" pitchFamily="34" charset="0"/>
                <a:ea typeface="Calibri" panose="020F0502020204030204" pitchFamily="34" charset="0"/>
                <a:cs typeface="Times New Roman" panose="02020603050405020304" pitchFamily="18" charset="0"/>
              </a:rPr>
              <a:t>El mercado se define como "El conjunto de compradores reales y potenciales de un producto o servicio."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SV" sz="2400" dirty="0"/>
          </a:p>
        </p:txBody>
      </p:sp>
      <p:pic>
        <p:nvPicPr>
          <p:cNvPr id="2050" name="Picture 2" descr="Most popular funds, shares and investment trusts of 2021 - MoneyMagpie">
            <a:extLst>
              <a:ext uri="{FF2B5EF4-FFF2-40B4-BE49-F238E27FC236}">
                <a16:creationId xmlns:a16="http://schemas.microsoft.com/office/drawing/2014/main" id="{75C10969-196C-F92F-EA49-7BBBBD2AE2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29716" y="3240314"/>
            <a:ext cx="3862613" cy="3187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1881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4B68487-4E60-70A3-59E4-D2908C24F0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137160"/>
            <a:ext cx="12923520" cy="7357707"/>
          </a:xfrm>
          <a:prstGeom prst="rect">
            <a:avLst/>
          </a:prstGeom>
        </p:spPr>
      </p:pic>
      <p:sp>
        <p:nvSpPr>
          <p:cNvPr id="6" name="CuadroTexto 5">
            <a:extLst>
              <a:ext uri="{FF2B5EF4-FFF2-40B4-BE49-F238E27FC236}">
                <a16:creationId xmlns:a16="http://schemas.microsoft.com/office/drawing/2014/main" id="{CFE28CB3-2EB6-5DCC-94A6-A92F90F41E84}"/>
              </a:ext>
            </a:extLst>
          </p:cNvPr>
          <p:cNvSpPr txBox="1"/>
          <p:nvPr userDrawn="1"/>
        </p:nvSpPr>
        <p:spPr>
          <a:xfrm>
            <a:off x="1584960" y="2645956"/>
            <a:ext cx="7612380" cy="1938992"/>
          </a:xfrm>
          <a:prstGeom prst="rect">
            <a:avLst/>
          </a:prstGeom>
          <a:noFill/>
        </p:spPr>
        <p:txBody>
          <a:bodyPr wrap="square">
            <a:spAutoFit/>
          </a:bodyPr>
          <a:lstStyle/>
          <a:p>
            <a:r>
              <a:rPr lang="es-SV" sz="2400" kern="0" dirty="0">
                <a:solidFill>
                  <a:srgbClr val="000000"/>
                </a:solidFill>
                <a:effectLst/>
                <a:latin typeface="Arial" panose="020B0604020202020204" pitchFamily="34" charset="0"/>
                <a:ea typeface="Times New Roman" panose="02020603050405020304" pitchFamily="18" charset="0"/>
              </a:rPr>
              <a:t>El mercado no hace referencia directa al </a:t>
            </a:r>
            <a:r>
              <a:rPr lang="es-SV" sz="2400" dirty="0">
                <a:effectLst/>
                <a:latin typeface="Arial" panose="020B0604020202020204" pitchFamily="34" charset="0"/>
                <a:ea typeface="Calibri" panose="020F0502020204030204" pitchFamily="34" charset="0"/>
              </a:rPr>
              <a:t>lucro</a:t>
            </a:r>
            <a:r>
              <a:rPr lang="es-SV" sz="2400" kern="0" dirty="0">
                <a:solidFill>
                  <a:srgbClr val="000000"/>
                </a:solidFill>
                <a:effectLst/>
                <a:latin typeface="Arial" panose="020B0604020202020204" pitchFamily="34" charset="0"/>
                <a:ea typeface="Times New Roman" panose="02020603050405020304" pitchFamily="18" charset="0"/>
              </a:rPr>
              <a:t> o a las </a:t>
            </a:r>
            <a:r>
              <a:rPr lang="es-SV" sz="2400" dirty="0">
                <a:effectLst/>
                <a:latin typeface="Arial" panose="020B0604020202020204" pitchFamily="34" charset="0"/>
                <a:ea typeface="Calibri" panose="020F0502020204030204" pitchFamily="34" charset="0"/>
              </a:rPr>
              <a:t>empresas</a:t>
            </a:r>
            <a:r>
              <a:rPr lang="es-SV" sz="2400" kern="0" dirty="0">
                <a:solidFill>
                  <a:srgbClr val="000000"/>
                </a:solidFill>
                <a:effectLst/>
                <a:latin typeface="Arial" panose="020B0604020202020204" pitchFamily="34" charset="0"/>
                <a:ea typeface="Times New Roman" panose="02020603050405020304" pitchFamily="18" charset="0"/>
              </a:rPr>
              <a:t>, sino </a:t>
            </a:r>
            <a:r>
              <a:rPr lang="es-SV" sz="2400" kern="0" dirty="0">
                <a:solidFill>
                  <a:srgbClr val="000000"/>
                </a:solidFill>
                <a:effectLst/>
                <a:ea typeface="Times New Roman" panose="02020603050405020304" pitchFamily="18" charset="0"/>
              </a:rPr>
              <a:t>simplemente</a:t>
            </a:r>
            <a:r>
              <a:rPr lang="es-SV" sz="2400" kern="0" dirty="0">
                <a:solidFill>
                  <a:srgbClr val="000000"/>
                </a:solidFill>
                <a:effectLst/>
                <a:latin typeface="Arial" panose="020B0604020202020204" pitchFamily="34" charset="0"/>
                <a:ea typeface="Times New Roman" panose="02020603050405020304" pitchFamily="18" charset="0"/>
              </a:rPr>
              <a:t> al acuerdo mutuo y voluntario en el marco de las transacciones. Estas pueden tener como partícipes a </a:t>
            </a:r>
            <a:r>
              <a:rPr lang="es-SV" sz="2400" dirty="0">
                <a:effectLst/>
                <a:latin typeface="Arial" panose="020B0604020202020204" pitchFamily="34" charset="0"/>
                <a:ea typeface="Calibri" panose="020F0502020204030204" pitchFamily="34" charset="0"/>
              </a:rPr>
              <a:t>individuos</a:t>
            </a:r>
            <a:r>
              <a:rPr lang="es-SV" sz="2400" kern="0" dirty="0">
                <a:solidFill>
                  <a:srgbClr val="000000"/>
                </a:solidFill>
                <a:effectLst/>
                <a:latin typeface="Arial" panose="020B0604020202020204" pitchFamily="34" charset="0"/>
                <a:ea typeface="Times New Roman" panose="02020603050405020304" pitchFamily="18" charset="0"/>
              </a:rPr>
              <a:t>, empresas, </a:t>
            </a:r>
            <a:r>
              <a:rPr lang="es-SV" sz="2400" dirty="0">
                <a:effectLst/>
                <a:latin typeface="Arial" panose="020B0604020202020204" pitchFamily="34" charset="0"/>
                <a:ea typeface="Calibri" panose="020F0502020204030204" pitchFamily="34" charset="0"/>
              </a:rPr>
              <a:t>cooperativos</a:t>
            </a:r>
            <a:r>
              <a:rPr lang="es-SV" sz="2400" kern="0" dirty="0">
                <a:solidFill>
                  <a:srgbClr val="000000"/>
                </a:solidFill>
                <a:effectLst/>
                <a:latin typeface="Arial" panose="020B0604020202020204" pitchFamily="34" charset="0"/>
                <a:ea typeface="Times New Roman" panose="02020603050405020304" pitchFamily="18" charset="0"/>
              </a:rPr>
              <a:t>, entre otros</a:t>
            </a:r>
            <a:endParaRPr lang="es-SV" sz="2400" dirty="0"/>
          </a:p>
        </p:txBody>
      </p:sp>
    </p:spTree>
    <p:extLst>
      <p:ext uri="{BB962C8B-B14F-4D97-AF65-F5344CB8AC3E}">
        <p14:creationId xmlns:p14="http://schemas.microsoft.com/office/powerpoint/2010/main" val="38275388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6B457F6-F013-0E26-8682-6DF3DCF8B9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062" y="-137159"/>
            <a:ext cx="12939422" cy="7299960"/>
          </a:xfrm>
          <a:prstGeom prst="rect">
            <a:avLst/>
          </a:prstGeom>
        </p:spPr>
      </p:pic>
      <p:sp>
        <p:nvSpPr>
          <p:cNvPr id="9" name="CuadroTexto 8">
            <a:extLst>
              <a:ext uri="{FF2B5EF4-FFF2-40B4-BE49-F238E27FC236}">
                <a16:creationId xmlns:a16="http://schemas.microsoft.com/office/drawing/2014/main" id="{8FB34EB2-16E7-2E8A-4E54-21FF5D0D25CB}"/>
              </a:ext>
            </a:extLst>
          </p:cNvPr>
          <p:cNvSpPr txBox="1"/>
          <p:nvPr userDrawn="1"/>
        </p:nvSpPr>
        <p:spPr>
          <a:xfrm>
            <a:off x="1606574" y="2055886"/>
            <a:ext cx="7883308" cy="3416320"/>
          </a:xfrm>
          <a:prstGeom prst="rect">
            <a:avLst/>
          </a:prstGeom>
          <a:noFill/>
        </p:spPr>
        <p:txBody>
          <a:bodyPr wrap="square" rtlCol="0">
            <a:spAutoFit/>
          </a:bodyPr>
          <a:lstStyle/>
          <a:p>
            <a:pPr algn="just"/>
            <a:r>
              <a:rPr lang="es-SV" sz="2400" dirty="0">
                <a:solidFill>
                  <a:srgbClr val="212529"/>
                </a:solidFill>
                <a:effectLst/>
                <a:latin typeface="Arial" panose="020B0604020202020204" pitchFamily="34" charset="0"/>
                <a:ea typeface="Times New Roman" panose="02020603050405020304" pitchFamily="18" charset="0"/>
              </a:rPr>
              <a:t>Pero con la llegada de la tecnología, los mercados ya no necesitan un espacio físico. Un ejemplo de ello es que ahora se puede comprar a través de una web.</a:t>
            </a:r>
            <a:endParaRPr lang="es-SV" sz="2400" dirty="0">
              <a:effectLst/>
              <a:latin typeface="Times New Roman" panose="02020603050405020304" pitchFamily="18" charset="0"/>
              <a:ea typeface="Times New Roman" panose="02020603050405020304" pitchFamily="18" charset="0"/>
            </a:endParaRPr>
          </a:p>
          <a:p>
            <a:pPr algn="just"/>
            <a:endParaRPr lang="es-SV" sz="2400" dirty="0">
              <a:effectLst/>
              <a:latin typeface="Times New Roman" panose="02020603050405020304" pitchFamily="18" charset="0"/>
              <a:ea typeface="Times New Roman" panose="02020603050405020304" pitchFamily="18" charset="0"/>
            </a:endParaRPr>
          </a:p>
          <a:p>
            <a:pPr algn="just"/>
            <a:r>
              <a:rPr lang="es-SV" sz="2400" dirty="0">
                <a:solidFill>
                  <a:srgbClr val="212529"/>
                </a:solidFill>
                <a:effectLst/>
                <a:latin typeface="Arial" panose="020B0604020202020204" pitchFamily="34" charset="0"/>
                <a:ea typeface="Times New Roman" panose="02020603050405020304" pitchFamily="18" charset="0"/>
                <a:cs typeface="Arial" panose="020B0604020202020204" pitchFamily="34" charset="0"/>
              </a:rPr>
              <a:t>El mercado está compuesto por:</a:t>
            </a:r>
            <a:endParaRPr lang="es-SV" sz="240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buFont typeface="+mj-lt"/>
              <a:buAutoNum type="arabicPeriod"/>
            </a:pPr>
            <a:r>
              <a:rPr lang="es-SV" sz="2400" dirty="0">
                <a:solidFill>
                  <a:srgbClr val="212529"/>
                </a:solidFill>
                <a:effectLst/>
                <a:latin typeface="Arial" panose="020B0604020202020204" pitchFamily="34" charset="0"/>
                <a:ea typeface="Times New Roman" panose="02020603050405020304" pitchFamily="18" charset="0"/>
                <a:cs typeface="Arial" panose="020B0604020202020204" pitchFamily="34" charset="0"/>
              </a:rPr>
              <a:t>Consumidores potenciales</a:t>
            </a:r>
            <a:endParaRPr lang="es-SV" sz="240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buFont typeface="+mj-lt"/>
              <a:buAutoNum type="arabicPeriod"/>
            </a:pPr>
            <a:r>
              <a:rPr lang="es-SV" sz="2400" dirty="0">
                <a:solidFill>
                  <a:srgbClr val="212529"/>
                </a:solidFill>
                <a:effectLst/>
                <a:latin typeface="Arial" panose="020B0604020202020204" pitchFamily="34" charset="0"/>
                <a:ea typeface="Times New Roman" panose="02020603050405020304" pitchFamily="18" charset="0"/>
                <a:cs typeface="Arial" panose="020B0604020202020204" pitchFamily="34" charset="0"/>
              </a:rPr>
              <a:t>Oferta</a:t>
            </a:r>
            <a:endParaRPr lang="es-SV" sz="240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buFont typeface="+mj-lt"/>
              <a:buAutoNum type="arabicPeriod"/>
            </a:pPr>
            <a:r>
              <a:rPr lang="es-SV" sz="2400" dirty="0">
                <a:solidFill>
                  <a:srgbClr val="212529"/>
                </a:solidFill>
                <a:effectLst/>
                <a:latin typeface="Arial" panose="020B0604020202020204" pitchFamily="34" charset="0"/>
                <a:ea typeface="Times New Roman" panose="02020603050405020304" pitchFamily="18" charset="0"/>
                <a:cs typeface="Arial" panose="020B0604020202020204" pitchFamily="34" charset="0"/>
              </a:rPr>
              <a:t>Interacción de oferta y demanda</a:t>
            </a:r>
            <a:endParaRPr lang="es-SV" sz="2400" dirty="0">
              <a:effectLst/>
              <a:latin typeface="Arial" panose="020B0604020202020204" pitchFamily="34" charset="0"/>
              <a:ea typeface="Times New Roman" panose="02020603050405020304" pitchFamily="18" charset="0"/>
              <a:cs typeface="Arial" panose="020B0604020202020204" pitchFamily="34" charset="0"/>
            </a:endParaRPr>
          </a:p>
          <a:p>
            <a:pPr algn="just"/>
            <a:endParaRPr lang="es-SV" sz="2400" dirty="0"/>
          </a:p>
        </p:txBody>
      </p:sp>
    </p:spTree>
    <p:extLst>
      <p:ext uri="{BB962C8B-B14F-4D97-AF65-F5344CB8AC3E}">
        <p14:creationId xmlns:p14="http://schemas.microsoft.com/office/powerpoint/2010/main" val="46841644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5F435FE-5692-0366-875D-D807434742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8640" y="-167640"/>
            <a:ext cx="12938760" cy="7299960"/>
          </a:xfrm>
          <a:prstGeom prst="rect">
            <a:avLst/>
          </a:prstGeom>
        </p:spPr>
      </p:pic>
      <p:sp>
        <p:nvSpPr>
          <p:cNvPr id="10" name="CuadroTexto 9">
            <a:extLst>
              <a:ext uri="{FF2B5EF4-FFF2-40B4-BE49-F238E27FC236}">
                <a16:creationId xmlns:a16="http://schemas.microsoft.com/office/drawing/2014/main" id="{F22D7D2E-6DB5-734E-23EE-EDDDB120D57F}"/>
              </a:ext>
            </a:extLst>
          </p:cNvPr>
          <p:cNvSpPr txBox="1"/>
          <p:nvPr userDrawn="1"/>
        </p:nvSpPr>
        <p:spPr>
          <a:xfrm>
            <a:off x="5212080" y="1875790"/>
            <a:ext cx="1127760" cy="369332"/>
          </a:xfrm>
          <a:prstGeom prst="rect">
            <a:avLst/>
          </a:prstGeom>
          <a:noFill/>
        </p:spPr>
        <p:txBody>
          <a:bodyPr wrap="square" rtlCol="0">
            <a:spAutoFit/>
          </a:bodyPr>
          <a:lstStyle/>
          <a:p>
            <a:r>
              <a:rPr lang="es-SV" dirty="0"/>
              <a:t> </a:t>
            </a:r>
          </a:p>
        </p:txBody>
      </p:sp>
      <p:sp>
        <p:nvSpPr>
          <p:cNvPr id="14" name="CuadroTexto 13">
            <a:extLst>
              <a:ext uri="{FF2B5EF4-FFF2-40B4-BE49-F238E27FC236}">
                <a16:creationId xmlns:a16="http://schemas.microsoft.com/office/drawing/2014/main" id="{7188CB5B-205C-7FBB-F096-16FD13446995}"/>
              </a:ext>
            </a:extLst>
          </p:cNvPr>
          <p:cNvSpPr txBox="1"/>
          <p:nvPr userDrawn="1"/>
        </p:nvSpPr>
        <p:spPr>
          <a:xfrm>
            <a:off x="1724025" y="1049209"/>
            <a:ext cx="8393430" cy="2800767"/>
          </a:xfrm>
          <a:prstGeom prst="rect">
            <a:avLst/>
          </a:prstGeom>
          <a:noFill/>
        </p:spPr>
        <p:txBody>
          <a:bodyPr wrap="square">
            <a:spAutoFit/>
          </a:bodyPr>
          <a:lstStyle/>
          <a:p>
            <a:pPr algn="ctr"/>
            <a:r>
              <a:rPr lang="es-SV" sz="3200" b="1" dirty="0"/>
              <a:t>LA BASE </a:t>
            </a:r>
            <a:r>
              <a:rPr lang="es-SV" sz="3200" b="1" dirty="0">
                <a:cs typeface="Arial" panose="020B0604020202020204" pitchFamily="34" charset="0"/>
              </a:rPr>
              <a:t>DEL</a:t>
            </a:r>
            <a:r>
              <a:rPr lang="es-SV" sz="3200" b="1" dirty="0"/>
              <a:t> MERCADO ES EL INTERCAMBIO</a:t>
            </a:r>
          </a:p>
          <a:p>
            <a:pPr algn="ctr"/>
            <a:endParaRPr lang="es-SV" sz="2400" b="1"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rPr>
              <a:t>En efecto, los seres humanos desde la antigüedad advirtieron la necesidad de intercambiar, porque el intercambio mejoraba sus condiciones de vida.</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rPr>
              <a:t>    </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precio es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valor monetario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31340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EDB6E2E-08DE-1027-628D-E3A58E6627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6580" y="-139332"/>
            <a:ext cx="12981940" cy="7271652"/>
          </a:xfrm>
          <a:prstGeom prst="rect">
            <a:avLst/>
          </a:prstGeom>
        </p:spPr>
      </p:pic>
      <p:sp>
        <p:nvSpPr>
          <p:cNvPr id="2" name="Título 1">
            <a:extLst>
              <a:ext uri="{FF2B5EF4-FFF2-40B4-BE49-F238E27FC236}">
                <a16:creationId xmlns:a16="http://schemas.microsoft.com/office/drawing/2014/main" id="{2010B18A-06CC-4DFA-28FF-1A4F06A64E1D}"/>
              </a:ext>
            </a:extLst>
          </p:cNvPr>
          <p:cNvSpPr>
            <a:spLocks noGrp="1"/>
          </p:cNvSpPr>
          <p:nvPr>
            <p:ph type="title" hasCustomPrompt="1"/>
          </p:nvPr>
        </p:nvSpPr>
        <p:spPr>
          <a:xfrm>
            <a:off x="1478507" y="1239375"/>
            <a:ext cx="9875293" cy="365126"/>
          </a:xfrm>
          <a:prstGeom prst="rect">
            <a:avLst/>
          </a:prstGeom>
        </p:spPr>
        <p:txBody>
          <a:bodyPr/>
          <a:lstStyle>
            <a:lvl1pPr marL="0" indent="0">
              <a:lnSpc>
                <a:spcPct val="100000"/>
              </a:lnSpc>
              <a:buNone/>
              <a:defRPr sz="2800"/>
            </a:lvl1pPr>
          </a:lstStyle>
          <a:p>
            <a:pPr marL="342900" marR="0" lvl="0" indent="-342900" algn="just" defTabSz="914400" rtl="0" eaLnBrk="1" fontAlgn="auto" latinLnBrk="0" hangingPunct="1">
              <a:lnSpc>
                <a:spcPct val="107000"/>
              </a:lnSpc>
              <a:spcBef>
                <a:spcPct val="0"/>
              </a:spcBef>
              <a:spcAft>
                <a:spcPts val="1825"/>
              </a:spcAft>
              <a:buClrTx/>
              <a:buSzTx/>
              <a:buFont typeface="+mj-lt"/>
              <a:buAutoNum type="arabicPeriod"/>
              <a:tabLst>
                <a:tab pos="457200" algn="l"/>
              </a:tabLst>
              <a:defRPr/>
            </a:pPr>
            <a:r>
              <a:rPr lang="es-SV" dirty="0"/>
              <a:t>CUAL ES EL OBJETIVO DEL MERCADO</a:t>
            </a:r>
            <a:br>
              <a:rPr lang="es-SV" dirty="0"/>
            </a:br>
            <a:br>
              <a:rPr lang="es-SV" dirty="0"/>
            </a:br>
            <a:endParaRPr lang="es-SV" dirty="0"/>
          </a:p>
        </p:txBody>
      </p:sp>
      <p:sp>
        <p:nvSpPr>
          <p:cNvPr id="3" name="Marcador de fecha 2">
            <a:extLst>
              <a:ext uri="{FF2B5EF4-FFF2-40B4-BE49-F238E27FC236}">
                <a16:creationId xmlns:a16="http://schemas.microsoft.com/office/drawing/2014/main" id="{BFFC3878-4D73-4725-DDE6-73B3D854615D}"/>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4" name="Marcador de pie de página 3">
            <a:extLst>
              <a:ext uri="{FF2B5EF4-FFF2-40B4-BE49-F238E27FC236}">
                <a16:creationId xmlns:a16="http://schemas.microsoft.com/office/drawing/2014/main" id="{FB9F333A-1F41-C706-4487-79A4BE393A15}"/>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5" name="Marcador de número de diapositiva 4">
            <a:extLst>
              <a:ext uri="{FF2B5EF4-FFF2-40B4-BE49-F238E27FC236}">
                <a16:creationId xmlns:a16="http://schemas.microsoft.com/office/drawing/2014/main" id="{3EB9F8F1-F16F-BBA7-EBE1-CE57A796348D}"/>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
        <p:nvSpPr>
          <p:cNvPr id="6" name="CuadroTexto 5">
            <a:extLst>
              <a:ext uri="{FF2B5EF4-FFF2-40B4-BE49-F238E27FC236}">
                <a16:creationId xmlns:a16="http://schemas.microsoft.com/office/drawing/2014/main" id="{0BA43E7B-B1A5-B783-A7F2-D8429E1478D3}"/>
              </a:ext>
            </a:extLst>
          </p:cNvPr>
          <p:cNvSpPr txBox="1"/>
          <p:nvPr userDrawn="1"/>
        </p:nvSpPr>
        <p:spPr>
          <a:xfrm>
            <a:off x="1056563" y="1777296"/>
            <a:ext cx="9472929" cy="4154984"/>
          </a:xfrm>
          <a:prstGeom prst="rect">
            <a:avLst/>
          </a:prstGeom>
          <a:noFill/>
        </p:spPr>
        <p:txBody>
          <a:bodyPr wrap="square" rtlCol="0">
            <a:spAutoFit/>
          </a:bodyPr>
          <a:lstStyle/>
          <a:p>
            <a:pPr marL="0" indent="0">
              <a:buNone/>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objetivo del mercado es facilitar el intercambio de bienes y servicios entre compradores y vendedores. Dependiendo del tipo de mercado, sus objetivos </a:t>
            </a:r>
          </a:p>
          <a:p>
            <a:pPr marL="0" indent="0">
              <a:buNone/>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pueden incluir</a:t>
            </a:r>
          </a:p>
          <a:p>
            <a:pPr marL="0" indent="0">
              <a:buNone/>
            </a:pPr>
            <a:endParaRPr lang="es-SV" sz="2400" dirty="0">
              <a:latin typeface="Arial" panose="020B0604020202020204" pitchFamily="34" charset="0"/>
              <a:cs typeface="Arial" panose="020B0604020202020204" pitchFamily="34" charset="0"/>
            </a:endParaRPr>
          </a:p>
          <a:p>
            <a:pPr marL="342900" indent="-342900">
              <a:buAutoNum type="arabicPeriod"/>
            </a:pPr>
            <a:r>
              <a:rPr lang="es-SV" sz="2400" dirty="0">
                <a:latin typeface="Arial" panose="020B0604020202020204" pitchFamily="34" charset="0"/>
                <a:cs typeface="Arial" panose="020B0604020202020204" pitchFamily="34" charset="0"/>
              </a:rPr>
              <a:t>Satisfacer necesidades</a:t>
            </a:r>
          </a:p>
          <a:p>
            <a:pPr marL="342900" indent="-342900">
              <a:buAutoNum type="arabicPeriod"/>
            </a:pPr>
            <a:r>
              <a:rPr lang="es-SV" sz="2400" dirty="0">
                <a:latin typeface="Arial" panose="020B0604020202020204" pitchFamily="34" charset="0"/>
                <a:cs typeface="Arial" panose="020B0604020202020204" pitchFamily="34" charset="0"/>
              </a:rPr>
              <a:t>Generar competencia</a:t>
            </a:r>
          </a:p>
          <a:p>
            <a:pPr marL="342900" indent="-342900">
              <a:buAutoNum type="arabicPeriod"/>
            </a:pPr>
            <a:endParaRPr lang="es-SV" sz="2400" dirty="0">
              <a:latin typeface="Arial" panose="020B0604020202020204" pitchFamily="34" charset="0"/>
              <a:cs typeface="Arial" panose="020B0604020202020204" pitchFamily="34" charset="0"/>
            </a:endParaRPr>
          </a:p>
          <a:p>
            <a:pPr marL="342900" indent="-342900">
              <a:buAutoNum type="arabicPeriod"/>
            </a:pPr>
            <a:r>
              <a:rPr lang="es-SV" sz="2400" dirty="0">
                <a:latin typeface="Arial" panose="020B0604020202020204" pitchFamily="34" charset="0"/>
                <a:cs typeface="Arial" panose="020B0604020202020204" pitchFamily="34" charset="0"/>
              </a:rPr>
              <a:t>Estabilizar la economía</a:t>
            </a:r>
          </a:p>
          <a:p>
            <a:pPr marL="342900" indent="-342900">
              <a:buAutoNum type="arabicPeriod"/>
            </a:pPr>
            <a:r>
              <a:rPr lang="es-SV" sz="2400" dirty="0">
                <a:latin typeface="Arial" panose="020B0604020202020204" pitchFamily="34" charset="0"/>
                <a:cs typeface="Arial" panose="020B0604020202020204" pitchFamily="34" charset="0"/>
              </a:rPr>
              <a:t>Fomentar el crecimiento económico</a:t>
            </a:r>
          </a:p>
          <a:p>
            <a:pPr marL="342900" indent="-342900">
              <a:buAutoNum type="arabicPeriod"/>
            </a:pPr>
            <a:r>
              <a:rPr lang="es-SV" sz="2400" dirty="0">
                <a:latin typeface="Arial" panose="020B0604020202020204" pitchFamily="34" charset="0"/>
                <a:cs typeface="Arial" panose="020B0604020202020204" pitchFamily="34" charset="0"/>
              </a:rPr>
              <a:t>Obtener ganancias</a:t>
            </a:r>
          </a:p>
        </p:txBody>
      </p:sp>
    </p:spTree>
    <p:extLst>
      <p:ext uri="{BB962C8B-B14F-4D97-AF65-F5344CB8AC3E}">
        <p14:creationId xmlns:p14="http://schemas.microsoft.com/office/powerpoint/2010/main" val="192863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FE27C1E-F33F-5EE1-3A9D-43E4EFE912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137160"/>
            <a:ext cx="12999720" cy="7284720"/>
          </a:xfrm>
          <a:prstGeom prst="rect">
            <a:avLst/>
          </a:prstGeom>
        </p:spPr>
      </p:pic>
      <p:sp>
        <p:nvSpPr>
          <p:cNvPr id="2" name="Marcador de fecha 1">
            <a:extLst>
              <a:ext uri="{FF2B5EF4-FFF2-40B4-BE49-F238E27FC236}">
                <a16:creationId xmlns:a16="http://schemas.microsoft.com/office/drawing/2014/main" id="{15EB9BFB-2CA5-EFAE-616E-7D25D6A50FA9}"/>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3" name="Marcador de pie de página 2">
            <a:extLst>
              <a:ext uri="{FF2B5EF4-FFF2-40B4-BE49-F238E27FC236}">
                <a16:creationId xmlns:a16="http://schemas.microsoft.com/office/drawing/2014/main" id="{3D3ACBCD-2A27-7835-0FDD-F189536D4C80}"/>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4" name="Marcador de número de diapositiva 3">
            <a:extLst>
              <a:ext uri="{FF2B5EF4-FFF2-40B4-BE49-F238E27FC236}">
                <a16:creationId xmlns:a16="http://schemas.microsoft.com/office/drawing/2014/main" id="{40D034A4-F805-704F-E9A4-ABB9AC1C9919}"/>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
        <p:nvSpPr>
          <p:cNvPr id="5" name="CuadroTexto 4">
            <a:extLst>
              <a:ext uri="{FF2B5EF4-FFF2-40B4-BE49-F238E27FC236}">
                <a16:creationId xmlns:a16="http://schemas.microsoft.com/office/drawing/2014/main" id="{F5C2D0DC-2C00-23C8-F815-C0D104097C97}"/>
              </a:ext>
            </a:extLst>
          </p:cNvPr>
          <p:cNvSpPr txBox="1"/>
          <p:nvPr userDrawn="1"/>
        </p:nvSpPr>
        <p:spPr>
          <a:xfrm>
            <a:off x="1487606" y="1842448"/>
            <a:ext cx="9171295" cy="3293209"/>
          </a:xfrm>
          <a:prstGeom prst="rect">
            <a:avLst/>
          </a:prstGeom>
          <a:noFill/>
        </p:spPr>
        <p:txBody>
          <a:bodyPr wrap="square" rtlCol="0">
            <a:spAutoFit/>
          </a:bodyPr>
          <a:lstStyle/>
          <a:p>
            <a:r>
              <a:rPr lang="es-SV" sz="3200" dirty="0"/>
              <a:t>COMPETENCIAS DEL MERCADO</a:t>
            </a:r>
          </a:p>
          <a:p>
            <a:endParaRPr lang="es-SV" sz="28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La competencia en el mercado es una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situación que contribuye a mantener el equilibrio entre la oferta y la demanda</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porque promueve mejoras constantes en la calidad de los productos y servicios, en la calidad de atención a los consumidores y en la diversidad de bienes o servicios disponibles.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SV" sz="2800" dirty="0"/>
          </a:p>
        </p:txBody>
      </p:sp>
    </p:spTree>
    <p:extLst>
      <p:ext uri="{BB962C8B-B14F-4D97-AF65-F5344CB8AC3E}">
        <p14:creationId xmlns:p14="http://schemas.microsoft.com/office/powerpoint/2010/main" val="30188462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1F8CEF3-584E-C06C-D81D-585FD6027A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5312" y="-163005"/>
            <a:ext cx="13031152" cy="7295325"/>
          </a:xfrm>
          <a:prstGeom prst="rect">
            <a:avLst/>
          </a:prstGeom>
        </p:spPr>
      </p:pic>
      <p:sp>
        <p:nvSpPr>
          <p:cNvPr id="2" name="Título 1">
            <a:extLst>
              <a:ext uri="{FF2B5EF4-FFF2-40B4-BE49-F238E27FC236}">
                <a16:creationId xmlns:a16="http://schemas.microsoft.com/office/drawing/2014/main" id="{B008D24E-4F92-290D-E569-830B378548F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dirty="0"/>
              <a:t>Haga clic para modificar el estilo de título del patrón</a:t>
            </a:r>
            <a:endParaRPr lang="es-SV" dirty="0"/>
          </a:p>
        </p:txBody>
      </p:sp>
      <p:sp>
        <p:nvSpPr>
          <p:cNvPr id="3" name="Marcador de contenido 2">
            <a:extLst>
              <a:ext uri="{FF2B5EF4-FFF2-40B4-BE49-F238E27FC236}">
                <a16:creationId xmlns:a16="http://schemas.microsoft.com/office/drawing/2014/main" id="{8940AB3C-D337-B560-9BEB-6FFCE5A2AD0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SV" dirty="0"/>
          </a:p>
        </p:txBody>
      </p:sp>
      <p:sp>
        <p:nvSpPr>
          <p:cNvPr id="4" name="Marcador de texto 3">
            <a:extLst>
              <a:ext uri="{FF2B5EF4-FFF2-40B4-BE49-F238E27FC236}">
                <a16:creationId xmlns:a16="http://schemas.microsoft.com/office/drawing/2014/main" id="{977BD229-8206-0BAF-C2D0-95D512387B4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F11AE2-26FF-6143-2E9B-07E0F2E27F4D}"/>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6" name="Marcador de pie de página 5">
            <a:extLst>
              <a:ext uri="{FF2B5EF4-FFF2-40B4-BE49-F238E27FC236}">
                <a16:creationId xmlns:a16="http://schemas.microsoft.com/office/drawing/2014/main" id="{E0DFE328-748D-53D1-DCC0-A2098D577379}"/>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7" name="Marcador de número de diapositiva 6">
            <a:extLst>
              <a:ext uri="{FF2B5EF4-FFF2-40B4-BE49-F238E27FC236}">
                <a16:creationId xmlns:a16="http://schemas.microsoft.com/office/drawing/2014/main" id="{3069C8B8-51F6-0562-0632-B9C03D613CCE}"/>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Tree>
    <p:extLst>
      <p:ext uri="{BB962C8B-B14F-4D97-AF65-F5344CB8AC3E}">
        <p14:creationId xmlns:p14="http://schemas.microsoft.com/office/powerpoint/2010/main" val="23141441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6F41DC6-C76F-B6B7-8F8A-79028635C4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880" y="-106680"/>
            <a:ext cx="12969240" cy="7269480"/>
          </a:xfrm>
          <a:prstGeom prst="rect">
            <a:avLst/>
          </a:prstGeom>
        </p:spPr>
      </p:pic>
      <p:sp>
        <p:nvSpPr>
          <p:cNvPr id="2" name="Título 1">
            <a:extLst>
              <a:ext uri="{FF2B5EF4-FFF2-40B4-BE49-F238E27FC236}">
                <a16:creationId xmlns:a16="http://schemas.microsoft.com/office/drawing/2014/main" id="{BF4F9F3A-D325-8F76-54BF-D9A3E43E2B6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SV"/>
          </a:p>
        </p:txBody>
      </p:sp>
      <p:sp>
        <p:nvSpPr>
          <p:cNvPr id="3" name="Marcador de posición de imagen 2">
            <a:extLst>
              <a:ext uri="{FF2B5EF4-FFF2-40B4-BE49-F238E27FC236}">
                <a16:creationId xmlns:a16="http://schemas.microsoft.com/office/drawing/2014/main" id="{432C994E-FD5E-62A6-CE79-12BDF498D71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SV"/>
          </a:p>
        </p:txBody>
      </p:sp>
      <p:sp>
        <p:nvSpPr>
          <p:cNvPr id="4" name="Marcador de texto 3">
            <a:extLst>
              <a:ext uri="{FF2B5EF4-FFF2-40B4-BE49-F238E27FC236}">
                <a16:creationId xmlns:a16="http://schemas.microsoft.com/office/drawing/2014/main" id="{990A5E28-5841-0B65-1595-5C86F16DC3D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6549AE-6F44-B144-44CE-7CF0B0949409}"/>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6" name="Marcador de pie de página 5">
            <a:extLst>
              <a:ext uri="{FF2B5EF4-FFF2-40B4-BE49-F238E27FC236}">
                <a16:creationId xmlns:a16="http://schemas.microsoft.com/office/drawing/2014/main" id="{43DF8760-DAB1-BE34-3C16-6E9EA34436B3}"/>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7" name="Marcador de número de diapositiva 6">
            <a:extLst>
              <a:ext uri="{FF2B5EF4-FFF2-40B4-BE49-F238E27FC236}">
                <a16:creationId xmlns:a16="http://schemas.microsoft.com/office/drawing/2014/main" id="{EBCB8F57-9F62-5845-B28E-274E61DEA422}"/>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Tree>
    <p:extLst>
      <p:ext uri="{BB962C8B-B14F-4D97-AF65-F5344CB8AC3E}">
        <p14:creationId xmlns:p14="http://schemas.microsoft.com/office/powerpoint/2010/main" val="22755067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10083B-54EA-E05C-B96F-760D98F1D216}"/>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SV"/>
          </a:p>
        </p:txBody>
      </p:sp>
      <p:sp>
        <p:nvSpPr>
          <p:cNvPr id="3" name="Marcador de texto vertical 2">
            <a:extLst>
              <a:ext uri="{FF2B5EF4-FFF2-40B4-BE49-F238E27FC236}">
                <a16:creationId xmlns:a16="http://schemas.microsoft.com/office/drawing/2014/main" id="{88789842-67EE-EBD7-640D-E48AFAF1C23B}"/>
              </a:ext>
            </a:extLst>
          </p:cNvPr>
          <p:cNvSpPr>
            <a:spLocks noGrp="1"/>
          </p:cNvSpPr>
          <p:nvPr>
            <p:ph type="body" orient="vert" idx="1"/>
          </p:nvPr>
        </p:nvSpPr>
        <p:spPr>
          <a:xfrm>
            <a:off x="838200" y="1825625"/>
            <a:ext cx="10515600" cy="43513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801E9EA4-6307-68D4-A2E8-16C824ADF929}"/>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5" name="Marcador de pie de página 4">
            <a:extLst>
              <a:ext uri="{FF2B5EF4-FFF2-40B4-BE49-F238E27FC236}">
                <a16:creationId xmlns:a16="http://schemas.microsoft.com/office/drawing/2014/main" id="{3E7E837A-23AC-DA14-18DA-EC305A04C14F}"/>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6" name="Marcador de número de diapositiva 5">
            <a:extLst>
              <a:ext uri="{FF2B5EF4-FFF2-40B4-BE49-F238E27FC236}">
                <a16:creationId xmlns:a16="http://schemas.microsoft.com/office/drawing/2014/main" id="{E3694BB4-04E0-C743-52AC-38D916A90698}"/>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Tree>
    <p:extLst>
      <p:ext uri="{BB962C8B-B14F-4D97-AF65-F5344CB8AC3E}">
        <p14:creationId xmlns:p14="http://schemas.microsoft.com/office/powerpoint/2010/main" val="21506304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DAF340F-AEE2-55F6-99DF-655D5E88D0B5}"/>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SV"/>
          </a:p>
        </p:txBody>
      </p:sp>
      <p:sp>
        <p:nvSpPr>
          <p:cNvPr id="3" name="Marcador de texto vertical 2">
            <a:extLst>
              <a:ext uri="{FF2B5EF4-FFF2-40B4-BE49-F238E27FC236}">
                <a16:creationId xmlns:a16="http://schemas.microsoft.com/office/drawing/2014/main" id="{C376C02D-AE3B-767A-0A95-FB8C0B28E4B4}"/>
              </a:ext>
            </a:extLst>
          </p:cNvPr>
          <p:cNvSpPr>
            <a:spLocks noGrp="1"/>
          </p:cNvSpPr>
          <p:nvPr>
            <p:ph type="body" orient="vert" idx="1"/>
          </p:nvPr>
        </p:nvSpPr>
        <p:spPr>
          <a:xfrm>
            <a:off x="838200" y="365125"/>
            <a:ext cx="7734300" cy="58118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173D7B0D-AB33-27DA-7F6F-B0E1607005B9}"/>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5" name="Marcador de pie de página 4">
            <a:extLst>
              <a:ext uri="{FF2B5EF4-FFF2-40B4-BE49-F238E27FC236}">
                <a16:creationId xmlns:a16="http://schemas.microsoft.com/office/drawing/2014/main" id="{99A179AC-497C-B73E-407B-1E47E45465D6}"/>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6" name="Marcador de número de diapositiva 5">
            <a:extLst>
              <a:ext uri="{FF2B5EF4-FFF2-40B4-BE49-F238E27FC236}">
                <a16:creationId xmlns:a16="http://schemas.microsoft.com/office/drawing/2014/main" id="{996659D9-A933-AEBC-A107-4536E280F3CC}"/>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Tree>
    <p:extLst>
      <p:ext uri="{BB962C8B-B14F-4D97-AF65-F5344CB8AC3E}">
        <p14:creationId xmlns:p14="http://schemas.microsoft.com/office/powerpoint/2010/main" val="15173549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4CB893-C4E4-8BBD-3B4C-0CF5FF23C944}"/>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SV"/>
          </a:p>
        </p:txBody>
      </p:sp>
      <p:sp>
        <p:nvSpPr>
          <p:cNvPr id="3" name="Marcador de fecha 2">
            <a:extLst>
              <a:ext uri="{FF2B5EF4-FFF2-40B4-BE49-F238E27FC236}">
                <a16:creationId xmlns:a16="http://schemas.microsoft.com/office/drawing/2014/main" id="{6695A836-4B2F-BF21-2E52-6A60F06AF226}"/>
              </a:ext>
            </a:extLst>
          </p:cNvPr>
          <p:cNvSpPr>
            <a:spLocks noGrp="1"/>
          </p:cNvSpPr>
          <p:nvPr>
            <p:ph type="dt" sz="half" idx="10"/>
          </p:nvPr>
        </p:nvSpPr>
        <p:spPr>
          <a:xfrm>
            <a:off x="838200" y="6356350"/>
            <a:ext cx="2743200" cy="365125"/>
          </a:xfrm>
          <a:prstGeom prst="rect">
            <a:avLst/>
          </a:prstGeom>
        </p:spPr>
        <p:txBody>
          <a:bodyPr/>
          <a:lstStyle/>
          <a:p>
            <a:fld id="{4AFDF4F3-B763-4BD1-AD7F-F43B0209C4BE}" type="datetimeFigureOut">
              <a:rPr lang="es-SV" smtClean="0"/>
              <a:t>12/3/2025</a:t>
            </a:fld>
            <a:endParaRPr lang="es-SV"/>
          </a:p>
        </p:txBody>
      </p:sp>
      <p:sp>
        <p:nvSpPr>
          <p:cNvPr id="4" name="Marcador de pie de página 3">
            <a:extLst>
              <a:ext uri="{FF2B5EF4-FFF2-40B4-BE49-F238E27FC236}">
                <a16:creationId xmlns:a16="http://schemas.microsoft.com/office/drawing/2014/main" id="{C01943E2-0914-F561-7143-ACE86D4B8FB6}"/>
              </a:ext>
            </a:extLst>
          </p:cNvPr>
          <p:cNvSpPr>
            <a:spLocks noGrp="1"/>
          </p:cNvSpPr>
          <p:nvPr>
            <p:ph type="ftr" sz="quarter" idx="11"/>
          </p:nvPr>
        </p:nvSpPr>
        <p:spPr>
          <a:xfrm>
            <a:off x="4038600" y="6356350"/>
            <a:ext cx="4114800" cy="365125"/>
          </a:xfrm>
          <a:prstGeom prst="rect">
            <a:avLst/>
          </a:prstGeom>
        </p:spPr>
        <p:txBody>
          <a:bodyPr/>
          <a:lstStyle/>
          <a:p>
            <a:endParaRPr lang="es-SV"/>
          </a:p>
        </p:txBody>
      </p:sp>
      <p:sp>
        <p:nvSpPr>
          <p:cNvPr id="5" name="Marcador de número de diapositiva 4">
            <a:extLst>
              <a:ext uri="{FF2B5EF4-FFF2-40B4-BE49-F238E27FC236}">
                <a16:creationId xmlns:a16="http://schemas.microsoft.com/office/drawing/2014/main" id="{F95A8709-C4C4-FCFC-270F-49DDFF99C163}"/>
              </a:ext>
            </a:extLst>
          </p:cNvPr>
          <p:cNvSpPr>
            <a:spLocks noGrp="1"/>
          </p:cNvSpPr>
          <p:nvPr>
            <p:ph type="sldNum" sz="quarter" idx="12"/>
          </p:nvPr>
        </p:nvSpPr>
        <p:spPr>
          <a:xfrm>
            <a:off x="8610600" y="6356350"/>
            <a:ext cx="2743200" cy="365125"/>
          </a:xfrm>
          <a:prstGeom prst="rect">
            <a:avLst/>
          </a:prstGeom>
        </p:spPr>
        <p:txBody>
          <a:bodyPr/>
          <a:lstStyle/>
          <a:p>
            <a:fld id="{D09BD3DE-184C-4B57-B7AD-7F93C36FD323}" type="slidenum">
              <a:rPr lang="es-SV" smtClean="0"/>
              <a:t>‹Nº›</a:t>
            </a:fld>
            <a:endParaRPr lang="es-SV"/>
          </a:p>
        </p:txBody>
      </p:sp>
    </p:spTree>
    <p:extLst>
      <p:ext uri="{BB962C8B-B14F-4D97-AF65-F5344CB8AC3E}">
        <p14:creationId xmlns:p14="http://schemas.microsoft.com/office/powerpoint/2010/main" val="2071274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2F68AE-E786-F445-517A-6401BD5E24BA}"/>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SV"/>
          </a:p>
        </p:txBody>
      </p:sp>
    </p:spTree>
    <p:extLst>
      <p:ext uri="{BB962C8B-B14F-4D97-AF65-F5344CB8AC3E}">
        <p14:creationId xmlns:p14="http://schemas.microsoft.com/office/powerpoint/2010/main" val="35829207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12DDEC9C-C3EF-B179-09D8-A183B8611F86}"/>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532668" y="-136527"/>
            <a:ext cx="12917684" cy="7266197"/>
          </a:xfrm>
          <a:prstGeom prst="rect">
            <a:avLst/>
          </a:prstGeom>
        </p:spPr>
      </p:pic>
    </p:spTree>
    <p:extLst>
      <p:ext uri="{BB962C8B-B14F-4D97-AF65-F5344CB8AC3E}">
        <p14:creationId xmlns:p14="http://schemas.microsoft.com/office/powerpoint/2010/main" val="3064661708"/>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3" r:id="rId4"/>
    <p:sldLayoutId id="2147483652" r:id="rId5"/>
    <p:sldLayoutId id="2147483662"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hyperlink" Target="https://www.bing.com/ck/a?!&amp;&amp;p=9db3327f7dfb429199d4fe375f3994a80df8089caf2ea6f398f536d5cecd98d8JmltdHM9MTczODgwMDAwMA&amp;ptn=3&amp;ver=2&amp;hsh=4&amp;fclid=3e6f243f-4d41-63fa-2c2f-35194c30620d&amp;psq=significado+del+mercado+de+monopolio&amp;u=a1aHR0cHM6Ly93d3cudW5wcm9mZXNvci5jb20vY2llbmNpYXMtc29jaWFsZXMvbW9ub3BvbGlvLWRlZmluaWNpb24teS1jYXJhY3RlcmlzdGljYXMtMjcwMC5odG1s&amp;ntb=1"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DE32FA0-D397-E0E1-D1D9-347A41A8E4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2" y="4326784"/>
            <a:ext cx="4500562" cy="2531216"/>
          </a:xfrm>
          <a:prstGeom prst="rect">
            <a:avLst/>
          </a:prstGeom>
        </p:spPr>
      </p:pic>
    </p:spTree>
    <p:extLst>
      <p:ext uri="{BB962C8B-B14F-4D97-AF65-F5344CB8AC3E}">
        <p14:creationId xmlns:p14="http://schemas.microsoft.com/office/powerpoint/2010/main" val="3949080645"/>
      </p:ext>
    </p:extLst>
  </p:cSld>
  <p:clrMapOvr>
    <a:masterClrMapping/>
  </p:clrMapOvr>
  <mc:AlternateContent xmlns:mc="http://schemas.openxmlformats.org/markup-compatibility/2006" xmlns:p14="http://schemas.microsoft.com/office/powerpoint/2010/main">
    <mc:Choice Requires="p14">
      <p:transition spd="slow" p14:dur="800" advTm="1000">
        <p:circle/>
      </p:transition>
    </mc:Choice>
    <mc:Fallback xmlns="">
      <p:transition spd="slow" advTm="1000">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03B3D-155F-0ACF-B5FC-5496F29D7355}"/>
              </a:ext>
            </a:extLst>
          </p:cNvPr>
          <p:cNvSpPr>
            <a:spLocks noGrp="1"/>
          </p:cNvSpPr>
          <p:nvPr>
            <p:ph type="ctrTitle"/>
          </p:nvPr>
        </p:nvSpPr>
        <p:spPr/>
        <p:txBody>
          <a:bodyPr/>
          <a:lstStyle/>
          <a:p>
            <a:endParaRPr lang="es-SV"/>
          </a:p>
        </p:txBody>
      </p:sp>
    </p:spTree>
    <p:extLst>
      <p:ext uri="{BB962C8B-B14F-4D97-AF65-F5344CB8AC3E}">
        <p14:creationId xmlns:p14="http://schemas.microsoft.com/office/powerpoint/2010/main" val="23345140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C344600-CA8C-4174-B0DE-6951C69B4C33}"/>
              </a:ext>
            </a:extLst>
          </p:cNvPr>
          <p:cNvPicPr>
            <a:picLocks noChangeAspect="1"/>
          </p:cNvPicPr>
          <p:nvPr/>
        </p:nvPicPr>
        <p:blipFill>
          <a:blip r:embed="rId2">
            <a:clrChange>
              <a:clrFrom>
                <a:srgbClr val="FFFFFF"/>
              </a:clrFrom>
              <a:clrTo>
                <a:srgbClr val="FFFFFF">
                  <a:alpha val="0"/>
                </a:srgbClr>
              </a:clrTo>
            </a:clrChange>
            <a:grayscl/>
            <a:extLst>
              <a:ext uri="{28A0092B-C50C-407E-A947-70E740481C1C}">
                <a14:useLocalDpi xmlns:a14="http://schemas.microsoft.com/office/drawing/2010/main" val="0"/>
              </a:ext>
            </a:extLst>
          </a:blip>
          <a:stretch>
            <a:fillRect/>
          </a:stretch>
        </p:blipFill>
        <p:spPr>
          <a:xfrm>
            <a:off x="-1764506" y="2468433"/>
            <a:ext cx="3529012" cy="3529012"/>
          </a:xfrm>
          <a:prstGeom prst="rect">
            <a:avLst/>
          </a:prstGeom>
        </p:spPr>
      </p:pic>
      <p:pic>
        <p:nvPicPr>
          <p:cNvPr id="14" name="Imagen 13">
            <a:extLst>
              <a:ext uri="{FF2B5EF4-FFF2-40B4-BE49-F238E27FC236}">
                <a16:creationId xmlns:a16="http://schemas.microsoft.com/office/drawing/2014/main" id="{7C05B2B9-A729-183F-359C-EEFBB8FFE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6549" y="3184727"/>
            <a:ext cx="7266549" cy="2096423"/>
          </a:xfrm>
          <a:prstGeom prst="rect">
            <a:avLst/>
          </a:prstGeom>
        </p:spPr>
      </p:pic>
    </p:spTree>
    <p:extLst>
      <p:ext uri="{BB962C8B-B14F-4D97-AF65-F5344CB8AC3E}">
        <p14:creationId xmlns:p14="http://schemas.microsoft.com/office/powerpoint/2010/main" val="2859999082"/>
      </p:ext>
    </p:extLst>
  </p:cSld>
  <p:clrMapOvr>
    <a:masterClrMapping/>
  </p:clrMapOvr>
  <mc:AlternateContent xmlns:mc="http://schemas.openxmlformats.org/markup-compatibility/2006" xmlns:p14="http://schemas.microsoft.com/office/powerpoint/2010/main">
    <mc:Choice Requires="p14">
      <p:transition spd="slow" p14:dur="800" advTm="1000">
        <p:circle/>
      </p:transition>
    </mc:Choice>
    <mc:Fallback xmlns="">
      <p:transition spd="slow" advTm="1000">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3.7037E-7 L 1.16302 -0.01343 " pathEditMode="relative" rAng="0" ptsTypes="AA">
                                      <p:cBhvr>
                                        <p:cTn id="6" dur="4750" fill="hold"/>
                                        <p:tgtEl>
                                          <p:spTgt spid="5"/>
                                        </p:tgtEl>
                                        <p:attrNameLst>
                                          <p:attrName>ppt_x</p:attrName>
                                          <p:attrName>ppt_y</p:attrName>
                                        </p:attrNameLst>
                                      </p:cBhvr>
                                      <p:rCtr x="58151" y="-671"/>
                                    </p:animMotion>
                                  </p:childTnLst>
                                </p:cTn>
                              </p:par>
                              <p:par>
                                <p:cTn id="7" presetID="63" presetClass="path" presetSubtype="0" accel="50000" decel="50000" fill="hold" nodeType="withEffect">
                                  <p:stCondLst>
                                    <p:cond delay="0"/>
                                  </p:stCondLst>
                                  <p:childTnLst>
                                    <p:animMotion origin="layout" path="M -0.38541 0.0169 L 0.76003 0.00162 " pathEditMode="relative" rAng="0" ptsTypes="AA">
                                      <p:cBhvr>
                                        <p:cTn id="8" dur="4000" fill="hold"/>
                                        <p:tgtEl>
                                          <p:spTgt spid="14"/>
                                        </p:tgtEl>
                                        <p:attrNameLst>
                                          <p:attrName>ppt_x</p:attrName>
                                          <p:attrName>ppt_y</p:attrName>
                                        </p:attrNameLst>
                                      </p:cBhvr>
                                      <p:rCtr x="57279" y="-7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68266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35730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2088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13AC124-9CCE-12FD-D89E-37EBC4F380DB}"/>
              </a:ext>
            </a:extLst>
          </p:cNvPr>
          <p:cNvSpPr txBox="1"/>
          <p:nvPr/>
        </p:nvSpPr>
        <p:spPr>
          <a:xfrm>
            <a:off x="1962150" y="1323529"/>
            <a:ext cx="7898130" cy="2862322"/>
          </a:xfrm>
          <a:prstGeom prst="rect">
            <a:avLst/>
          </a:prstGeom>
          <a:noFill/>
        </p:spPr>
        <p:txBody>
          <a:bodyPr wrap="square">
            <a:spAutoFit/>
          </a:bodyPr>
          <a:lstStyle/>
          <a:p>
            <a:pPr algn="ctr"/>
            <a:r>
              <a:rPr lang="es-SV" sz="3200" b="1" dirty="0"/>
              <a:t>LA BASE </a:t>
            </a:r>
            <a:r>
              <a:rPr lang="es-SV" sz="3200" b="1" dirty="0">
                <a:cs typeface="Arial" panose="020B0604020202020204" pitchFamily="34" charset="0"/>
              </a:rPr>
              <a:t>DEL</a:t>
            </a:r>
            <a:r>
              <a:rPr lang="es-SV" sz="3200" b="1" dirty="0"/>
              <a:t> MERCADO ES EL INTERCAMBIO</a:t>
            </a:r>
          </a:p>
          <a:p>
            <a:pPr algn="ctr"/>
            <a:endParaRPr lang="es-SV" sz="2800" b="1"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rPr>
              <a:t>En efecto, los seres humanos desde la antigüedad advirtieron la necesidad de intercambiar, porque el intercambio mejoraba sus condiciones de vida.</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SV" sz="2400" kern="100" dirty="0">
                <a:solidFill>
                  <a:srgbClr val="212529"/>
                </a:solidFill>
                <a:effectLst/>
                <a:latin typeface="Arial" panose="020B0604020202020204" pitchFamily="34" charset="0"/>
                <a:ea typeface="Calibri" panose="020F0502020204030204" pitchFamily="34" charset="0"/>
                <a:cs typeface="Times New Roman" panose="02020603050405020304" pitchFamily="18" charset="0"/>
              </a:rPr>
              <a:t>    </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precio es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valor monetario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4F87E841-D5DA-AEF7-FEAB-675266457981}"/>
              </a:ext>
            </a:extLst>
          </p:cNvPr>
          <p:cNvPicPr>
            <a:picLocks noChangeAspect="1"/>
          </p:cNvPicPr>
          <p:nvPr/>
        </p:nvPicPr>
        <p:blipFill>
          <a:blip r:embed="rId2"/>
          <a:stretch>
            <a:fillRect/>
          </a:stretch>
        </p:blipFill>
        <p:spPr>
          <a:xfrm>
            <a:off x="-515555" y="3966687"/>
            <a:ext cx="4587494" cy="3501867"/>
          </a:xfrm>
          <a:prstGeom prst="rect">
            <a:avLst/>
          </a:prstGeom>
        </p:spPr>
      </p:pic>
      <p:pic>
        <p:nvPicPr>
          <p:cNvPr id="8" name="Imagen 7">
            <a:extLst>
              <a:ext uri="{FF2B5EF4-FFF2-40B4-BE49-F238E27FC236}">
                <a16:creationId xmlns:a16="http://schemas.microsoft.com/office/drawing/2014/main" id="{066ED1FC-ACA3-BFB0-BBEB-BA7C32B862B1}"/>
              </a:ext>
            </a:extLst>
          </p:cNvPr>
          <p:cNvPicPr>
            <a:picLocks noChangeAspect="1"/>
          </p:cNvPicPr>
          <p:nvPr/>
        </p:nvPicPr>
        <p:blipFill>
          <a:blip r:embed="rId3"/>
          <a:stretch>
            <a:fillRect/>
          </a:stretch>
        </p:blipFill>
        <p:spPr>
          <a:xfrm>
            <a:off x="8137809" y="3966687"/>
            <a:ext cx="4054191" cy="3090940"/>
          </a:xfrm>
          <a:prstGeom prst="rect">
            <a:avLst/>
          </a:prstGeom>
        </p:spPr>
      </p:pic>
    </p:spTree>
    <p:extLst>
      <p:ext uri="{BB962C8B-B14F-4D97-AF65-F5344CB8AC3E}">
        <p14:creationId xmlns:p14="http://schemas.microsoft.com/office/powerpoint/2010/main" val="41610520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294C6E-BB5D-6DEB-E967-D7CBD73D1B5C}"/>
              </a:ext>
            </a:extLst>
          </p:cNvPr>
          <p:cNvSpPr>
            <a:spLocks noGrp="1"/>
          </p:cNvSpPr>
          <p:nvPr>
            <p:ph type="title"/>
          </p:nvPr>
        </p:nvSpPr>
        <p:spPr/>
        <p:txBody>
          <a:bodyPr/>
          <a:lstStyle/>
          <a:p>
            <a:endParaRPr lang="es-SV"/>
          </a:p>
        </p:txBody>
      </p:sp>
    </p:spTree>
    <p:extLst>
      <p:ext uri="{BB962C8B-B14F-4D97-AF65-F5344CB8AC3E}">
        <p14:creationId xmlns:p14="http://schemas.microsoft.com/office/powerpoint/2010/main" val="32946716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615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1E40EA9-0050-62F6-4E11-3B1A46A7A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9915" y="3679030"/>
            <a:ext cx="5264677" cy="3154389"/>
          </a:xfrm>
          <a:prstGeom prst="rect">
            <a:avLst/>
          </a:prstGeom>
        </p:spPr>
      </p:pic>
      <p:pic>
        <p:nvPicPr>
          <p:cNvPr id="4" name="Imagen 3">
            <a:extLst>
              <a:ext uri="{FF2B5EF4-FFF2-40B4-BE49-F238E27FC236}">
                <a16:creationId xmlns:a16="http://schemas.microsoft.com/office/drawing/2014/main" id="{AE58E361-F59D-F2D9-71DC-DB3E0A0EC0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9916" y="31723"/>
            <a:ext cx="5142084" cy="2728912"/>
          </a:xfrm>
          <a:prstGeom prst="rect">
            <a:avLst/>
          </a:prstGeom>
        </p:spPr>
      </p:pic>
      <p:pic>
        <p:nvPicPr>
          <p:cNvPr id="5" name="Imagen 4">
            <a:extLst>
              <a:ext uri="{FF2B5EF4-FFF2-40B4-BE49-F238E27FC236}">
                <a16:creationId xmlns:a16="http://schemas.microsoft.com/office/drawing/2014/main" id="{C75ECF77-CEE6-48DB-461F-1A28718609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672" y="31723"/>
            <a:ext cx="4336322" cy="2839269"/>
          </a:xfrm>
          <a:prstGeom prst="rect">
            <a:avLst/>
          </a:prstGeom>
        </p:spPr>
      </p:pic>
      <p:pic>
        <p:nvPicPr>
          <p:cNvPr id="3" name="Imagen 2">
            <a:extLst>
              <a:ext uri="{FF2B5EF4-FFF2-40B4-BE49-F238E27FC236}">
                <a16:creationId xmlns:a16="http://schemas.microsoft.com/office/drawing/2014/main" id="{7D04C535-5A21-2A2C-A790-F644C7B89DCA}"/>
              </a:ext>
            </a:extLst>
          </p:cNvPr>
          <p:cNvPicPr>
            <a:picLocks noChangeAspect="1"/>
          </p:cNvPicPr>
          <p:nvPr/>
        </p:nvPicPr>
        <p:blipFill>
          <a:blip r:embed="rId5"/>
          <a:stretch>
            <a:fillRect/>
          </a:stretch>
        </p:blipFill>
        <p:spPr>
          <a:xfrm>
            <a:off x="-414337" y="3840188"/>
            <a:ext cx="4964768" cy="2986088"/>
          </a:xfrm>
          <a:prstGeom prst="rect">
            <a:avLst/>
          </a:prstGeom>
        </p:spPr>
      </p:pic>
      <p:sp>
        <p:nvSpPr>
          <p:cNvPr id="2" name="Título 1">
            <a:extLst>
              <a:ext uri="{FF2B5EF4-FFF2-40B4-BE49-F238E27FC236}">
                <a16:creationId xmlns:a16="http://schemas.microsoft.com/office/drawing/2014/main" id="{C801823C-72D7-B5A2-E600-7F56FA7CAE63}"/>
              </a:ext>
            </a:extLst>
          </p:cNvPr>
          <p:cNvSpPr>
            <a:spLocks noGrp="1"/>
          </p:cNvSpPr>
          <p:nvPr>
            <p:ph type="title"/>
          </p:nvPr>
        </p:nvSpPr>
        <p:spPr>
          <a:xfrm>
            <a:off x="2532767" y="2984301"/>
            <a:ext cx="7812266" cy="1325563"/>
          </a:xfrm>
        </p:spPr>
        <p:txBody>
          <a:bodyPr/>
          <a:lstStyle/>
          <a:p>
            <a:r>
              <a:rPr lang="es-SV" dirty="0"/>
              <a:t>TIPOS DE MERCADOS </a:t>
            </a:r>
          </a:p>
        </p:txBody>
      </p:sp>
    </p:spTree>
    <p:extLst>
      <p:ext uri="{BB962C8B-B14F-4D97-AF65-F5344CB8AC3E}">
        <p14:creationId xmlns:p14="http://schemas.microsoft.com/office/powerpoint/2010/main" val="19312084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B0A9360-1C43-A06E-A7AD-01D081AC6B00}"/>
              </a:ext>
            </a:extLst>
          </p:cNvPr>
          <p:cNvSpPr txBox="1"/>
          <p:nvPr/>
        </p:nvSpPr>
        <p:spPr>
          <a:xfrm>
            <a:off x="1352550" y="1379814"/>
            <a:ext cx="7062788" cy="2554545"/>
          </a:xfrm>
          <a:prstGeom prst="rect">
            <a:avLst/>
          </a:prstGeom>
          <a:noFill/>
        </p:spPr>
        <p:txBody>
          <a:bodyPr wrap="square">
            <a:spAutoFit/>
          </a:bodyPr>
          <a:lstStyle/>
          <a:p>
            <a:r>
              <a:rPr lang="es-SV" sz="8000" b="1" kern="100" dirty="0">
                <a:effectLst/>
                <a:latin typeface="Calibri Light" panose="020F0302020204030204" pitchFamily="34" charset="0"/>
                <a:ea typeface="Times New Roman" panose="02020603050405020304" pitchFamily="18" charset="0"/>
                <a:cs typeface="Times New Roman" panose="02020603050405020304" pitchFamily="18" charset="0"/>
              </a:rPr>
              <a:t>MERCADO DE MONOPOLIO</a:t>
            </a:r>
            <a:endParaRPr lang="es-SV" sz="8000" b="1" dirty="0"/>
          </a:p>
        </p:txBody>
      </p:sp>
      <p:pic>
        <p:nvPicPr>
          <p:cNvPr id="9" name="Imagen 8">
            <a:extLst>
              <a:ext uri="{FF2B5EF4-FFF2-40B4-BE49-F238E27FC236}">
                <a16:creationId xmlns:a16="http://schemas.microsoft.com/office/drawing/2014/main" id="{6669B729-34A6-60DD-DDC1-A91107633099}"/>
              </a:ext>
            </a:extLst>
          </p:cNvPr>
          <p:cNvPicPr>
            <a:picLocks noChangeAspect="1"/>
          </p:cNvPicPr>
          <p:nvPr/>
        </p:nvPicPr>
        <p:blipFill>
          <a:blip r:embed="rId2"/>
          <a:stretch>
            <a:fillRect/>
          </a:stretch>
        </p:blipFill>
        <p:spPr>
          <a:xfrm>
            <a:off x="7158039" y="3128964"/>
            <a:ext cx="5153024" cy="3914774"/>
          </a:xfrm>
          <a:prstGeom prst="rect">
            <a:avLst/>
          </a:prstGeom>
        </p:spPr>
      </p:pic>
    </p:spTree>
    <p:extLst>
      <p:ext uri="{BB962C8B-B14F-4D97-AF65-F5344CB8AC3E}">
        <p14:creationId xmlns:p14="http://schemas.microsoft.com/office/powerpoint/2010/main" val="38644694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B870A08E-3F16-774F-C9D8-62F22C7CFB26}"/>
              </a:ext>
            </a:extLst>
          </p:cNvPr>
          <p:cNvSpPr>
            <a:spLocks noGrp="1"/>
          </p:cNvSpPr>
          <p:nvPr>
            <p:ph type="title"/>
          </p:nvPr>
        </p:nvSpPr>
        <p:spPr>
          <a:xfrm>
            <a:off x="1211580" y="231972"/>
            <a:ext cx="7962900" cy="1325563"/>
          </a:xfrm>
        </p:spPr>
        <p:txBody>
          <a:bodyPr/>
          <a:lstStyle/>
          <a:p>
            <a:pPr algn="ctr"/>
            <a:r>
              <a:rPr lang="es-SV" sz="3200" dirty="0"/>
              <a:t>¿QUÉ ES MERCADO DE MONOPOLIO?</a:t>
            </a:r>
          </a:p>
        </p:txBody>
      </p:sp>
      <p:sp>
        <p:nvSpPr>
          <p:cNvPr id="6" name="CuadroTexto 5">
            <a:extLst>
              <a:ext uri="{FF2B5EF4-FFF2-40B4-BE49-F238E27FC236}">
                <a16:creationId xmlns:a16="http://schemas.microsoft.com/office/drawing/2014/main" id="{2778978F-9FAD-2A9E-BF00-9A97BECF56E2}"/>
              </a:ext>
            </a:extLst>
          </p:cNvPr>
          <p:cNvSpPr txBox="1"/>
          <p:nvPr/>
        </p:nvSpPr>
        <p:spPr>
          <a:xfrm>
            <a:off x="1365885" y="2762518"/>
            <a:ext cx="8972550" cy="2308324"/>
          </a:xfrm>
          <a:prstGeom prst="rect">
            <a:avLst/>
          </a:prstGeom>
          <a:noFill/>
        </p:spPr>
        <p:txBody>
          <a:bodyPr wrap="square">
            <a:spAutoFit/>
          </a:bodyPr>
          <a:lstStyle/>
          <a:p>
            <a:pPr algn="just"/>
            <a:r>
              <a:rPr lang="es-SV" sz="2400" kern="0" dirty="0">
                <a:effectLst/>
                <a:latin typeface="Arial" panose="020B0604020202020204" pitchFamily="34" charset="0"/>
                <a:ea typeface="Times New Roman" panose="02020603050405020304" pitchFamily="18" charset="0"/>
              </a:rPr>
              <a:t>Un mercado de monopolio es aquel donde una sola empresa domina la oferta de un bien o servicio sin competencia. Esto le permite fijar precios y controlar la producción. Se caracteriza por altas barrera de entrada y la ausencia de sustitutos cercanos. </a:t>
            </a:r>
            <a:r>
              <a:rPr lang="es-SV" sz="2400" kern="0" dirty="0">
                <a:effectLst/>
                <a:latin typeface="Arial" panose="020B060402020202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El monopolio es una forma de mercado imperfecta en la cual una empresa es la única proveedora de un bien o servicio</a:t>
            </a:r>
            <a:endParaRPr lang="es-SV" sz="2400" dirty="0"/>
          </a:p>
        </p:txBody>
      </p:sp>
    </p:spTree>
    <p:extLst>
      <p:ext uri="{BB962C8B-B14F-4D97-AF65-F5344CB8AC3E}">
        <p14:creationId xmlns:p14="http://schemas.microsoft.com/office/powerpoint/2010/main" val="32177318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F72625FD-3D88-0E21-BA90-A875858124F2}"/>
              </a:ext>
            </a:extLst>
          </p:cNvPr>
          <p:cNvSpPr txBox="1">
            <a:spLocks/>
          </p:cNvSpPr>
          <p:nvPr/>
        </p:nvSpPr>
        <p:spPr>
          <a:xfrm>
            <a:off x="646748" y="1116801"/>
            <a:ext cx="10515600" cy="1325563"/>
          </a:xfrm>
          <a:prstGeom prst="rect">
            <a:avLst/>
          </a:prstGeom>
        </p:spPr>
        <p:txBody>
          <a:bodyPr anchor="b"/>
          <a:lst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a:lstStyle>
          <a:p>
            <a:pPr algn="ctr">
              <a:lnSpc>
                <a:spcPct val="107000"/>
              </a:lnSpc>
              <a:spcAft>
                <a:spcPts val="1825"/>
              </a:spcAft>
            </a:pPr>
            <a:r>
              <a:rPr lang="es-SV"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CARACTERÍSTICAS DEL MERCADO DE MONOPOLIO </a:t>
            </a:r>
            <a:br>
              <a:rPr lang="es-SV" kern="100" dirty="0">
                <a:latin typeface="Calibri" panose="020F0502020204030204" pitchFamily="34" charset="0"/>
                <a:ea typeface="Calibri" panose="020F0502020204030204" pitchFamily="34" charset="0"/>
                <a:cs typeface="Times New Roman" panose="02020603050405020304" pitchFamily="18" charset="0"/>
              </a:rPr>
            </a:br>
            <a:r>
              <a:rPr lang="es-SV"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endParaRPr lang="es-SV" dirty="0"/>
          </a:p>
        </p:txBody>
      </p:sp>
      <p:sp>
        <p:nvSpPr>
          <p:cNvPr id="6" name="CuadroTexto 5">
            <a:extLst>
              <a:ext uri="{FF2B5EF4-FFF2-40B4-BE49-F238E27FC236}">
                <a16:creationId xmlns:a16="http://schemas.microsoft.com/office/drawing/2014/main" id="{61054874-7C75-5B7E-CA6C-7927930C2FDD}"/>
              </a:ext>
            </a:extLst>
          </p:cNvPr>
          <p:cNvSpPr txBox="1"/>
          <p:nvPr/>
        </p:nvSpPr>
        <p:spPr>
          <a:xfrm>
            <a:off x="829628" y="2191063"/>
            <a:ext cx="10715624" cy="4091313"/>
          </a:xfrm>
          <a:prstGeom prst="rect">
            <a:avLst/>
          </a:prstGeom>
          <a:noFill/>
        </p:spPr>
        <p:txBody>
          <a:bodyPr wrap="square">
            <a:spAutoFit/>
          </a:bodyPr>
          <a:lstStyle/>
          <a:p>
            <a:pPr algn="just">
              <a:lnSpc>
                <a:spcPct val="107000"/>
              </a:lnSpc>
              <a:spcAft>
                <a:spcPts val="1825"/>
              </a:spcAft>
            </a:pPr>
            <a:endParaRPr lang="es-SV" sz="2000" b="1" u="sng"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1825"/>
              </a:spcAft>
              <a:buFont typeface="+mj-lt"/>
              <a:buAutoNum type="arabicPeriod"/>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Un solo vendedor: una única empresa controla la oferta de un bien y servicio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825"/>
              </a:spcAft>
              <a:buFont typeface="+mj-lt"/>
              <a:buAutoNum type="arabicPeriod"/>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Ausencia de competencia: no existe la empresa rival en el mercado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825"/>
              </a:spcAft>
              <a:buFont typeface="+mj-lt"/>
              <a:buAutoNum type="arabicPeriod"/>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Producto único: no hay sustitutos cercanos para el bien o servicio ofrecido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825"/>
              </a:spcAft>
              <a:buFont typeface="+mj-lt"/>
              <a:buAutoNum type="arabicPeriod"/>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Poder de mercado: la empresa monopolista puede fijar precio o condiciones sin preocuparse por la competencia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62950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700BFE13-601A-F3BF-E299-978C8A43C859}"/>
              </a:ext>
            </a:extLst>
          </p:cNvPr>
          <p:cNvSpPr txBox="1">
            <a:spLocks/>
          </p:cNvSpPr>
          <p:nvPr/>
        </p:nvSpPr>
        <p:spPr>
          <a:xfrm>
            <a:off x="1950720" y="636271"/>
            <a:ext cx="7877176"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a:lstStyle>
          <a:p>
            <a:pPr algn="ctr"/>
            <a:r>
              <a:rPr lang="es-SV" sz="3200" dirty="0"/>
              <a:t>DIFERENCIA DE MERCADO DE MONOPOLIO</a:t>
            </a:r>
          </a:p>
        </p:txBody>
      </p:sp>
      <p:sp>
        <p:nvSpPr>
          <p:cNvPr id="6" name="CuadroTexto 5">
            <a:extLst>
              <a:ext uri="{FF2B5EF4-FFF2-40B4-BE49-F238E27FC236}">
                <a16:creationId xmlns:a16="http://schemas.microsoft.com/office/drawing/2014/main" id="{1ABC2CCB-795D-1F9D-7F12-09ACA0A93CDC}"/>
              </a:ext>
            </a:extLst>
          </p:cNvPr>
          <p:cNvSpPr txBox="1"/>
          <p:nvPr/>
        </p:nvSpPr>
        <p:spPr>
          <a:xfrm>
            <a:off x="638174" y="1961834"/>
            <a:ext cx="10915651" cy="4915705"/>
          </a:xfrm>
          <a:prstGeom prst="rect">
            <a:avLst/>
          </a:prstGeom>
          <a:noFill/>
        </p:spPr>
        <p:txBody>
          <a:bodyPr wrap="square">
            <a:spAutoFit/>
          </a:bodyPr>
          <a:lstStyle/>
          <a:p>
            <a:pPr marL="342900" lvl="0" indent="-342900" algn="just">
              <a:lnSpc>
                <a:spcPct val="107000"/>
              </a:lnSpc>
              <a:spcAft>
                <a:spcPts val="1825"/>
              </a:spcAft>
              <a:buSzPts val="1000"/>
              <a:buFont typeface="Symbol" panose="05050102010706020507" pitchFamily="18" charset="2"/>
              <a:buChar char=""/>
              <a:tabLst>
                <a:tab pos="457200" algn="l"/>
              </a:tabLs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Número de empresas: 1 sola empresa domina todo el mercado.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825"/>
              </a:spcAft>
              <a:buSzPts val="1000"/>
              <a:buFont typeface="Symbol" panose="05050102010706020507" pitchFamily="18" charset="2"/>
              <a:buChar char=""/>
              <a:tabLst>
                <a:tab pos="457200" algn="l"/>
              </a:tabLs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Productos: El producto o servicio que ofrece la empresa es único y no tiene sustitutos cercanos.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1825"/>
              </a:spcAft>
              <a:buSzPts val="1000"/>
              <a:buFont typeface="Symbol" panose="05050102010706020507" pitchFamily="18" charset="2"/>
              <a:buChar char=""/>
              <a:tabLst>
                <a:tab pos="457200" algn="l"/>
              </a:tabLs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Poder de mercado: La empresa tiene completo control sobre el precio y la cantidad del producto o servicio, ya que es la única que lo ofrece. Puede fijar los precios a su antojo.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1825"/>
              </a:spcAft>
              <a:buSzPts val="1000"/>
              <a:buFont typeface="Symbol" panose="05050102010706020507" pitchFamily="18" charset="2"/>
              <a:buChar char=""/>
              <a:tabLst>
                <a:tab pos="457200" algn="l"/>
              </a:tabLs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Barreras de entrada: Altas barreras de entrada (económicas, legales, tecnológicas) que dificultan la llegada de nuevas empresas al mercado.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SV" sz="2400" kern="0" dirty="0">
                <a:solidFill>
                  <a:srgbClr val="000000"/>
                </a:solidFill>
                <a:effectLst/>
                <a:latin typeface="Arial" panose="020B0604020202020204" pitchFamily="34" charset="0"/>
                <a:ea typeface="Times New Roman" panose="02020603050405020304" pitchFamily="18" charset="0"/>
              </a:rPr>
              <a:t>Ejemplo: Una empresa estatal de agua o energía eléctrica, que no tiene competencia en su sector</a:t>
            </a:r>
            <a:endParaRPr lang="es-SV" sz="2400" dirty="0"/>
          </a:p>
        </p:txBody>
      </p:sp>
    </p:spTree>
    <p:extLst>
      <p:ext uri="{BB962C8B-B14F-4D97-AF65-F5344CB8AC3E}">
        <p14:creationId xmlns:p14="http://schemas.microsoft.com/office/powerpoint/2010/main" val="10001162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431197F-708B-7A6B-1572-5B1D3BEC60E7}"/>
              </a:ext>
            </a:extLst>
          </p:cNvPr>
          <p:cNvSpPr txBox="1"/>
          <p:nvPr/>
        </p:nvSpPr>
        <p:spPr>
          <a:xfrm>
            <a:off x="2480310" y="643702"/>
            <a:ext cx="6484620" cy="1119665"/>
          </a:xfrm>
          <a:prstGeom prst="rect">
            <a:avLst/>
          </a:prstGeom>
          <a:noFill/>
        </p:spPr>
        <p:txBody>
          <a:bodyPr wrap="square">
            <a:spAutoFit/>
          </a:bodyPr>
          <a:lstStyle/>
          <a:p>
            <a:pPr algn="ctr">
              <a:lnSpc>
                <a:spcPct val="107000"/>
              </a:lnSpc>
              <a:spcAft>
                <a:spcPts val="1825"/>
              </a:spcAft>
            </a:pPr>
            <a:r>
              <a:rPr lang="es-SV" sz="32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EJEMPLOS DE MERCADO DE MONOPOLIO </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0A2256D2-D27F-1D4F-B358-AC063B986634}"/>
              </a:ext>
            </a:extLst>
          </p:cNvPr>
          <p:cNvSpPr txBox="1"/>
          <p:nvPr/>
        </p:nvSpPr>
        <p:spPr>
          <a:xfrm>
            <a:off x="1160144" y="2136324"/>
            <a:ext cx="6831330" cy="470000"/>
          </a:xfrm>
          <a:prstGeom prst="rect">
            <a:avLst/>
          </a:prstGeom>
          <a:noFill/>
        </p:spPr>
        <p:txBody>
          <a:bodyPr wrap="square">
            <a:spAutoFit/>
          </a:bodyPr>
          <a:lstStyle/>
          <a:p>
            <a:pPr marL="342900" indent="-342900">
              <a:lnSpc>
                <a:spcPct val="107000"/>
              </a:lnSpc>
              <a:spcAft>
                <a:spcPts val="800"/>
              </a:spcAft>
              <a:buFont typeface="Arial" panose="020B0604020202020204" pitchFamily="34" charset="0"/>
              <a:buChar char="•"/>
            </a:pPr>
            <a:r>
              <a:rPr lang="es-SV" sz="2400" kern="100" dirty="0">
                <a:effectLst/>
                <a:latin typeface="Calibri" panose="020F0502020204030204" pitchFamily="34" charset="0"/>
                <a:ea typeface="Calibri" panose="020F0502020204030204" pitchFamily="34" charset="0"/>
                <a:cs typeface="Times New Roman" panose="02020603050405020304" pitchFamily="18" charset="0"/>
              </a:rPr>
              <a:t>AES El Salvador: distribución de energía eléctrica </a:t>
            </a:r>
          </a:p>
        </p:txBody>
      </p:sp>
      <p:sp>
        <p:nvSpPr>
          <p:cNvPr id="10" name="CuadroTexto 9">
            <a:extLst>
              <a:ext uri="{FF2B5EF4-FFF2-40B4-BE49-F238E27FC236}">
                <a16:creationId xmlns:a16="http://schemas.microsoft.com/office/drawing/2014/main" id="{D08F33B4-A009-997A-9D97-B5EE6F3A3428}"/>
              </a:ext>
            </a:extLst>
          </p:cNvPr>
          <p:cNvSpPr txBox="1"/>
          <p:nvPr/>
        </p:nvSpPr>
        <p:spPr>
          <a:xfrm>
            <a:off x="1160144" y="2743484"/>
            <a:ext cx="10147935" cy="3441391"/>
          </a:xfrm>
          <a:prstGeom prst="rect">
            <a:avLst/>
          </a:prstGeom>
          <a:noFill/>
        </p:spPr>
        <p:txBody>
          <a:bodyPr wrap="square">
            <a:spAutoFit/>
          </a:bodyPr>
          <a:lstStyle/>
          <a:p>
            <a:pPr marL="342900" indent="-342900">
              <a:lnSpc>
                <a:spcPct val="107000"/>
              </a:lnSpc>
              <a:spcAft>
                <a:spcPts val="800"/>
              </a:spcAft>
              <a:buFont typeface="Arial" panose="020B0604020202020204" pitchFamily="34" charset="0"/>
              <a:buChar char="•"/>
            </a:pPr>
            <a:r>
              <a:rPr lang="es-SV" sz="2400" kern="100" dirty="0">
                <a:effectLst/>
                <a:latin typeface="Calibri" panose="020F0502020204030204" pitchFamily="34" charset="0"/>
                <a:ea typeface="Calibri" panose="020F0502020204030204" pitchFamily="34" charset="0"/>
                <a:cs typeface="Times New Roman" panose="02020603050405020304" pitchFamily="18" charset="0"/>
              </a:rPr>
              <a:t>Tigo (</a:t>
            </a:r>
            <a:r>
              <a:rPr lang="es-SV" sz="2400" kern="100" dirty="0" err="1">
                <a:effectLst/>
                <a:latin typeface="Calibri" panose="020F0502020204030204" pitchFamily="34" charset="0"/>
                <a:ea typeface="Calibri" panose="020F0502020204030204" pitchFamily="34" charset="0"/>
                <a:cs typeface="Times New Roman" panose="02020603050405020304" pitchFamily="18" charset="0"/>
              </a:rPr>
              <a:t>Millicom</a:t>
            </a:r>
            <a:r>
              <a:rPr lang="es-SV" sz="2400" kern="100" dirty="0">
                <a:effectLst/>
                <a:latin typeface="Calibri" panose="020F0502020204030204" pitchFamily="34" charset="0"/>
                <a:ea typeface="Calibri" panose="020F0502020204030204" pitchFamily="34" charset="0"/>
                <a:cs typeface="Times New Roman" panose="02020603050405020304" pitchFamily="18" charset="0"/>
              </a:rPr>
              <a:t>) y Claro (Americana Móvil): Domina el sector de telecomunicación </a:t>
            </a:r>
          </a:p>
          <a:p>
            <a:pPr marL="342900" indent="-342900">
              <a:lnSpc>
                <a:spcPct val="107000"/>
              </a:lnSpc>
              <a:spcAft>
                <a:spcPts val="800"/>
              </a:spcAft>
              <a:buFont typeface="Arial" panose="020B0604020202020204" pitchFamily="34" charset="0"/>
              <a:buChar char="•"/>
            </a:pPr>
            <a:r>
              <a:rPr lang="es-SV" sz="2400" kern="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HOLCIN: Es considerado un monopolio del cemento en El Salvador. Esta empresa privada tiene el control exclusivo del mercado de cemento en el país.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s-SV" sz="2400" kern="100"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rPr>
              <a:t>LA CONSTANCIA: Otro monopolio que ha existido en El Salvador es el de La Constancia, que ha tenido un gran dominio en el mercado de bebidas alcohólicas.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08515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1972E9A-BDFC-163C-D5C5-1F30344A4583}"/>
              </a:ext>
            </a:extLst>
          </p:cNvPr>
          <p:cNvSpPr>
            <a:spLocks noGrp="1"/>
          </p:cNvSpPr>
          <p:nvPr>
            <p:ph type="title"/>
          </p:nvPr>
        </p:nvSpPr>
        <p:spPr>
          <a:xfrm>
            <a:off x="701042" y="2332037"/>
            <a:ext cx="10515600" cy="1325563"/>
          </a:xfrm>
        </p:spPr>
        <p:txBody>
          <a:bodyPr/>
          <a:lstStyle/>
          <a:p>
            <a:r>
              <a:rPr lang="es-SV" sz="8000" b="1" kern="100" dirty="0">
                <a:effectLst/>
                <a:latin typeface="Calibri Light" panose="020F0302020204030204" pitchFamily="34" charset="0"/>
                <a:ea typeface="Times New Roman" panose="02020603050405020304" pitchFamily="18" charset="0"/>
                <a:cs typeface="Times New Roman" panose="02020603050405020304" pitchFamily="18" charset="0"/>
              </a:rPr>
              <a:t>MERCADO DE OLIGOPOLIO</a:t>
            </a:r>
            <a:br>
              <a:rPr lang="es-SV"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s-SV" dirty="0"/>
          </a:p>
        </p:txBody>
      </p:sp>
      <p:pic>
        <p:nvPicPr>
          <p:cNvPr id="5" name="Imagen 4">
            <a:extLst>
              <a:ext uri="{FF2B5EF4-FFF2-40B4-BE49-F238E27FC236}">
                <a16:creationId xmlns:a16="http://schemas.microsoft.com/office/drawing/2014/main" id="{457DCC5C-30D6-FD02-D296-64D13BDE0A30}"/>
              </a:ext>
            </a:extLst>
          </p:cNvPr>
          <p:cNvPicPr>
            <a:picLocks noChangeAspect="1"/>
          </p:cNvPicPr>
          <p:nvPr/>
        </p:nvPicPr>
        <p:blipFill>
          <a:blip r:embed="rId2"/>
          <a:stretch>
            <a:fillRect/>
          </a:stretch>
        </p:blipFill>
        <p:spPr>
          <a:xfrm>
            <a:off x="6233159" y="3657600"/>
            <a:ext cx="6096000" cy="3429000"/>
          </a:xfrm>
          <a:prstGeom prst="rect">
            <a:avLst/>
          </a:prstGeom>
        </p:spPr>
      </p:pic>
    </p:spTree>
    <p:extLst>
      <p:ext uri="{BB962C8B-B14F-4D97-AF65-F5344CB8AC3E}">
        <p14:creationId xmlns:p14="http://schemas.microsoft.com/office/powerpoint/2010/main" val="20145298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11BAD74-2164-78EF-AE60-8666FEA02AF6}"/>
              </a:ext>
            </a:extLst>
          </p:cNvPr>
          <p:cNvSpPr txBox="1"/>
          <p:nvPr/>
        </p:nvSpPr>
        <p:spPr>
          <a:xfrm>
            <a:off x="1181100" y="2255644"/>
            <a:ext cx="8248650" cy="3018199"/>
          </a:xfrm>
          <a:prstGeom prst="rect">
            <a:avLst/>
          </a:prstGeom>
          <a:noFill/>
        </p:spPr>
        <p:txBody>
          <a:bodyPr wrap="square">
            <a:spAutoFit/>
          </a:bodyPr>
          <a:lstStyle/>
          <a:p>
            <a:pPr marL="457200" algn="just">
              <a:lnSpc>
                <a:spcPct val="107000"/>
              </a:lnSpc>
              <a:spcAft>
                <a:spcPts val="1350"/>
              </a:spcAf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Un mercado de oligopolio es un tipo de estructura de mercado en la que un pequeño número de empresas controla la oferta de un bien o servicio. En este tipo de mercado, las empresas que participan tienen una influencia significativa en los precios y en las decisiones del mercado, pero no son los únicos actores presentes.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1350"/>
              </a:spcAft>
            </a:pPr>
            <a:r>
              <a:rPr lang="es-SV" sz="24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ítulo 1">
            <a:extLst>
              <a:ext uri="{FF2B5EF4-FFF2-40B4-BE49-F238E27FC236}">
                <a16:creationId xmlns:a16="http://schemas.microsoft.com/office/drawing/2014/main" id="{F9A71563-8646-1CB7-10EE-8E382D46DE21}"/>
              </a:ext>
            </a:extLst>
          </p:cNvPr>
          <p:cNvSpPr>
            <a:spLocks noGrp="1"/>
          </p:cNvSpPr>
          <p:nvPr>
            <p:ph type="title"/>
          </p:nvPr>
        </p:nvSpPr>
        <p:spPr>
          <a:xfrm>
            <a:off x="1181100" y="445332"/>
            <a:ext cx="7962900" cy="1325563"/>
          </a:xfrm>
        </p:spPr>
        <p:txBody>
          <a:bodyPr/>
          <a:lstStyle/>
          <a:p>
            <a:pPr algn="ctr"/>
            <a:r>
              <a:rPr lang="es-SV" sz="3200" dirty="0"/>
              <a:t>¿QUÉ ES MERCADO DE OLIGOPOLIO?</a:t>
            </a:r>
          </a:p>
        </p:txBody>
      </p:sp>
    </p:spTree>
    <p:extLst>
      <p:ext uri="{BB962C8B-B14F-4D97-AF65-F5344CB8AC3E}">
        <p14:creationId xmlns:p14="http://schemas.microsoft.com/office/powerpoint/2010/main" val="27752677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53E9980-0BDF-00DE-9A6F-0BC986455EE9}"/>
              </a:ext>
            </a:extLst>
          </p:cNvPr>
          <p:cNvSpPr txBox="1"/>
          <p:nvPr/>
        </p:nvSpPr>
        <p:spPr>
          <a:xfrm>
            <a:off x="1718310" y="2414367"/>
            <a:ext cx="8385810" cy="2623026"/>
          </a:xfrm>
          <a:prstGeom prst="rect">
            <a:avLst/>
          </a:prstGeom>
          <a:noFill/>
        </p:spPr>
        <p:txBody>
          <a:bodyPr wrap="square">
            <a:spAutoFit/>
          </a:bodyPr>
          <a:lstStyle/>
          <a:p>
            <a:pPr marL="457200" algn="just">
              <a:lnSpc>
                <a:spcPct val="107000"/>
              </a:lnSpc>
              <a:spcAft>
                <a:spcPts val="1350"/>
              </a:spcAf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Los oligopolios se caracterizan, a grandes rasgos, por lo siguiente:</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1350"/>
              </a:spcAft>
              <a:buSzPts val="1000"/>
              <a:buFont typeface="Symbol" panose="05050102010706020507" pitchFamily="18" charset="2"/>
              <a:buChar char=""/>
              <a:tabLst>
                <a:tab pos="457200" algn="l"/>
              </a:tabLs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Son formas de mercado en las que pocas empresas (generalmente un máximo de cuatro) compiten por el mercado, influenciando a su favor las condiciones de incorporación al mismo.</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98BFA768-4D3B-E436-2A24-86222B23B8C6}"/>
              </a:ext>
            </a:extLst>
          </p:cNvPr>
          <p:cNvSpPr txBox="1"/>
          <p:nvPr/>
        </p:nvSpPr>
        <p:spPr>
          <a:xfrm>
            <a:off x="1992630" y="796102"/>
            <a:ext cx="6484620" cy="1119665"/>
          </a:xfrm>
          <a:prstGeom prst="rect">
            <a:avLst/>
          </a:prstGeom>
          <a:noFill/>
        </p:spPr>
        <p:txBody>
          <a:bodyPr wrap="square">
            <a:spAutoFit/>
          </a:bodyPr>
          <a:lstStyle/>
          <a:p>
            <a:pPr marL="457200" algn="ctr">
              <a:lnSpc>
                <a:spcPct val="107000"/>
              </a:lnSpc>
              <a:spcAft>
                <a:spcPts val="1350"/>
              </a:spcAft>
            </a:pPr>
            <a:r>
              <a:rPr lang="es-SV" sz="3200" b="1"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CARACTERÍSTICAS DE LOS OLIGOPOLIOS</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71376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94FCBA5-651D-FDE5-2F9A-004FB3FB6C07}"/>
              </a:ext>
            </a:extLst>
          </p:cNvPr>
          <p:cNvSpPr txBox="1"/>
          <p:nvPr/>
        </p:nvSpPr>
        <p:spPr>
          <a:xfrm>
            <a:off x="487680" y="2539615"/>
            <a:ext cx="9662160" cy="2674322"/>
          </a:xfrm>
          <a:prstGeom prst="rect">
            <a:avLst/>
          </a:prstGeom>
          <a:noFill/>
        </p:spPr>
        <p:txBody>
          <a:bodyPr wrap="square">
            <a:spAutoFit/>
          </a:bodyPr>
          <a:lstStyle/>
          <a:p>
            <a:pPr marL="952500">
              <a:lnSpc>
                <a:spcPct val="107000"/>
              </a:lnSpc>
              <a:spcAft>
                <a:spcPts val="1825"/>
              </a:spcAf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Número de empresas: Pocas empresas dominan el mercado. Estas empresas son interdependientes, es decir, sus decisiones afectan a las demás.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350"/>
              </a:spcAf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Productos: Los productos pueden ser similares o diferenciados (por ejemplo, teléfonos móviles, automóviles, productos tecnológicos).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C05CA3CD-D5E3-5A3C-E28D-A7F68D0AA8E9}"/>
              </a:ext>
            </a:extLst>
          </p:cNvPr>
          <p:cNvSpPr txBox="1"/>
          <p:nvPr/>
        </p:nvSpPr>
        <p:spPr>
          <a:xfrm>
            <a:off x="1272540" y="674182"/>
            <a:ext cx="7661910" cy="1119665"/>
          </a:xfrm>
          <a:prstGeom prst="rect">
            <a:avLst/>
          </a:prstGeom>
          <a:noFill/>
        </p:spPr>
        <p:txBody>
          <a:bodyPr wrap="square">
            <a:spAutoFit/>
          </a:bodyPr>
          <a:lstStyle/>
          <a:p>
            <a:pPr marL="952500" algn="ctr">
              <a:lnSpc>
                <a:spcPct val="107000"/>
              </a:lnSpc>
              <a:spcAft>
                <a:spcPts val="1825"/>
              </a:spcAft>
            </a:pPr>
            <a:r>
              <a:rPr lang="es-SV" sz="3200" b="1" kern="0" dirty="0">
                <a:effectLst/>
                <a:latin typeface="Arial" panose="020B0604020202020204" pitchFamily="34" charset="0"/>
                <a:ea typeface="Times New Roman" panose="02020603050405020304" pitchFamily="18" charset="0"/>
                <a:cs typeface="Times New Roman" panose="02020603050405020304" pitchFamily="18" charset="0"/>
              </a:rPr>
              <a:t>DIFERENCIA DE MERCADO DE OLIGOPOLIO</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26429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921F6759-BC41-A73D-06F1-A5196D78BEC4}"/>
              </a:ext>
            </a:extLst>
          </p:cNvPr>
          <p:cNvSpPr txBox="1"/>
          <p:nvPr/>
        </p:nvSpPr>
        <p:spPr>
          <a:xfrm>
            <a:off x="1002030" y="2153362"/>
            <a:ext cx="9513570" cy="3164008"/>
          </a:xfrm>
          <a:prstGeom prst="rect">
            <a:avLst/>
          </a:prstGeom>
          <a:noFill/>
        </p:spPr>
        <p:txBody>
          <a:bodyPr wrap="square">
            <a:spAutoFit/>
          </a:bodyPr>
          <a:lstStyle/>
          <a:p>
            <a:pPr marL="457200" algn="just">
              <a:lnSpc>
                <a:spcPct val="107000"/>
              </a:lnSpc>
              <a:spcAft>
                <a:spcPts val="1350"/>
              </a:spcAft>
            </a:pPr>
            <a:r>
              <a:rPr lang="es-SV" sz="24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1350"/>
              </a:spcAf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En El Salvador, algunos ejemplos de mercados que se caracterizan por ser oligopólicos incluyen:</a:t>
            </a:r>
            <a:r>
              <a:rPr lang="es-SV" sz="24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1350"/>
              </a:spcAft>
              <a:tabLst>
                <a:tab pos="457200" algn="l"/>
              </a:tabLs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Telecomunicaciones: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1350"/>
              </a:spcAft>
              <a:buSzPts val="1000"/>
              <a:buFont typeface="Courier New" panose="02070309020205020404" pitchFamily="49" charset="0"/>
              <a:buChar char="o"/>
              <a:tabLst>
                <a:tab pos="914400" algn="l"/>
              </a:tabLs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Tigo, </a:t>
            </a:r>
          </a:p>
          <a:p>
            <a:pPr marL="742950" lvl="1" indent="-285750" algn="just">
              <a:lnSpc>
                <a:spcPct val="107000"/>
              </a:lnSpc>
              <a:spcAft>
                <a:spcPts val="1350"/>
              </a:spcAft>
              <a:buSzPts val="1000"/>
              <a:buFont typeface="Courier New" panose="02070309020205020404" pitchFamily="49" charset="0"/>
              <a:buChar char="o"/>
              <a:tabLst>
                <a:tab pos="914400" algn="l"/>
              </a:tabLst>
            </a:pP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C37969FF-8EF5-E32A-CB7C-CF0FAF453D51}"/>
              </a:ext>
            </a:extLst>
          </p:cNvPr>
          <p:cNvSpPr txBox="1"/>
          <p:nvPr/>
        </p:nvSpPr>
        <p:spPr>
          <a:xfrm>
            <a:off x="2091690" y="537022"/>
            <a:ext cx="6484620" cy="1119665"/>
          </a:xfrm>
          <a:prstGeom prst="rect">
            <a:avLst/>
          </a:prstGeom>
          <a:noFill/>
        </p:spPr>
        <p:txBody>
          <a:bodyPr wrap="square">
            <a:spAutoFit/>
          </a:bodyPr>
          <a:lstStyle/>
          <a:p>
            <a:pPr marL="457200" algn="ctr">
              <a:lnSpc>
                <a:spcPct val="107000"/>
              </a:lnSpc>
              <a:spcAft>
                <a:spcPts val="1350"/>
              </a:spcAft>
            </a:pPr>
            <a:r>
              <a:rPr lang="es-SV" sz="3200" b="1"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EJEMPLO DE MERCADO DE OLIGOPOLIO </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CuadroTexto 1">
            <a:extLst>
              <a:ext uri="{FF2B5EF4-FFF2-40B4-BE49-F238E27FC236}">
                <a16:creationId xmlns:a16="http://schemas.microsoft.com/office/drawing/2014/main" id="{27DAF5E6-75C8-CFF9-0B43-E4147A752B59}"/>
              </a:ext>
            </a:extLst>
          </p:cNvPr>
          <p:cNvSpPr txBox="1"/>
          <p:nvPr/>
        </p:nvSpPr>
        <p:spPr>
          <a:xfrm>
            <a:off x="1421130" y="4799620"/>
            <a:ext cx="11235690" cy="1042337"/>
          </a:xfrm>
          <a:prstGeom prst="rect">
            <a:avLst/>
          </a:prstGeom>
          <a:noFill/>
        </p:spPr>
        <p:txBody>
          <a:bodyPr wrap="square">
            <a:spAutoFit/>
          </a:bodyPr>
          <a:lstStyle/>
          <a:p>
            <a:pPr marL="342900" lvl="0" indent="-342900" algn="just">
              <a:lnSpc>
                <a:spcPct val="107000"/>
              </a:lnSpc>
              <a:spcAft>
                <a:spcPts val="1350"/>
              </a:spcAft>
              <a:buFont typeface="Arial" panose="020B0604020202020204" pitchFamily="34" charset="0"/>
              <a:buChar char="•"/>
              <a:tabLst>
                <a:tab pos="457200" algn="l"/>
              </a:tabLs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Banca:</a:t>
            </a:r>
            <a:r>
              <a:rPr lang="es-SV" sz="2400" kern="1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lnSpc>
                <a:spcPct val="107000"/>
              </a:lnSpc>
              <a:spcAft>
                <a:spcPts val="1350"/>
              </a:spcAft>
              <a:buFont typeface="Arial" panose="020B0604020202020204" pitchFamily="34" charset="0"/>
              <a:buChar char="•"/>
              <a:tabLst>
                <a:tab pos="457200" algn="l"/>
              </a:tabLst>
            </a:pPr>
            <a:r>
              <a:rPr lang="es-SV" sz="2400"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Energía</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3013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9C1429-3672-D3B4-ADCB-9B4AABB43FA3}"/>
              </a:ext>
            </a:extLst>
          </p:cNvPr>
          <p:cNvSpPr>
            <a:spLocks noGrp="1"/>
          </p:cNvSpPr>
          <p:nvPr>
            <p:ph type="title"/>
          </p:nvPr>
        </p:nvSpPr>
        <p:spPr>
          <a:xfrm>
            <a:off x="838200" y="1706245"/>
            <a:ext cx="10515600" cy="1325563"/>
          </a:xfrm>
        </p:spPr>
        <p:txBody>
          <a:bodyPr/>
          <a:lstStyle/>
          <a:p>
            <a:r>
              <a:rPr lang="es-SV" sz="8000" b="1" kern="100" dirty="0">
                <a:effectLst/>
                <a:latin typeface="Calibri Light" panose="020F0302020204030204" pitchFamily="34" charset="0"/>
                <a:ea typeface="Times New Roman" panose="02020603050405020304" pitchFamily="18" charset="0"/>
                <a:cs typeface="Times New Roman" panose="02020603050405020304" pitchFamily="18" charset="0"/>
              </a:rPr>
              <a:t>MERCADO DE COMPETENCIA </a:t>
            </a:r>
            <a:br>
              <a:rPr lang="es-SV" sz="8000" b="1" kern="100" dirty="0">
                <a:effectLst/>
                <a:latin typeface="Calibri Light" panose="020F0302020204030204" pitchFamily="34" charset="0"/>
                <a:ea typeface="Times New Roman" panose="02020603050405020304" pitchFamily="18" charset="0"/>
                <a:cs typeface="Times New Roman" panose="02020603050405020304" pitchFamily="18" charset="0"/>
              </a:rPr>
            </a:br>
            <a:r>
              <a:rPr lang="es-SV" sz="8000" b="1" kern="100" dirty="0">
                <a:effectLst/>
                <a:latin typeface="Calibri Light" panose="020F0302020204030204" pitchFamily="34" charset="0"/>
                <a:ea typeface="Times New Roman" panose="02020603050405020304" pitchFamily="18" charset="0"/>
                <a:cs typeface="Times New Roman" panose="02020603050405020304" pitchFamily="18" charset="0"/>
              </a:rPr>
              <a:t>PERFECTA</a:t>
            </a:r>
            <a:endParaRPr lang="es-SV" sz="8000" dirty="0"/>
          </a:p>
        </p:txBody>
      </p:sp>
      <p:pic>
        <p:nvPicPr>
          <p:cNvPr id="5" name="Imagen 4">
            <a:extLst>
              <a:ext uri="{FF2B5EF4-FFF2-40B4-BE49-F238E27FC236}">
                <a16:creationId xmlns:a16="http://schemas.microsoft.com/office/drawing/2014/main" id="{795CE466-46FC-B3AB-A8CC-2B5E04FA44D5}"/>
              </a:ext>
            </a:extLst>
          </p:cNvPr>
          <p:cNvPicPr>
            <a:picLocks noChangeAspect="1"/>
          </p:cNvPicPr>
          <p:nvPr/>
        </p:nvPicPr>
        <p:blipFill>
          <a:blip r:embed="rId2"/>
          <a:stretch>
            <a:fillRect/>
          </a:stretch>
        </p:blipFill>
        <p:spPr>
          <a:xfrm>
            <a:off x="7108303" y="3566160"/>
            <a:ext cx="5206569" cy="3473865"/>
          </a:xfrm>
          <a:prstGeom prst="rect">
            <a:avLst/>
          </a:prstGeom>
        </p:spPr>
      </p:pic>
    </p:spTree>
    <p:extLst>
      <p:ext uri="{BB962C8B-B14F-4D97-AF65-F5344CB8AC3E}">
        <p14:creationId xmlns:p14="http://schemas.microsoft.com/office/powerpoint/2010/main" val="32437820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D8DB6F9-8220-9EDF-375E-713F03EDDEC6}"/>
              </a:ext>
            </a:extLst>
          </p:cNvPr>
          <p:cNvSpPr txBox="1"/>
          <p:nvPr/>
        </p:nvSpPr>
        <p:spPr>
          <a:xfrm>
            <a:off x="1796415" y="614095"/>
            <a:ext cx="8599170" cy="1077218"/>
          </a:xfrm>
          <a:prstGeom prst="rect">
            <a:avLst/>
          </a:prstGeom>
          <a:noFill/>
        </p:spPr>
        <p:txBody>
          <a:bodyPr wrap="square">
            <a:spAutoFit/>
          </a:bodyPr>
          <a:lstStyle/>
          <a:p>
            <a:pPr algn="ctr"/>
            <a:r>
              <a:rPr lang="es-SV" sz="3200" b="1" kern="100" dirty="0">
                <a:effectLst/>
                <a:latin typeface="Arial" panose="020B0604020202020204" pitchFamily="34" charset="0"/>
                <a:ea typeface="Times New Roman" panose="02020603050405020304" pitchFamily="18" charset="0"/>
                <a:cs typeface="Arial" panose="020B0604020202020204" pitchFamily="34" charset="0"/>
              </a:rPr>
              <a:t>¿QUE ES EL MERCADO DE COMPETENCIA </a:t>
            </a:r>
            <a:br>
              <a:rPr lang="es-SV" sz="3200" b="1" kern="100" dirty="0">
                <a:effectLst/>
                <a:latin typeface="Arial" panose="020B0604020202020204" pitchFamily="34" charset="0"/>
                <a:ea typeface="Times New Roman" panose="02020603050405020304" pitchFamily="18" charset="0"/>
                <a:cs typeface="Arial" panose="020B0604020202020204" pitchFamily="34" charset="0"/>
              </a:rPr>
            </a:br>
            <a:r>
              <a:rPr lang="es-SV" sz="3200" b="1" kern="100" dirty="0">
                <a:effectLst/>
                <a:latin typeface="Arial" panose="020B0604020202020204" pitchFamily="34" charset="0"/>
                <a:ea typeface="Times New Roman" panose="02020603050405020304" pitchFamily="18" charset="0"/>
                <a:cs typeface="Arial" panose="020B0604020202020204" pitchFamily="34" charset="0"/>
              </a:rPr>
              <a:t>PERFECTA ?</a:t>
            </a:r>
            <a:endParaRPr lang="es-SV" sz="3200" b="1"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49170D5A-DF25-6011-CDE1-6D99E1C6ABDD}"/>
              </a:ext>
            </a:extLst>
          </p:cNvPr>
          <p:cNvSpPr txBox="1"/>
          <p:nvPr/>
        </p:nvSpPr>
        <p:spPr>
          <a:xfrm>
            <a:off x="1676400" y="2601844"/>
            <a:ext cx="9353551" cy="2308324"/>
          </a:xfrm>
          <a:prstGeom prst="rect">
            <a:avLst/>
          </a:prstGeom>
          <a:noFill/>
        </p:spPr>
        <p:txBody>
          <a:bodyPr wrap="square">
            <a:spAutoFit/>
          </a:bodyPr>
          <a:lstStyle/>
          <a:p>
            <a:r>
              <a:rPr lang="es-SV" sz="2400" dirty="0">
                <a:latin typeface="Arial" panose="020B0604020202020204" pitchFamily="34" charset="0"/>
                <a:cs typeface="Arial" panose="020B0604020202020204" pitchFamily="34" charset="0"/>
              </a:rPr>
              <a:t>La competencia perfecta es un tipo de mercado en el que hay muchas empresas que producen y venden bienes o servicios idénticos, los consumidores tienen acceso a información completa sobre los productos y los precios. En un mercado de competencia perfecta, ningún comprador o vendedor tiene el poder de influir en el precio.</a:t>
            </a:r>
          </a:p>
        </p:txBody>
      </p:sp>
    </p:spTree>
    <p:extLst>
      <p:ext uri="{BB962C8B-B14F-4D97-AF65-F5344CB8AC3E}">
        <p14:creationId xmlns:p14="http://schemas.microsoft.com/office/powerpoint/2010/main" val="13933253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FCFFDB0-999C-75FC-D473-43E7EE119063}"/>
              </a:ext>
            </a:extLst>
          </p:cNvPr>
          <p:cNvSpPr txBox="1"/>
          <p:nvPr/>
        </p:nvSpPr>
        <p:spPr>
          <a:xfrm>
            <a:off x="857249" y="981046"/>
            <a:ext cx="10215563" cy="1077218"/>
          </a:xfrm>
          <a:prstGeom prst="rect">
            <a:avLst/>
          </a:prstGeom>
          <a:noFill/>
        </p:spPr>
        <p:txBody>
          <a:bodyPr wrap="square">
            <a:spAutoFit/>
          </a:bodyPr>
          <a:lstStyle/>
          <a:p>
            <a:pPr algn="ctr"/>
            <a:r>
              <a:rPr lang="es-SV" sz="3200" b="1" dirty="0">
                <a:latin typeface="Arial" panose="020B0604020202020204" pitchFamily="34" charset="0"/>
                <a:cs typeface="Arial" panose="020B0604020202020204" pitchFamily="34" charset="0"/>
              </a:rPr>
              <a:t>CARACTERÍSTICAS DEL MERCADO DE COMPETENCIA PERFECTA </a:t>
            </a:r>
            <a:endParaRPr lang="es-SV" sz="3200" b="1" dirty="0"/>
          </a:p>
        </p:txBody>
      </p:sp>
      <p:sp>
        <p:nvSpPr>
          <p:cNvPr id="6" name="CuadroTexto 5">
            <a:extLst>
              <a:ext uri="{FF2B5EF4-FFF2-40B4-BE49-F238E27FC236}">
                <a16:creationId xmlns:a16="http://schemas.microsoft.com/office/drawing/2014/main" id="{B65BF969-F2AE-6954-0BF2-5ED121BEF245}"/>
              </a:ext>
            </a:extLst>
          </p:cNvPr>
          <p:cNvSpPr txBox="1"/>
          <p:nvPr/>
        </p:nvSpPr>
        <p:spPr>
          <a:xfrm>
            <a:off x="1363504" y="2727007"/>
            <a:ext cx="8215312" cy="1938992"/>
          </a:xfrm>
          <a:prstGeom prst="rect">
            <a:avLst/>
          </a:prstGeom>
          <a:noFill/>
        </p:spPr>
        <p:txBody>
          <a:bodyPr wrap="square">
            <a:spAutoFit/>
          </a:bodyPr>
          <a:lstStyle/>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Muchos compradores y vendedores </a:t>
            </a:r>
          </a:p>
          <a:p>
            <a:endParaRPr lang="es-SV"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Productos homogéneos </a:t>
            </a:r>
          </a:p>
          <a:p>
            <a:pPr marL="342900" indent="-342900">
              <a:buFont typeface="Arial" panose="020B0604020202020204" pitchFamily="34" charset="0"/>
              <a:buChar char="•"/>
            </a:pPr>
            <a:endParaRPr lang="es-SV"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Libre entrada y salida</a:t>
            </a:r>
          </a:p>
        </p:txBody>
      </p:sp>
    </p:spTree>
    <p:extLst>
      <p:ext uri="{BB962C8B-B14F-4D97-AF65-F5344CB8AC3E}">
        <p14:creationId xmlns:p14="http://schemas.microsoft.com/office/powerpoint/2010/main" val="29014922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F6EA3BC-9EA7-A570-2A2E-AA82375DD0D5}"/>
              </a:ext>
            </a:extLst>
          </p:cNvPr>
          <p:cNvSpPr txBox="1"/>
          <p:nvPr/>
        </p:nvSpPr>
        <p:spPr>
          <a:xfrm>
            <a:off x="1945004" y="725448"/>
            <a:ext cx="7869556" cy="1077218"/>
          </a:xfrm>
          <a:prstGeom prst="rect">
            <a:avLst/>
          </a:prstGeom>
          <a:noFill/>
        </p:spPr>
        <p:txBody>
          <a:bodyPr wrap="square">
            <a:spAutoFit/>
          </a:bodyPr>
          <a:lstStyle/>
          <a:p>
            <a:pPr algn="ctr"/>
            <a:r>
              <a:rPr lang="es-SV" sz="3200" b="1" dirty="0">
                <a:latin typeface="Arial" panose="020B0604020202020204" pitchFamily="34" charset="0"/>
                <a:cs typeface="Arial" panose="020B0604020202020204" pitchFamily="34" charset="0"/>
              </a:rPr>
              <a:t>DIFERENCIA DE MERCADO DE COMPETENCIA PERFECTA </a:t>
            </a:r>
          </a:p>
        </p:txBody>
      </p:sp>
      <p:sp>
        <p:nvSpPr>
          <p:cNvPr id="7" name="CuadroTexto 6">
            <a:extLst>
              <a:ext uri="{FF2B5EF4-FFF2-40B4-BE49-F238E27FC236}">
                <a16:creationId xmlns:a16="http://schemas.microsoft.com/office/drawing/2014/main" id="{14B76672-3D73-AC85-3E74-A9015CB45C42}"/>
              </a:ext>
            </a:extLst>
          </p:cNvPr>
          <p:cNvSpPr txBox="1"/>
          <p:nvPr/>
        </p:nvSpPr>
        <p:spPr>
          <a:xfrm>
            <a:off x="1279208" y="2131486"/>
            <a:ext cx="7100886" cy="2308324"/>
          </a:xfrm>
          <a:prstGeom prst="rect">
            <a:avLst/>
          </a:prstGeom>
          <a:noFill/>
        </p:spPr>
        <p:txBody>
          <a:bodyPr wrap="square">
            <a:spAutoFit/>
          </a:bodyPr>
          <a:lstStyle/>
          <a:p>
            <a:endParaRPr lang="es-SV"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Número de empresas </a:t>
            </a:r>
          </a:p>
          <a:p>
            <a:endParaRPr lang="es-SV"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Productos </a:t>
            </a:r>
          </a:p>
          <a:p>
            <a:pPr marL="342900" indent="-342900">
              <a:buFont typeface="Arial" panose="020B0604020202020204" pitchFamily="34" charset="0"/>
              <a:buChar char="•"/>
            </a:pPr>
            <a:endParaRPr lang="es-SV"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SV" sz="2400" dirty="0">
                <a:latin typeface="Arial" panose="020B0604020202020204" pitchFamily="34" charset="0"/>
                <a:cs typeface="Arial" panose="020B0604020202020204" pitchFamily="34" charset="0"/>
              </a:rPr>
              <a:t>Poder de mercado</a:t>
            </a:r>
          </a:p>
        </p:txBody>
      </p:sp>
    </p:spTree>
    <p:extLst>
      <p:ext uri="{BB962C8B-B14F-4D97-AF65-F5344CB8AC3E}">
        <p14:creationId xmlns:p14="http://schemas.microsoft.com/office/powerpoint/2010/main" val="23388030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E4AFCB0-047E-BD7A-97AF-FB5D351866FD}"/>
              </a:ext>
            </a:extLst>
          </p:cNvPr>
          <p:cNvSpPr txBox="1"/>
          <p:nvPr/>
        </p:nvSpPr>
        <p:spPr>
          <a:xfrm>
            <a:off x="554355" y="1938658"/>
            <a:ext cx="10753725" cy="965392"/>
          </a:xfrm>
          <a:prstGeom prst="rect">
            <a:avLst/>
          </a:prstGeom>
          <a:noFill/>
        </p:spPr>
        <p:txBody>
          <a:bodyPr wrap="square">
            <a:spAutoFit/>
          </a:bodyPr>
          <a:lstStyle/>
          <a:p>
            <a:pPr marL="457200" algn="just">
              <a:lnSpc>
                <a:spcPct val="107000"/>
              </a:lnSpc>
              <a:spcAft>
                <a:spcPts val="800"/>
              </a:spcAft>
            </a:pP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 Mercado de productos agrícolas básicos: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Ejemplo</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mercado de granos básicos como el maíz o el frijol</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F8C19AF9-D3FB-0D1F-A22B-21B4C657E045}"/>
              </a:ext>
            </a:extLst>
          </p:cNvPr>
          <p:cNvSpPr txBox="1"/>
          <p:nvPr/>
        </p:nvSpPr>
        <p:spPr>
          <a:xfrm>
            <a:off x="1788795" y="567502"/>
            <a:ext cx="8614410" cy="1119665"/>
          </a:xfrm>
          <a:prstGeom prst="rect">
            <a:avLst/>
          </a:prstGeom>
          <a:noFill/>
        </p:spPr>
        <p:txBody>
          <a:bodyPr wrap="square">
            <a:spAutoFit/>
          </a:bodyPr>
          <a:lstStyle/>
          <a:p>
            <a:pPr marL="457200" algn="ctr">
              <a:lnSpc>
                <a:spcPct val="107000"/>
              </a:lnSpc>
              <a:spcAft>
                <a:spcPts val="800"/>
              </a:spcAft>
            </a:pPr>
            <a:r>
              <a:rPr lang="es-SV" sz="32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Ejemplo de mercado de competencia perfecta</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53789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DDD9DE-8D84-CF7C-95B1-39F89077FB49}"/>
              </a:ext>
            </a:extLst>
          </p:cNvPr>
          <p:cNvSpPr>
            <a:spLocks noGrp="1"/>
          </p:cNvSpPr>
          <p:nvPr>
            <p:ph type="ctrTitle"/>
          </p:nvPr>
        </p:nvSpPr>
        <p:spPr>
          <a:xfrm>
            <a:off x="274320" y="3713480"/>
            <a:ext cx="9144000" cy="2387600"/>
          </a:xfrm>
        </p:spPr>
        <p:txBody>
          <a:bodyPr/>
          <a:lstStyle/>
          <a:p>
            <a:pPr algn="l"/>
            <a:r>
              <a:rPr lang="es-SV" sz="6600" b="1" kern="100" dirty="0">
                <a:effectLst/>
                <a:latin typeface="Calibri Light" panose="020F0302020204030204" pitchFamily="34" charset="0"/>
                <a:ea typeface="Times New Roman" panose="02020603050405020304" pitchFamily="18" charset="0"/>
                <a:cs typeface="Times New Roman" panose="02020603050405020304" pitchFamily="18" charset="0"/>
              </a:rPr>
              <a:t>MERCADO DE COMPETENCIA MONOPOLÍSTICA</a:t>
            </a:r>
            <a:br>
              <a:rPr lang="es-SV"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es-SV" dirty="0"/>
          </a:p>
        </p:txBody>
      </p:sp>
      <p:pic>
        <p:nvPicPr>
          <p:cNvPr id="3" name="Imagen 2">
            <a:extLst>
              <a:ext uri="{FF2B5EF4-FFF2-40B4-BE49-F238E27FC236}">
                <a16:creationId xmlns:a16="http://schemas.microsoft.com/office/drawing/2014/main" id="{D96CBB71-4C4A-513B-F771-9C1C15FC3B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640" y="3429000"/>
            <a:ext cx="5547360" cy="3657600"/>
          </a:xfrm>
          <a:prstGeom prst="rect">
            <a:avLst/>
          </a:prstGeom>
        </p:spPr>
      </p:pic>
    </p:spTree>
    <p:extLst>
      <p:ext uri="{BB962C8B-B14F-4D97-AF65-F5344CB8AC3E}">
        <p14:creationId xmlns:p14="http://schemas.microsoft.com/office/powerpoint/2010/main" val="34316312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957FB3B-08F7-F404-1D20-BA1F8BCB7890}"/>
              </a:ext>
            </a:extLst>
          </p:cNvPr>
          <p:cNvSpPr txBox="1"/>
          <p:nvPr/>
        </p:nvSpPr>
        <p:spPr>
          <a:xfrm>
            <a:off x="1261110" y="2231929"/>
            <a:ext cx="8812530" cy="3233834"/>
          </a:xfrm>
          <a:prstGeom prst="rect">
            <a:avLst/>
          </a:prstGeom>
          <a:noFill/>
        </p:spPr>
        <p:txBody>
          <a:bodyPr wrap="square">
            <a:spAutoFit/>
          </a:bodyPr>
          <a:lstStyle/>
          <a:p>
            <a:pPr marL="457200" algn="just">
              <a:lnSpc>
                <a:spcPct val="107000"/>
              </a:lnSpc>
              <a:spcAft>
                <a:spcPts val="800"/>
              </a:spcAf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El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mercado de competencia monopolística</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es una estructura de mercado que se caracteriza por tener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muchos competidores,</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pero con productos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diferenciados</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Es una mezcla entre los mercados de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competencia perfecta</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monopolio</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Las empresas tienen algo de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poder de mercado</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gracias a las diferencias entre sus productos, pero siguen enfrentando competencia de otras empresas que ofrecen productos similares.</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55647A2B-4ACB-59CE-9F00-77768613AF71}"/>
              </a:ext>
            </a:extLst>
          </p:cNvPr>
          <p:cNvSpPr txBox="1"/>
          <p:nvPr/>
        </p:nvSpPr>
        <p:spPr>
          <a:xfrm>
            <a:off x="1621155" y="583615"/>
            <a:ext cx="8599170" cy="1077218"/>
          </a:xfrm>
          <a:prstGeom prst="rect">
            <a:avLst/>
          </a:prstGeom>
          <a:noFill/>
        </p:spPr>
        <p:txBody>
          <a:bodyPr wrap="square">
            <a:spAutoFit/>
          </a:bodyPr>
          <a:lstStyle/>
          <a:p>
            <a:pPr algn="ctr"/>
            <a:r>
              <a:rPr lang="es-SV" sz="3200" b="1" kern="100" dirty="0">
                <a:effectLst/>
                <a:latin typeface="Arial" panose="020B0604020202020204" pitchFamily="34" charset="0"/>
                <a:ea typeface="Times New Roman" panose="02020603050405020304" pitchFamily="18" charset="0"/>
                <a:cs typeface="Arial" panose="020B0604020202020204" pitchFamily="34" charset="0"/>
              </a:rPr>
              <a:t>¿QUE ES EL MERCADO DE COMPETENCIA </a:t>
            </a:r>
            <a:br>
              <a:rPr lang="es-SV" sz="3200" b="1" kern="100" dirty="0">
                <a:effectLst/>
                <a:latin typeface="Arial" panose="020B0604020202020204" pitchFamily="34" charset="0"/>
                <a:ea typeface="Times New Roman" panose="02020603050405020304" pitchFamily="18" charset="0"/>
                <a:cs typeface="Arial" panose="020B0604020202020204" pitchFamily="34" charset="0"/>
              </a:rPr>
            </a:br>
            <a:r>
              <a:rPr lang="es-SV" sz="3200" b="1" kern="100" dirty="0">
                <a:latin typeface="Arial" panose="020B0604020202020204" pitchFamily="34" charset="0"/>
                <a:ea typeface="Times New Roman" panose="02020603050405020304" pitchFamily="18" charset="0"/>
                <a:cs typeface="Arial" panose="020B0604020202020204" pitchFamily="34" charset="0"/>
              </a:rPr>
              <a:t>MONOPOLISTICA </a:t>
            </a:r>
            <a:r>
              <a:rPr lang="es-SV" sz="3200" b="1" kern="100" dirty="0">
                <a:effectLst/>
                <a:latin typeface="Arial" panose="020B0604020202020204" pitchFamily="34" charset="0"/>
                <a:ea typeface="Times New Roman" panose="02020603050405020304" pitchFamily="18" charset="0"/>
                <a:cs typeface="Arial" panose="020B0604020202020204" pitchFamily="34" charset="0"/>
              </a:rPr>
              <a:t> ?</a:t>
            </a:r>
            <a:endParaRPr lang="es-SV"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16068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5F70A15-EAD1-B2A6-8552-8946D4CE04F1}"/>
              </a:ext>
            </a:extLst>
          </p:cNvPr>
          <p:cNvSpPr txBox="1"/>
          <p:nvPr/>
        </p:nvSpPr>
        <p:spPr>
          <a:xfrm>
            <a:off x="1184910" y="510760"/>
            <a:ext cx="8279130" cy="1119665"/>
          </a:xfrm>
          <a:prstGeom prst="rect">
            <a:avLst/>
          </a:prstGeom>
          <a:noFill/>
        </p:spPr>
        <p:txBody>
          <a:bodyPr wrap="square">
            <a:spAutoFit/>
          </a:bodyPr>
          <a:lstStyle/>
          <a:p>
            <a:pPr marL="457200" algn="ctr">
              <a:lnSpc>
                <a:spcPct val="107000"/>
              </a:lnSpc>
              <a:spcAft>
                <a:spcPts val="800"/>
              </a:spcAft>
            </a:pPr>
            <a:r>
              <a:rPr lang="es-SV" sz="32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Características del mercado de competencia monopolista</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5E766C34-7BDB-65F8-EE7E-98F065457906}"/>
              </a:ext>
            </a:extLst>
          </p:cNvPr>
          <p:cNvSpPr txBox="1"/>
          <p:nvPr/>
        </p:nvSpPr>
        <p:spPr>
          <a:xfrm>
            <a:off x="518160" y="1769429"/>
            <a:ext cx="11155680" cy="4331955"/>
          </a:xfrm>
          <a:prstGeom prst="rect">
            <a:avLst/>
          </a:prstGeom>
          <a:noFill/>
        </p:spPr>
        <p:txBody>
          <a:bodyPr wrap="square">
            <a:spAutoFit/>
          </a:bodyPr>
          <a:lstStyle/>
          <a:p>
            <a:pPr marL="457200" algn="just">
              <a:lnSpc>
                <a:spcPct val="107000"/>
              </a:lnSpc>
              <a:spcAft>
                <a:spcPts val="800"/>
              </a:spcAft>
            </a:pP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Muchos vendedores</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Existen varias empresas que venden productos similares, pero no idénticos. Las empresas no tienen el control total del mercado, pero la competencia es menos intensa que en un mercado de competencia perfecta debido a la diferenciación de productos.</a:t>
            </a:r>
            <a:endParaRPr lang="es-SV" sz="2400"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Diferenciación de productos</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Cada empresa ofrece un producto que tiene características particulares que lo hacen único, ya sea en términos de calidad, marca, diseño, servicio o características adicionales. Esto le da a cada empresa cierto poder para fijar precios por encima del costo marginal.</a:t>
            </a: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68735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6291F258-CD78-CB19-B253-3E175A4126CE}"/>
              </a:ext>
            </a:extLst>
          </p:cNvPr>
          <p:cNvSpPr txBox="1"/>
          <p:nvPr/>
        </p:nvSpPr>
        <p:spPr>
          <a:xfrm>
            <a:off x="1250633" y="1922753"/>
            <a:ext cx="9989820" cy="2458686"/>
          </a:xfrm>
          <a:prstGeom prst="rect">
            <a:avLst/>
          </a:prstGeom>
          <a:noFill/>
        </p:spPr>
        <p:txBody>
          <a:bodyPr wrap="square">
            <a:spAutoFit/>
          </a:bodyPr>
          <a:lstStyle/>
          <a:p>
            <a:pPr lvl="0" algn="just">
              <a:lnSpc>
                <a:spcPct val="107000"/>
              </a:lnSpc>
              <a:spcAft>
                <a:spcPts val="800"/>
              </a:spcAft>
              <a:tabLst>
                <a:tab pos="457200" algn="l"/>
              </a:tabLst>
            </a:pPr>
            <a:r>
              <a:rPr lang="es-SV" sz="2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.Poder limitado sobre los precios:</a:t>
            </a:r>
          </a:p>
          <a:p>
            <a:pPr lvl="0" algn="just">
              <a:lnSpc>
                <a:spcPct val="107000"/>
              </a:lnSpc>
              <a:spcAft>
                <a:spcPts val="800"/>
              </a:spcAft>
              <a:tabLst>
                <a:tab pos="457200" algn="l"/>
              </a:tabLst>
            </a:pP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s-SV" sz="2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Libre entrada y salida</a:t>
            </a:r>
            <a:r>
              <a:rPr lang="es-SV" sz="2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endParaRPr lang="es-SV" sz="2400"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s-SV" sz="2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6</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.Publicidad y marketing</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s-SV" sz="2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66820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2AC8A5E-DA52-8B0D-F57B-F2E53FC840CB}"/>
              </a:ext>
            </a:extLst>
          </p:cNvPr>
          <p:cNvSpPr txBox="1"/>
          <p:nvPr/>
        </p:nvSpPr>
        <p:spPr>
          <a:xfrm>
            <a:off x="424815" y="1986441"/>
            <a:ext cx="10713720" cy="1360565"/>
          </a:xfrm>
          <a:prstGeom prst="rect">
            <a:avLst/>
          </a:prstGeom>
          <a:noFill/>
        </p:spPr>
        <p:txBody>
          <a:bodyPr wrap="square">
            <a:spAutoFit/>
          </a:bodyPr>
          <a:lstStyle/>
          <a:p>
            <a:pPr marL="457200" algn="just">
              <a:lnSpc>
                <a:spcPct val="107000"/>
              </a:lnSpc>
              <a:spcAft>
                <a:spcPts val="800"/>
              </a:spcAft>
            </a:pP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En El Salvador, algunos ejemplos de mercados que se ajustan a las características de </a:t>
            </a: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competencia monopolística</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incluyen:</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es-SV" sz="24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 Restaurantes y comida rápida:</a:t>
            </a:r>
            <a:endParaRPr lang="es-SV"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C19C1C2A-1296-A3E8-E95D-73A61EF94325}"/>
              </a:ext>
            </a:extLst>
          </p:cNvPr>
          <p:cNvSpPr txBox="1"/>
          <p:nvPr/>
        </p:nvSpPr>
        <p:spPr>
          <a:xfrm>
            <a:off x="910590" y="582742"/>
            <a:ext cx="9742170" cy="1119665"/>
          </a:xfrm>
          <a:prstGeom prst="rect">
            <a:avLst/>
          </a:prstGeom>
          <a:noFill/>
        </p:spPr>
        <p:txBody>
          <a:bodyPr wrap="square">
            <a:spAutoFit/>
          </a:bodyPr>
          <a:lstStyle/>
          <a:p>
            <a:pPr marL="457200" algn="ctr">
              <a:lnSpc>
                <a:spcPct val="107000"/>
              </a:lnSpc>
              <a:spcAft>
                <a:spcPts val="800"/>
              </a:spcAft>
            </a:pPr>
            <a:r>
              <a:rPr lang="es-SV" sz="3200" b="1"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EJEMPLO DE MERCADO DE COMPETENCIA MONOPOLÍSTICA</a:t>
            </a:r>
            <a:endParaRPr lang="es-SV"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76239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12CCBD-F0BA-C20C-325A-696BA17F8181}"/>
              </a:ext>
            </a:extLst>
          </p:cNvPr>
          <p:cNvSpPr>
            <a:spLocks noGrp="1"/>
          </p:cNvSpPr>
          <p:nvPr>
            <p:ph type="ctrTitle"/>
          </p:nvPr>
        </p:nvSpPr>
        <p:spPr>
          <a:xfrm>
            <a:off x="1524000" y="1041400"/>
            <a:ext cx="9144000" cy="2387600"/>
          </a:xfrm>
        </p:spPr>
        <p:txBody>
          <a:bodyPr/>
          <a:lstStyle/>
          <a:p>
            <a:r>
              <a:rPr lang="es-SV" sz="5400" b="1" dirty="0">
                <a:effectLst/>
                <a:latin typeface="Calibri" panose="020F0502020204030204" pitchFamily="34" charset="0"/>
                <a:ea typeface="Times New Roman" panose="02020603050405020304" pitchFamily="18" charset="0"/>
                <a:cs typeface="Times New Roman" panose="02020603050405020304" pitchFamily="18" charset="0"/>
              </a:rPr>
              <a:t>OTROS TIPOS DE MERCADO:</a:t>
            </a:r>
            <a:endParaRPr lang="es-SV" sz="5400" b="1" dirty="0"/>
          </a:p>
        </p:txBody>
      </p:sp>
    </p:spTree>
    <p:extLst>
      <p:ext uri="{BB962C8B-B14F-4D97-AF65-F5344CB8AC3E}">
        <p14:creationId xmlns:p14="http://schemas.microsoft.com/office/powerpoint/2010/main" val="30030231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7179878-FC5D-7261-3EF8-9BBCE4792F1F}"/>
              </a:ext>
            </a:extLst>
          </p:cNvPr>
          <p:cNvSpPr txBox="1"/>
          <p:nvPr/>
        </p:nvSpPr>
        <p:spPr>
          <a:xfrm>
            <a:off x="304800" y="1424263"/>
            <a:ext cx="11887200" cy="4323107"/>
          </a:xfrm>
          <a:prstGeom prst="rect">
            <a:avLst/>
          </a:prstGeom>
          <a:noFill/>
        </p:spPr>
        <p:txBody>
          <a:bodyPr wrap="square">
            <a:spAutoFit/>
          </a:bodyPr>
          <a:lstStyle/>
          <a:p>
            <a:pPr marL="342900" indent="-342900" algn="just">
              <a:lnSpc>
                <a:spcPct val="107000"/>
              </a:lnSpc>
              <a:spcAft>
                <a:spcPts val="800"/>
              </a:spcAft>
              <a:buFont typeface="Arial" panose="020B0604020202020204" pitchFamily="34" charset="0"/>
              <a:buChar char="•"/>
            </a:pPr>
            <a:r>
              <a:rPr lang="es-SV"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Mercado de materias primas.</a:t>
            </a:r>
            <a:r>
              <a:rPr lang="es-SV"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s-SV" sz="24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Un mercado de monopolio es aquel donde una sola empresa domina la oferta de un bien o servicio sin competencia. Esto le permite fijar precios y controlar la producción</a:t>
            </a:r>
            <a:r>
              <a:rPr lang="es-SV" sz="18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s-SV"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342900" indent="-342900" algn="just">
              <a:lnSpc>
                <a:spcPct val="107000"/>
              </a:lnSpc>
              <a:spcAft>
                <a:spcPts val="800"/>
              </a:spcAft>
              <a:buFont typeface="Arial" panose="020B0604020202020204" pitchFamily="34" charset="0"/>
              <a:buChar char="•"/>
            </a:pPr>
            <a:r>
              <a:rPr lang="es-SV" sz="2400" b="1" kern="0" dirty="0">
                <a:solidFill>
                  <a:srgbClr val="000000"/>
                </a:solidFill>
                <a:latin typeface="Arial" panose="020B0604020202020204" pitchFamily="34" charset="0"/>
                <a:ea typeface="Calibri" panose="020F0502020204030204" pitchFamily="34" charset="0"/>
                <a:cs typeface="Arial" panose="020B0604020202020204" pitchFamily="34" charset="0"/>
              </a:rPr>
              <a:t>Mercado de productos terminados. </a:t>
            </a:r>
            <a:r>
              <a:rPr lang="es-SV" sz="2400" dirty="0">
                <a:effectLst/>
                <a:latin typeface="Arial" panose="020B0604020202020204" pitchFamily="34" charset="0"/>
                <a:ea typeface="Calibri" panose="020F0502020204030204" pitchFamily="34" charset="0"/>
              </a:rPr>
              <a:t>Un mercado de oligopolio es un tipo de estructura de mercado en la que un pequeño número de empresas controla la oferta de un bien o servicio.</a:t>
            </a:r>
            <a:endParaRPr lang="es-SV" sz="2400" kern="100" dirty="0">
              <a:effectLst/>
              <a:latin typeface="Arial" panose="020B0604020202020204" pitchFamily="34" charset="0"/>
              <a:ea typeface="Calibri" panose="020F0502020204030204" pitchFamily="34" charset="0"/>
              <a:cs typeface="Arial" panose="020B0604020202020204" pitchFamily="34" charset="0"/>
            </a:endParaRPr>
          </a:p>
          <a:p>
            <a:pPr marL="342900" indent="-342900" algn="just">
              <a:lnSpc>
                <a:spcPct val="107000"/>
              </a:lnSpc>
              <a:spcAft>
                <a:spcPts val="800"/>
              </a:spcAft>
              <a:buFont typeface="Arial" panose="020B0604020202020204" pitchFamily="34" charset="0"/>
              <a:buChar char="•"/>
            </a:pPr>
            <a:r>
              <a:rPr lang="es-SV"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Mercado de valores</a:t>
            </a:r>
            <a:r>
              <a:rPr lang="es-SV" sz="2400" b="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s-SV" sz="2400" kern="0" dirty="0">
                <a:solidFill>
                  <a:srgbClr val="000000"/>
                </a:solidFill>
                <a:effectLst/>
                <a:latin typeface="Arial" panose="020B0604020202020204" pitchFamily="34" charset="0"/>
                <a:ea typeface="Times New Roman" panose="02020603050405020304" pitchFamily="18" charset="0"/>
              </a:rPr>
              <a:t>Es una estructura de mercado teórica en la que existen condiciones ideales para la competencia y en la cual las empresas y los consumidores tienen un acceso total y libre a la información</a:t>
            </a:r>
            <a:r>
              <a:rPr lang="es-SV" sz="1800" kern="0" dirty="0">
                <a:solidFill>
                  <a:srgbClr val="000000"/>
                </a:solidFill>
                <a:effectLst/>
                <a:latin typeface="Arial" panose="020B0604020202020204" pitchFamily="34" charset="0"/>
                <a:ea typeface="Times New Roman" panose="02020603050405020304" pitchFamily="18" charset="0"/>
              </a:rPr>
              <a:t>. </a:t>
            </a:r>
            <a:endParaRPr lang="es-SV" sz="2400" kern="1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s-SV" sz="24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s-SV" sz="2400"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999029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CF60-BA45-0C66-B568-2FBC4F70C983}"/>
            </a:ext>
          </a:extLst>
        </p:cNvPr>
        <p:cNvGrpSpPr/>
        <p:nvPr/>
      </p:nvGrpSpPr>
      <p:grpSpPr>
        <a:xfrm>
          <a:off x="0" y="0"/>
          <a:ext cx="0" cy="0"/>
          <a:chOff x="0" y="0"/>
          <a:chExt cx="0" cy="0"/>
        </a:xfrm>
      </p:grpSpPr>
    </p:spTree>
    <p:extLst>
      <p:ext uri="{BB962C8B-B14F-4D97-AF65-F5344CB8AC3E}">
        <p14:creationId xmlns:p14="http://schemas.microsoft.com/office/powerpoint/2010/main" val="38776667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3467</TotalTime>
  <Words>1058</Words>
  <Application>Microsoft Office PowerPoint</Application>
  <PresentationFormat>Panorámica</PresentationFormat>
  <Paragraphs>83</Paragraphs>
  <Slides>33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33</vt:i4>
      </vt:variant>
    </vt:vector>
  </HeadingPairs>
  <TitlesOfParts>
    <vt:vector size="41" baseType="lpstr">
      <vt:lpstr>Arial</vt:lpstr>
      <vt:lpstr>Arial Black</vt:lpstr>
      <vt:lpstr>Calibri</vt:lpstr>
      <vt:lpstr>Calibri Light</vt:lpstr>
      <vt:lpstr>Courier New</vt:lpstr>
      <vt:lpstr>Symbol</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MERCADOS </vt:lpstr>
      <vt:lpstr>Presentación de PowerPoint</vt:lpstr>
      <vt:lpstr>¿QUÉ ES MERCADO DE MONOPOLIO?</vt:lpstr>
      <vt:lpstr>Presentación de PowerPoint</vt:lpstr>
      <vt:lpstr>Presentación de PowerPoint</vt:lpstr>
      <vt:lpstr>Presentación de PowerPoint</vt:lpstr>
      <vt:lpstr>MERCADO DE OLIGOPOLIO </vt:lpstr>
      <vt:lpstr>¿QUÉ ES MERCADO DE OLIGOPOLIO?</vt:lpstr>
      <vt:lpstr>Presentación de PowerPoint</vt:lpstr>
      <vt:lpstr>Presentación de PowerPoint</vt:lpstr>
      <vt:lpstr>Presentación de PowerPoint</vt:lpstr>
      <vt:lpstr>MERCADO DE COMPETENCIA  PERFECTA</vt:lpstr>
      <vt:lpstr>Presentación de PowerPoint</vt:lpstr>
      <vt:lpstr>Presentación de PowerPoint</vt:lpstr>
      <vt:lpstr>Presentación de PowerPoint</vt:lpstr>
      <vt:lpstr>Presentación de PowerPoint</vt:lpstr>
      <vt:lpstr>MERCADO DE COMPETENCIA MONOPOLÍSTICA </vt:lpstr>
      <vt:lpstr>Presentación de PowerPoint</vt:lpstr>
      <vt:lpstr>Presentación de PowerPoint</vt:lpstr>
      <vt:lpstr>Presentación de PowerPoint</vt:lpstr>
      <vt:lpstr>Presentación de PowerPoint</vt:lpstr>
      <vt:lpstr>OTROS TIPOS DE MERCADO:</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Cynthia Miranda</dc:creator>
  <cp:lastModifiedBy>Cynthia Miranda</cp:lastModifiedBy>
  <cp:revision>15</cp:revision>
  <dcterms:created xsi:type="dcterms:W3CDTF">2025-02-24T20:24:12Z</dcterms:created>
  <dcterms:modified xsi:type="dcterms:W3CDTF">2025-03-12T14:18:05Z</dcterms:modified>
</cp:coreProperties>
</file>