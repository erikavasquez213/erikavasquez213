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509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2423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0152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64739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3532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87020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6679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69723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9521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3483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5201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085197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63547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92736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709751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2814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E7695-5444-4959-B4EE-E6878A2F4CC8}" type="datetimeFigureOut">
              <a:rPr lang="es-SV" smtClean="0"/>
              <a:t>5/3/2025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B9B178-14F2-480B-85AC-B487D555579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46405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ECAE2-EEDD-0C7D-13F9-EBE5D73C7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714375"/>
            <a:ext cx="4786312" cy="2114550"/>
          </a:xfrm>
        </p:spPr>
        <p:txBody>
          <a:bodyPr>
            <a:noAutofit/>
          </a:bodyPr>
          <a:lstStyle/>
          <a:p>
            <a:r>
              <a:rPr lang="es-SV" sz="6600" dirty="0">
                <a:latin typeface="Bodoni MT Condensed" panose="02070606080606020203" pitchFamily="18" charset="0"/>
              </a:rPr>
              <a:t>CANALES DE DISTRIBUCIÓN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25CE78-7837-A809-B5F4-119EB4114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537" y="3186113"/>
            <a:ext cx="7200901" cy="34147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941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BE252-07BA-A040-89E0-9BBED538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925" y="424084"/>
            <a:ext cx="9818687" cy="1280890"/>
          </a:xfrm>
        </p:spPr>
        <p:txBody>
          <a:bodyPr>
            <a:normAutofit/>
          </a:bodyPr>
          <a:lstStyle/>
          <a:p>
            <a:r>
              <a:rPr lang="es-SV" sz="5400" dirty="0">
                <a:latin typeface="Bodoni MT Condensed" panose="02070606080606020203" pitchFamily="18" charset="0"/>
              </a:rPr>
              <a:t>Canales de distribución.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F6932E-E4D5-7048-5886-4560A3836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925" y="1362074"/>
            <a:ext cx="9818686" cy="38385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Los canales de distribución son la columna vertebral que sustenta la travesía de un producto desde su origen hasta las manos de los consumidores finales.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Estos canales no solo abarcan la logística de transporte, sino que también incorpora una complejidad esencial en la gestión de inventario, empaquetado, etiquetado y coordinación de pedidos.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Este intrincado entramado garantiza la presencia oportuna y precisa de los productos en los lugares adecuados y en el momento justo. </a:t>
            </a:r>
            <a:r>
              <a:rPr lang="es-SV" sz="3200" dirty="0"/>
              <a:t>	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A9E361-D127-4C36-5EE1-034437AA4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437" y="4752975"/>
            <a:ext cx="2670174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25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3B86-38DE-25E1-E2EB-71AF6D5DC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61D45-51D2-6B7A-CD59-61D0ECA7B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925" y="424084"/>
            <a:ext cx="9818687" cy="1280890"/>
          </a:xfrm>
        </p:spPr>
        <p:txBody>
          <a:bodyPr>
            <a:normAutofit/>
          </a:bodyPr>
          <a:lstStyle/>
          <a:p>
            <a:r>
              <a:rPr lang="es-SV" sz="5400" dirty="0">
                <a:latin typeface="Bodoni MT Condensed" panose="02070606080606020203" pitchFamily="18" charset="0"/>
              </a:rPr>
              <a:t>Objetivo de los Canales de distribución.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11298-D1A5-9C68-1E5F-0E0DDA029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925" y="1704974"/>
            <a:ext cx="9818686" cy="4024314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Maximizar la cobertura del mercado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Optimizar la eficiencia de la cadena de suministros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Mejorar la experiencia al cliente 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Generar lealtad y satisfacción al cliente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Optimizar los costos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Adaptarse a las tendencias del mercado.</a:t>
            </a:r>
          </a:p>
          <a:p>
            <a:pPr>
              <a:buFontTx/>
              <a:buChar char="-"/>
            </a:pPr>
            <a:endParaRPr lang="es-SV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C9CA2B-60F8-3096-3BD9-48A0F7443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562" y="718916"/>
            <a:ext cx="3786187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54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3F05A-412C-D437-6DDB-41691D3D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1"/>
            <a:ext cx="8911687" cy="1018953"/>
          </a:xfrm>
        </p:spPr>
        <p:txBody>
          <a:bodyPr>
            <a:normAutofit/>
          </a:bodyPr>
          <a:lstStyle/>
          <a:p>
            <a:r>
              <a:rPr lang="es-SV" sz="4000" dirty="0">
                <a:latin typeface="Bodoni MT Condensed" panose="02070606080606020203" pitchFamily="18" charset="0"/>
              </a:rPr>
              <a:t>5 Tipos de canales de distribución.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A0DCE3-A5BC-5BA5-BDF8-9FC1BF8E3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156" y="1925951"/>
            <a:ext cx="9140826" cy="4431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b="1" dirty="0">
                <a:latin typeface="Bodoni MT Condensed" panose="02070606080606020203" pitchFamily="18" charset="0"/>
              </a:rPr>
              <a:t>1- Canal directo al consumidor.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En este canal la empresa vende sus productos directamente a los consumidores sin intermediarios.</a:t>
            </a:r>
          </a:p>
          <a:p>
            <a:pPr marL="0" indent="0">
              <a:buNone/>
            </a:pPr>
            <a:endParaRPr lang="es-SV" sz="32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r>
              <a:rPr lang="es-SV" sz="3600" b="1" dirty="0">
                <a:latin typeface="Bodoni MT Condensed" panose="02070606080606020203" pitchFamily="18" charset="0"/>
              </a:rPr>
              <a:t>Características.</a:t>
            </a:r>
          </a:p>
          <a:p>
            <a:pPr>
              <a:buFontTx/>
              <a:buChar char="-"/>
            </a:pPr>
            <a:r>
              <a:rPr lang="es-SV" sz="4000" baseline="-25000" dirty="0">
                <a:latin typeface="Bodoni MT Condensed" panose="02070606080606020203" pitchFamily="18" charset="0"/>
              </a:rPr>
              <a:t>Control total sobre la marca y la experiencia del cliente </a:t>
            </a:r>
          </a:p>
          <a:p>
            <a:pPr>
              <a:buFontTx/>
              <a:buChar char="-"/>
            </a:pPr>
            <a:r>
              <a:rPr lang="es-SV" sz="4000" baseline="-25000" dirty="0">
                <a:latin typeface="Bodoni MT Condensed" panose="02070606080606020203" pitchFamily="18" charset="0"/>
              </a:rPr>
              <a:t>Mayor margen de beneficio ya que no hay intermediarios</a:t>
            </a:r>
          </a:p>
          <a:p>
            <a:pPr marL="0" indent="0">
              <a:buNone/>
            </a:pPr>
            <a:endParaRPr lang="es-SV" sz="3200" b="1" baseline="-25000" dirty="0"/>
          </a:p>
          <a:p>
            <a:pPr marL="0" indent="0">
              <a:buNone/>
            </a:pPr>
            <a:r>
              <a:rPr lang="es-SV" sz="3200" dirty="0"/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794697-7E79-5660-A605-85BE1613D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62" y="3859526"/>
            <a:ext cx="4319587" cy="2781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5728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4497E-D238-FC8F-CEB8-5935E898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D790E0-CDB0-5363-659C-EC0FBDC4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587" y="1213006"/>
            <a:ext cx="9140826" cy="50306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b="1" dirty="0">
                <a:latin typeface="Bodoni MT Condensed" panose="02070606080606020203" pitchFamily="18" charset="0"/>
              </a:rPr>
              <a:t>2- Canal minorista tradicional.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La empresa distribuye sus productos a minoristas. Como tiendas físicas que luego los venden a los consumidores,</a:t>
            </a:r>
          </a:p>
          <a:p>
            <a:pPr marL="0" indent="0">
              <a:buNone/>
            </a:pPr>
            <a:endParaRPr lang="es-SV" sz="32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r>
              <a:rPr lang="es-SV" sz="3600" b="1" dirty="0">
                <a:latin typeface="Bodoni MT Condensed" panose="02070606080606020203" pitchFamily="18" charset="0"/>
              </a:rPr>
              <a:t>Características.</a:t>
            </a:r>
          </a:p>
          <a:p>
            <a:pPr>
              <a:buFontTx/>
              <a:buChar char="-"/>
            </a:pPr>
            <a:r>
              <a:rPr lang="es-SV" sz="4000" baseline="-25000" dirty="0">
                <a:latin typeface="Bodoni MT Condensed" panose="02070606080606020203" pitchFamily="18" charset="0"/>
              </a:rPr>
              <a:t>Amplia cobertura geográfica a través de la red de minoristas.</a:t>
            </a:r>
          </a:p>
          <a:p>
            <a:pPr>
              <a:buFontTx/>
              <a:buChar char="-"/>
            </a:pPr>
            <a:r>
              <a:rPr lang="es-SV" sz="4000" baseline="-25000" dirty="0">
                <a:latin typeface="Bodoni MT Condensed" panose="02070606080606020203" pitchFamily="18" charset="0"/>
              </a:rPr>
              <a:t>Los minoristas asumen la parte de la responsabilidad de la comercialización.</a:t>
            </a:r>
          </a:p>
          <a:p>
            <a:pPr>
              <a:buFontTx/>
              <a:buChar char="-"/>
            </a:pPr>
            <a:r>
              <a:rPr lang="es-SV" sz="4000" baseline="-25000" dirty="0">
                <a:latin typeface="Bodoni MT Condensed" panose="02070606080606020203" pitchFamily="18" charset="0"/>
              </a:rPr>
              <a:t>Menos control directo sobre la presentación y venta de productos.</a:t>
            </a:r>
          </a:p>
          <a:p>
            <a:pPr marL="0" indent="0">
              <a:buNone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3200" b="1" baseline="-25000" dirty="0"/>
          </a:p>
          <a:p>
            <a:pPr marL="0" indent="0">
              <a:buNone/>
            </a:pPr>
            <a:r>
              <a:rPr lang="es-SV" sz="3200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C2BC607-5414-17A4-99CE-E1B195657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987" y="2638425"/>
            <a:ext cx="4186237" cy="2076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934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40302-DE1B-7FF0-A106-66A0612F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57621-B610-B9AD-25E6-7421B6BC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587" y="884392"/>
            <a:ext cx="9140826" cy="57021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b="1" dirty="0">
                <a:latin typeface="Bodoni MT Condensed" panose="02070606080606020203" pitchFamily="18" charset="0"/>
              </a:rPr>
              <a:t>3- Canal Mayorista.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Venden sus productos a mayoristas, quienes a su vez los distribuyen a minoristas o </a:t>
            </a:r>
            <a:r>
              <a:rPr lang="es-SV" sz="3200">
                <a:latin typeface="Bodoni MT Condensed" panose="02070606080606020203" pitchFamily="18" charset="0"/>
              </a:rPr>
              <a:t>clientes finales</a:t>
            </a:r>
            <a:r>
              <a:rPr lang="es-SV" sz="3200" dirty="0">
                <a:latin typeface="Bodoni MT Condensed" panose="02070606080606020203" pitchFamily="18" charset="0"/>
              </a:rPr>
              <a:t>.</a:t>
            </a:r>
          </a:p>
          <a:p>
            <a:pPr marL="0" indent="0">
              <a:buNone/>
            </a:pPr>
            <a:endParaRPr lang="es-SV" sz="32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r>
              <a:rPr lang="es-SV" sz="3600" b="1" dirty="0">
                <a:latin typeface="Bodoni MT Condensed" panose="02070606080606020203" pitchFamily="18" charset="0"/>
              </a:rPr>
              <a:t>Características.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Mayoristas compran grandes cantidades, lo que puede reducir costos unitarios.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Amplia cobertura a través de la red de mayoristas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Menos control sobre la presentación final del producto al consumidor.</a:t>
            </a:r>
          </a:p>
          <a:p>
            <a:pPr>
              <a:buFontTx/>
              <a:buChar char="-"/>
            </a:pPr>
            <a:endParaRPr lang="es-SV" sz="36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36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36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3200" b="1" baseline="-25000" dirty="0"/>
          </a:p>
          <a:p>
            <a:pPr marL="0" indent="0">
              <a:buNone/>
            </a:pPr>
            <a:r>
              <a:rPr lang="es-SV" sz="3200" dirty="0"/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71DBE82-CFAE-BA3E-131D-02D673D38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976" y="2085977"/>
            <a:ext cx="4571999" cy="18145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38125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0799E-C48F-B27A-E6AF-9C7E0D5BC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48FAD-61E5-A0D6-FD8D-38B4F1926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587" y="884392"/>
            <a:ext cx="9140826" cy="57021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b="1" dirty="0">
                <a:latin typeface="Bodoni MT Condensed" panose="02070606080606020203" pitchFamily="18" charset="0"/>
              </a:rPr>
              <a:t>4- Canal de ventas en línea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La empresa utiliza plataformas en línea o su propio sitio web para vender directamente a los consumidores.</a:t>
            </a:r>
          </a:p>
          <a:p>
            <a:pPr marL="0" indent="0">
              <a:buNone/>
            </a:pPr>
            <a:endParaRPr lang="es-SV" sz="32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r>
              <a:rPr lang="es-SV" sz="3600" b="1" dirty="0">
                <a:latin typeface="Bodoni MT Condensed" panose="02070606080606020203" pitchFamily="18" charset="0"/>
              </a:rPr>
              <a:t>Características.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Alcance global a través de internet 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Mayor flexibilidad para ajustar estrategias de marketing y precios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Requiere una fuerte presencia en línea y estrategias efectivas de comercio electrónico.</a:t>
            </a:r>
          </a:p>
          <a:p>
            <a:pPr marL="0" indent="0">
              <a:buNone/>
            </a:pPr>
            <a:endParaRPr lang="es-SV" sz="36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36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3200" b="1" baseline="-25000" dirty="0"/>
          </a:p>
          <a:p>
            <a:pPr marL="0" indent="0">
              <a:buNone/>
            </a:pPr>
            <a:r>
              <a:rPr lang="es-SV" sz="3200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99A0AB-E0DA-435D-3BF8-6649FE99A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701" y="1684734"/>
            <a:ext cx="2019300" cy="34885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022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C79C5-D8F1-01F5-5537-471A297E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8C6705-EAE4-8E43-3FE0-90CCD673A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5587" y="412904"/>
            <a:ext cx="9140826" cy="54021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b="1" dirty="0">
                <a:latin typeface="Bodoni MT Condensed" panose="02070606080606020203" pitchFamily="18" charset="0"/>
              </a:rPr>
              <a:t>5- Canal de distribuidor Exclusivo.</a:t>
            </a:r>
          </a:p>
          <a:p>
            <a:pPr marL="0" indent="0">
              <a:buNone/>
            </a:pPr>
            <a:r>
              <a:rPr lang="es-SV" sz="3200" dirty="0">
                <a:latin typeface="Bodoni MT Condensed" panose="02070606080606020203" pitchFamily="18" charset="0"/>
              </a:rPr>
              <a:t>La empresa designa distribuidores exclusivos que tienen la única autorización para vender sus productos en una región o mercado especifico</a:t>
            </a:r>
          </a:p>
          <a:p>
            <a:pPr marL="0" indent="0">
              <a:buNone/>
            </a:pPr>
            <a:endParaRPr lang="es-SV" sz="32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3600" b="1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r>
              <a:rPr lang="es-SV" sz="3600" b="1" dirty="0">
                <a:latin typeface="Bodoni MT Condensed" panose="02070606080606020203" pitchFamily="18" charset="0"/>
              </a:rPr>
              <a:t>Características.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Control sobre la representación de la marca en manos del distribuidores exclusivos 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Puede generar lealtad del distribuidor al garantizas exclusividad </a:t>
            </a:r>
          </a:p>
          <a:p>
            <a:pPr>
              <a:buFontTx/>
              <a:buChar char="-"/>
            </a:pPr>
            <a:r>
              <a:rPr lang="es-SV" sz="3200" dirty="0">
                <a:latin typeface="Bodoni MT Condensed" panose="02070606080606020203" pitchFamily="18" charset="0"/>
              </a:rPr>
              <a:t>Menos flexibilidad para cambiar de distribuidor si surge la necesidad.</a:t>
            </a:r>
          </a:p>
          <a:p>
            <a:pPr marL="0" indent="0">
              <a:buNone/>
            </a:pPr>
            <a:endParaRPr lang="es-SV" sz="36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36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>
              <a:buFontTx/>
              <a:buChar char="-"/>
            </a:pPr>
            <a:endParaRPr lang="es-SV" sz="4000" baseline="-25000" dirty="0">
              <a:latin typeface="Bodoni MT Condensed" panose="02070606080606020203" pitchFamily="18" charset="0"/>
            </a:endParaRPr>
          </a:p>
          <a:p>
            <a:pPr marL="0" indent="0">
              <a:buNone/>
            </a:pPr>
            <a:endParaRPr lang="es-SV" sz="3200" b="1" baseline="-25000" dirty="0"/>
          </a:p>
          <a:p>
            <a:pPr marL="0" indent="0">
              <a:buNone/>
            </a:pPr>
            <a:r>
              <a:rPr lang="es-SV" sz="3200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1489C7-C123-9005-4D12-B63B391D3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185988"/>
            <a:ext cx="4086225" cy="1957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7059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75E-6 -4.81481E-6 L 3.75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9364A-69CC-FFE8-81D4-79938685A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588" y="909860"/>
            <a:ext cx="8911687" cy="790353"/>
          </a:xfrm>
        </p:spPr>
        <p:txBody>
          <a:bodyPr>
            <a:normAutofit/>
          </a:bodyPr>
          <a:lstStyle/>
          <a:p>
            <a:r>
              <a:rPr lang="es-SV" sz="4000" dirty="0">
                <a:latin typeface="Bodoni MT Condensed" panose="02070606080606020203" pitchFamily="18" charset="0"/>
              </a:rPr>
              <a:t>Funciones de los Canales de distribución.</a:t>
            </a:r>
            <a:endParaRPr lang="es-SV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47938C-43E5-B46E-AEFE-BC19F2EB3A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20896" y="2133600"/>
            <a:ext cx="4782179" cy="4438650"/>
          </a:xfrm>
        </p:spPr>
        <p:txBody>
          <a:bodyPr/>
          <a:lstStyle/>
          <a:p>
            <a:pPr marL="0" indent="0">
              <a:buNone/>
            </a:pPr>
            <a:endParaRPr lang="es-SV" dirty="0"/>
          </a:p>
          <a:p>
            <a:pPr>
              <a:buFontTx/>
              <a:buChar char="-"/>
            </a:pPr>
            <a:r>
              <a:rPr lang="es-SV" sz="2800" dirty="0">
                <a:latin typeface="Bodoni MT Condensed" panose="02070606080606020203" pitchFamily="18" charset="0"/>
              </a:rPr>
              <a:t>Facilitar la transferencia de propiedad</a:t>
            </a:r>
          </a:p>
          <a:p>
            <a:pPr>
              <a:buFontTx/>
              <a:buChar char="-"/>
            </a:pPr>
            <a:r>
              <a:rPr lang="es-SV" sz="2800" dirty="0">
                <a:latin typeface="Bodoni MT Condensed" panose="02070606080606020203" pitchFamily="18" charset="0"/>
              </a:rPr>
              <a:t>Promoción del producto</a:t>
            </a:r>
          </a:p>
          <a:p>
            <a:pPr>
              <a:buFontTx/>
              <a:buChar char="-"/>
            </a:pPr>
            <a:r>
              <a:rPr lang="es-SV" sz="2800" dirty="0">
                <a:latin typeface="Bodoni MT Condensed" panose="02070606080606020203" pitchFamily="18" charset="0"/>
              </a:rPr>
              <a:t>Negociación y ajustes de precio</a:t>
            </a:r>
          </a:p>
          <a:p>
            <a:pPr>
              <a:buFontTx/>
              <a:buChar char="-"/>
            </a:pPr>
            <a:r>
              <a:rPr lang="es-SV" sz="2800" dirty="0">
                <a:latin typeface="Bodoni MT Condensed" panose="02070606080606020203" pitchFamily="18" charset="0"/>
              </a:rPr>
              <a:t>Facilitación de Transacciones </a:t>
            </a:r>
          </a:p>
          <a:p>
            <a:pPr>
              <a:buFontTx/>
              <a:buChar char="-"/>
            </a:pPr>
            <a:r>
              <a:rPr lang="es-SV" sz="2800" dirty="0">
                <a:latin typeface="Bodoni MT Condensed" panose="02070606080606020203" pitchFamily="18" charset="0"/>
              </a:rPr>
              <a:t>Proporcionar información de Mercado</a:t>
            </a:r>
          </a:p>
          <a:p>
            <a:pPr>
              <a:buFontTx/>
              <a:buChar char="-"/>
            </a:pPr>
            <a:r>
              <a:rPr lang="es-SV" sz="2800" dirty="0">
                <a:latin typeface="Bodoni MT Condensed" panose="02070606080606020203" pitchFamily="18" charset="0"/>
              </a:rPr>
              <a:t>Transporte y logística.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D33C93-37B3-FFC1-BF8F-C7529382C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614" y="2009775"/>
            <a:ext cx="4317998" cy="20335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BAA81CE-6402-A5E3-938D-577E2DB6C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432" y="4538663"/>
            <a:ext cx="4782179" cy="20335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677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9462-A880-9B0E-428C-47F28999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BD34F-9109-EB3D-2046-FC93FFC5D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063" y="909860"/>
            <a:ext cx="8911687" cy="790353"/>
          </a:xfrm>
        </p:spPr>
        <p:txBody>
          <a:bodyPr>
            <a:normAutofit/>
          </a:bodyPr>
          <a:lstStyle/>
          <a:p>
            <a:r>
              <a:rPr lang="es-SV" sz="4000" dirty="0">
                <a:latin typeface="Bodoni MT" panose="02070603080606020203" pitchFamily="18" charset="0"/>
              </a:rPr>
              <a:t>Conclusión del grupo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201DB-A2DE-B5BD-981C-E4C23D404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9346" y="2643188"/>
            <a:ext cx="6008692" cy="33049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SV" sz="3200" dirty="0">
                <a:latin typeface="Bodoni MT" panose="02070603080606020203" pitchFamily="18" charset="0"/>
              </a:rPr>
              <a:t>Dar a conocer la importancia y funcionamiento de los canales de distribución es de mucha ayuda para todos ya que con ellos conocemos un poco mas sobre este tema de mucho interés. </a:t>
            </a:r>
          </a:p>
        </p:txBody>
      </p:sp>
    </p:spTree>
    <p:extLst>
      <p:ext uri="{BB962C8B-B14F-4D97-AF65-F5344CB8AC3E}">
        <p14:creationId xmlns:p14="http://schemas.microsoft.com/office/powerpoint/2010/main" val="256979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4FD4-0558-C0A7-0793-22E5F8336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341A68E6-D9DC-6AA2-DD0C-9E7692BA0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0851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284</TotalTime>
  <Words>478</Words>
  <Application>Microsoft Office PowerPoint</Application>
  <PresentationFormat>Panorámica</PresentationFormat>
  <Paragraphs>84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Bodoni MT</vt:lpstr>
      <vt:lpstr>Bodoni MT Condensed</vt:lpstr>
      <vt:lpstr>Century Gothic</vt:lpstr>
      <vt:lpstr>Wingdings 3</vt:lpstr>
      <vt:lpstr>Espiral</vt:lpstr>
      <vt:lpstr>CANALES DE DISTRIBUCIÓN</vt:lpstr>
      <vt:lpstr>Canales de distribución.</vt:lpstr>
      <vt:lpstr>Objetivo de los Canales de distribución.</vt:lpstr>
      <vt:lpstr>5 Tipos de canales de distribución.</vt:lpstr>
      <vt:lpstr>Presentación de PowerPoint</vt:lpstr>
      <vt:lpstr>Presentación de PowerPoint</vt:lpstr>
      <vt:lpstr>Presentación de PowerPoint</vt:lpstr>
      <vt:lpstr>Presentación de PowerPoint</vt:lpstr>
      <vt:lpstr>Funciones de los Canales de distribución.</vt:lpstr>
      <vt:lpstr>Conclusión del grupo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MINEDUCYT</dc:creator>
  <cp:lastModifiedBy>MINEDUCYT</cp:lastModifiedBy>
  <cp:revision>6</cp:revision>
  <dcterms:created xsi:type="dcterms:W3CDTF">2025-02-25T21:32:00Z</dcterms:created>
  <dcterms:modified xsi:type="dcterms:W3CDTF">2025-03-05T15:32:59Z</dcterms:modified>
</cp:coreProperties>
</file>